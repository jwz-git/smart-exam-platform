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8"/>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  <Relationship Id="rId28"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zh-CN"/>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zh-CN"/>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zh-CN"/>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zh-CN"/>
          </a:p>
        </p:txBody>
      </p:sp>
    </p:spTree>
  </p:cSld>
  <p:clrMap bg1="lt1" tx1="dk1" bg2="lt2" tx2="dk2" accent1="accent1" accent2="accent2" accent3="accent3" accent4="accent4" accent5="accent5" accent6="accent6" hlink="hlink" folHlink="folHlink"/>
  <p:hf/>
  <p:notesStyle>
    <a:lvl1pPr marL="0" algn="l">
      <a:defRPr sz="1200" lang="zh-CN"/>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这次汇报的选题是智能在线题库与组卷系统，一个基于 Java 的 Web 应用程序，前后端分离。第 1 组，成员是 24050417 郏尉植和 24050415 陆佳明，课程是软件开发实践 2 的短学期实践，指导教师杨艳。下一页先给汇报结构和全篇会用到的关键数字。</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汇报按六个部分推进：项目背景与组内分工、需求分析、设计文档、系统演示、运行结果与验证、创新点与心得体会。右边这张卡先把全篇的规模数字放在一起，方便后面逐页对照：47 个 REST 端点，11 张业务数据表，5 种支持题型，后端 60 个 Java 文件分成 9 个模块，后端和前端各 55 项自动化测试，9 项核心验收用例全部通过，39 张真实走查截图，注释比例 37.8%，课程要求是三分之一。</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先说要解决的是哪一段。传统的平时测验是这条链路：用 Word 出卷、打印、纸质作答、人工批改、手工登分。成本几乎全部落在教师身上，学生除了一个总分之外拿不到任何反馈。链上标出来的三处就是成本落点：同一道题在不同学期反复重打，客观题批改是纯机械劳动，成绩还要再手工汇总一遍。围绕这条主线我们给自己定了三条不可妥协的约束。第一，成绩必须可追溯，教师随时会改题库，但已经算出来的分数不能因此改变。第二，权限必须在服务端，前端隐藏按钮不构成任何保护，成绩公布之前不能把答案下发到浏览器。第三，判分必须确定，同一份答卷交几次、由谁触发、走正常交卷还是超时兜底，结果都要一致。这三条后面每一部分都会回来印证。</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选题之前核对了三款真实产品的公开文档，只记录官方页面能复核的能力，核对时间是 2026 年 9 月 1 日。Moodle Quiz 的题目独立存放在题库中，可以分类、筛选、跨测验复用；我们借鉴的是题库与试卷彻底分离、按知识点和难度筛选、发布前必须预览、历史题目只停用不删除，没有照搬跨课程共享题库和插件体系。Canvas 的新测验可以从题库向测验添加单题或多题，并在测验内单独设置每题分值；我们借鉴的是手动选题组卷、试卷中的题目拥有独立于题库建议分值的实际分值，没有照搬整套 LMS 课程体系和 QTI 导入导出。Google 表单测验可以配置答案与分值、对部分题型自动评分、逐份或逐题人工评分，并选择立即公布或人工复核后公布；我们借鉴的是客观题自动判分加主观题人工评分的混合模型，以及成绩必须教师确认后才公布。三款产品共同印证了一件事：题库与试卷必须是两个独立实体，否则题目无法复用、也无法在不影响历史卷子的前提下修订。本项目在这一点上更进一步，组卷时把题干、选项、标准答案、解析和题型五项快照写进试卷。</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第 1 组两个人。郏尉植负责前后端的具体开发、API 接口设计、界面原型设计、为数据库添加测试数据、设计项目测试案例，以及本次答辩 PPT 的制作，对应的交付物是 backend 和 frontend 两个目录、docs 下的 API 文档和原型图。陆佳明负责需求分析、系统设计和数据分析，绘制业务流程图、E-R 图、程序流程图和数据库表，并承担主要的报告撰写工作，对应的交付物是需求分析文档、ER 图和项目报告正文。协作方式上做了三件事：接口契约先定下来再并行开发，验收数字直接写死进自动化断言，浏览器走查全部留存截图。</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系统有三类角色。管理员管账号和系统设置；教师管题库、组卷、考试、阅卷和成绩；学生答题、查分、做错题重练。功能一共十四个模块，按五个领域归类。认证与用户领域是认证与权限、用户管理。题库与试卷领域是五种题型加知识点的题库，以及支持选题、逐题分值、预览、发布的试卷。考试与评分领域是带开放时间、倒计时和交卷的考试，客观自动加主观人工的评分，以及包含统计、排名、公布的成绩。增强功能领域有六项：AI 辅助出题、批量导入、规则自动组卷、试卷导出、错题本与重练、统计分析。最后是六项白名单参数可以在线修改的系统设置。明确排除的范围也写进了文档而不是留作以后再说：在线监考、AI 主观题评分、支付、第三方教务集成，这样验收时的功能边界没有歧义。</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是核心业务流程，也是全篇的骨架。教师先维护题目，然后组卷并发布，学生在线作答，交卷后系统自动判客观题，教师批阅主观题，最后教师确认公布成绩，学生才能看到分数、名次和完整答卷。流程上有两道校验闸门。组卷这一步，分值合计与完整性校验不通过就退回组卷，不允许发布一份分值对不上的卷子。公布这一步，前置校验不通过就退回阅卷。公布成绩的三个前置条件缺任何一条都会被拒绝：至少有一份答卷、没有人仍在作答、全场主观题已经批完。考试状态按草稿、已发布、已公布成绩流转，数据库里另外预留了进行中、已结束、已完成阅卷三个状态。</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技术选型逐层给了理由。前端 Vue 3.5 加 TypeScript 加 Vite 8，课程指定前后端分离和 Vue，TypeScript 让接口契约在编译期就能对齐。后端 Spring Boot 3.5.16 加 Spring Security，Security 提供了成熟的 JWT 资源服务器和方法级鉴权。持久层用 Spring JDBC 的 JdbcClient 而不是 JPA，SQL 全部显式可见，也避免 N 加 1 之类的隐式行为。数据库 MySQL 8.4 LTS 加 Flyway 11，结构变更版本化，可以从空库重建。鉴权是无状态 JWT，HS256，有效期 60 分钟，代价是无法吊销，我们用每次请求回查用户状态来补上，让停用真正即时生效。最后一行是刻意的：Pinia、vue-router、ECharts、JPA 一个都没有引入，运行时依赖只有 Vue 一个，生产构建产物 193.96 KB。标准是一个依赖必须解决本项目真实遇到的问题，而且答辩时能解释清楚为什么需要它。右边是架构，浏览器端的 Vue SPA 通过 HTTPS 和 JSON 访问 Spring Boot 的 REST API，后端分成九个模块，最下面是 MySQL 加 Flyway。要单独说明的是 ai 模块不直连数据库，它只经协议适配层对接外部大模型，生成的内容还要交给题目服务走普通校验。</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左边是原型，覆盖登录、题库、组卷、学生答题四个关键页面；右边是实际落地的题库管理界面，五种题型、关键词标签、五维筛选和分页都在。信息架构上有一处刻意的差异要说明：学生用的是整页答题界面，没有侧栏。教师和管理员是在多个功能之间切换的使用模式，需要侧栏导航；学生在考试期间只需要做一件事，任何额外的导航入口都是干扰。</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接口一共 47 个，成功和失败共用同一层信封，这样前端可以集中处理。成功的时候返回 data 和 requestId，requestId 用来串联日志。失败的时候返回 code、message、fieldErrors 和 requestId。三条约定最关键。第一，业务错误码是稳定契约，前端按 code 分支而不是去匹配 message 文案，文案可以改，code 不能随意改。第二，状态跃迁类操作不幂等，重复交卷和重复公布都返回 409，让客户端明确知道自己的状态已经过期、需要刷新，而不是静默成功。第三，同一个响应结构服务教师阅卷、学生答题回看、学生查分三个场景，由后端按谁在看以及是否已公布来裁剪字段。</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一共 11 张业务表，Flyway 迁移 V1 到 V5，结构变更全部版本化，不手工改表。主干是这条链：题库原题在 question 表，组卷时把五项内容快照写进 paper_question，学生的逐题作答落在 submission_answer。这个快照就是成绩可追溯性的物理基础。下面单独画出来的 practice_attempt 是错题重练记录，它指向 paper_question 而不是 question，因为错题来自某次考试的具体一道题，题库里的原题之后可能被编辑，重练的必须仍是当时那一道快照；而且这张表与答卷完全隔离，重练不改动成绩的任何字段。右边四条关键约束。第一是五项快照。第二是 submission 上 exam_id 和 student_id 的唯一约束，应用层先查后插之间有竞态窗口，只有数据库约束能真正保证一人一份。第三是判断是否已评分看 graded_at 是否为空，不看分数是否为 0，因为教师完全可以给主观题打 0 分。第四是练习与成绩隔离。</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这里挑了六条最可能被追问的设计决策，完整的 33 条在项目报告 3.6 节。教师改了题库历史成绩不会变，因为组卷时已经把五项内容快照写进了 paper_question。连点两次交卷不会重复计分，交卷与判分在同一个事务里，而且先用 SELECT FOR UPDATE 取行锁再读状态，顺序不能颠倒，先读后锁会让两个并发请求都读到作答中然后都去判分。学生关掉浏览器也没关系，服务端每 30 秒扫描一次过期仍在作答的答卷并在事务内自动交卷，答案本身随时同步，所以兜底判的不是空白卷。成绩公布前学生看不到分数，后端按谁在看和是否已公布裁剪字段，用 null 表示不可见、0 表示真的 0 分。AI 不会写出不合规的题进库，题型、难度、知识点、分值由教师指定，模型输出要走与手工出题完全相同的校验，保存也走普通的新增接口。系统设置只有六项能改，白名单标准是每次用到都会重新读取，读取路径就是生效路径；密钥和连接串不能出现在浏览器里，调度间隔和 HTTP 超时在启动时就已固化，界面上改了也不会生效。</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教师侧演示三步。第一步编辑题目，选项和标准答案在同一处编辑，勾中哪个就是标准答案，不需要另填答案字段，解析随题目一起保存。第二步是穿梭式手动组卷，左边是题库候选，右边是试卷内容，逐题填分值，总分由各题分值实时汇总为 40，不允许单独填一个不一致的总分。第三步基于已发布的试卷创建考试并设置开放时间，只有草稿有发布操作，已发布的考试不提供撤回，因为可能已经有学生答卷了。这三步加上后面要讲的 AI 草稿和批量导入，就是入题库的三条入口，它们共用同一套校验。现场演示时按题库、组卷、考试管理的顺序切三个页面，重点让评委看总分那一栏是自己汇总出来的。</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学生侧是整页界面，没有侧栏。单题作答，右侧是题号导航，顶栏是剩余时间和已答几题，题号方块按未答、已答、当前三种状态着色。中间这张是整页刷新之后重新进入的结果，答案全部还在，已答 4 比 4，第 1 题仍然选中 A，倒计时按服务端记录的开始时间继续走。恢复的时候服务端已保存的答案优先，本地草稿只补服务端没有的题目，反过来会让过期草稿覆盖服务端答案。第三张是交卷，二次确认之后提示客观题得分 20 分，简答题和编程题等待教师评阅，这个 20 分和验收数据完全一致。答案在切题时和每 30 秒各同步一次到服务端，所以超时兜底判的是真实作答而不是空白卷。现场演示时可以答完四题后刷新一次页面，再点交卷。</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阅卷、公布和排名。第一张是给简答题评 8 分并写评语之后，背景表格的总分立刻变成 28，也就是客观 20 加主观 8，待批数量归零，公布成绩按钮随即解禁，得分输入框的上界就是该题满分 10 分。第二张是公布之后，平均分 28、最高 28、最低 28、及格率 100%，答卷状态变成已评分，按钮变成已公布成绩并禁用。第三张是同分并列的演示，四名学生分别得 20、10、10、0，名次是 1、2、2、4，并列的第 2 名占用了第 3 名的位置，所以 0 分那份直接是第 4。这是竞赛排名规则，与体育比赛和教务场景的通行做法一致。现场演示时先展示未批完时公布按钮是禁用的，评分之后再点公布。</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这一页是入题库的另外两条入口。AI 辅助出题在真实服务商上联调通过，用的是 OpenAI 兼容协议和 deepseek-v4-flash 模型，生成的 2 道草稿全部通过校验，其中 1 道经教师确认后入库，草稿会填进普通的题目表单，教师可以逐字修改。没有配置密钥时会降级，提示未配置 AI 密钥无法生成草稿，手工出题完全不受影响。批量导入的预览用的是 dryRun，服务端不写任何数据，统计卡给出数据行 4、可导入 2、跳过 1、失败 1，并逐行标出原文行号和原因。确认导入之后是成功 2 道、跳过 1 道、失败 1 道，预览说 2 道实际就写 2 道，因为预览与导入是同一段服务端代码，只差最后一步写不写库。这两条入口共用同一条边界:都不能绕过题目校验，都要求写库之前先看清楚。现场演示时先点预览，让评委看到题库总数不变，再点确认导入。</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另外四项增强功能。规则自动组卷这一例是两条规则，单选题抽 3 道每题 10 分、判断题抽 2 道每题 5 分，方案总分 40，规则表还给出候选池大小;它只生成方案不写库，保存仍然走原来那个组卷接口，所以分值合计、题目归属和启用状态的校验只有一处实现。试卷导出有两种格式，Markdown 是给人看的可打印版本、默认不含答案，CSV 是给系统看的，列名和顺序等于题库导入模板，可以原样喂回导入接口。错题本的收录标准是未得满分而不是得 0 分，所以简答题 8 比 10 也在列，状态是仅复习;重练界面不下发标准答案，答案只在提交后随判分结果返回。可编辑系统设置这一例是把及格线从 60 改成 50，提示立即生效无需重启，成绩页的及格率从 25.0% 变成 75.0%，统计页的及格分数线从 12.0 变成 10.0。四项功能都没有新增写库路径，这也是本系统里每种业务对象只有一条写入路径的直接结果。现场演示时按自动组卷、导出预览、错题本、改及格线的顺序走。</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这一页解释每个数字为什么是这个值，而不只是说测试都通过了。左边这张图是排名试卷的四份答卷，满分 20 分，得分分别是 20、10、10、0，名次 1、2、2、4。客观题是 20 分而不是 30 分:单选答对得 10，多选少选得 0，判断答对得 10，规则是答案集合完全一致才得分、不给部分分，所以这个 0 分反映的是评分规则而不是学生完全不会。及格率 25.0% 必须连着及格线一起报，及格线取试卷总分的 60%，也就是 20 乘 0.6 等于 12 分，四份答卷只有 20 分那份达标;管理员把及格线改成 50% 之后降到 10 分，三份达标，及格率立刻变成 75.0%。平均分只算已交卷且主观题全部评完的答卷，否则未批完的答卷主观题还是 0 分，会得出一个随阅卷进度变化的假平均分。右边是统计分析页，及格线在界面上写明了算式，24 分等于 40 乘 60%;主观题没有对错，所以正确率显示破折号，改看得分率 80%。统计页的平均分、最高分、及格率和排名全部直接调用成绩接口的同一份实现，所以两个页面在数学上不可能对不上。</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验证分四层。自动化层面，后端 55 项、前端 55 项全部通过，另有类型检查、lint 和生产构建三项静态验证，9 项核心验收用例全部由自动化覆盖，注释比例 37.8% 高于课程要求的三分之一，后端主源码是 60.3%。后端这 55 项是按模块钉住承诺的:AI 10 项、批量导入 6 项、判分 4 项、统计 4 项、自动组卷 3 项、导出 3 项。其中有一条防漂移测试，把后端生成的导入模板原样喂回导入接口，断言五行示例全部通过校验，模板和解析器一旦脱节这条就会红。导出与导入是互为闭环的，导出的 CSV 直接喂回导入接口，4 行全部导入成功。重练那一项在练对之后断言答卷的 total_score 仍是 28.0、该题得分仍是 0.0，保证学生自己的练习改不动已公布的成绩。验收数字全部写进断言，20.0、28.0、名次 1、2、2、4、25.0%，改坏判分逻辑立刻变红，不依赖人记得去检查。最后一层是真实环境，在 MySQL 9.6 上全部数字复现一致，AI 在真实服务商上联调通过，系统设置接口的响应里检索 sk 短横线的结果是 False，密钥不外泄。</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先说创新点，四条都偏工程实现。第一条也是最贯穿全局的一条:每一种业务对象只有一条写入路径，题库的三条入口和组卷的两条入口共用同一套校验和同一个保存接口，所以分值合计等于总分、题目属于本人、题目处于启用状态这三条校验在整个系统里只有一处实现。第二条是快照式组卷加字段级成绩可见性裁剪，题库可以自由修改而历史成绩不受影响，用 null 和 0 区分不可见与真的 0 分。第三条是统计口径的单一实现，统计分析页不重算成绩。第四条是零图表库加双协议 AI 适配，分布图用 CSS 条形图自绘，运行时依赖始终只有 Vue 一个，换 AI 服务商只改四个环境变量。右边三条是可以带走的工程原则。时间语义必须显式决定，连接串强制 UTC 会话时区，答卷开始时间由后端显式写入，不交给数据库默认值。兜底机制要有数据支撑，答案在切题时和每 30 秒各同步一次，所以超时兜底判的是真实作答。安全边界只放在服务端，字段裁剪、归属校验、评分上界全部在后端，前端按钮禁用只作体验优化。</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zh-CN" dirty="0"/>
              <a:t>以上就是第 1 组的全部汇报内容，郏尉植和陆佳明，感谢指导教师杨艳和各位同学，请多提问。</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exam-platform-defense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exam-platform-defense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0538757585bd36b.png"/>
  <Relationship Id="rId3" Type="http://schemas.openxmlformats.org/officeDocument/2006/relationships/image" Target="../media/image_3cbb52af08c24130.png"/>
  <Relationship Id="rId4"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8b17d1d57a9db8a.png"/>
  <Relationship Id="rId3" Type="http://schemas.openxmlformats.org/officeDocument/2006/relationships/image" Target="../media/image_25aceaf31fbbef8a.png"/>
  <Relationship Id="rId4" Type="http://schemas.openxmlformats.org/officeDocument/2006/relationships/image" Target="../media/image_589877ec6d8efd23.png"/>
  <Relationship Id="rId5"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45bd33c16474f7a.png"/>
  <Relationship Id="rId3" Type="http://schemas.openxmlformats.org/officeDocument/2006/relationships/image" Target="../media/image_c9897c5795efe292.png"/>
  <Relationship Id="rId4" Type="http://schemas.openxmlformats.org/officeDocument/2006/relationships/image" Target="../media/image_0824662dae4e9a71.png"/>
  <Relationship Id="rId5"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37dcf0385e36267.png"/>
  <Relationship Id="rId3" Type="http://schemas.openxmlformats.org/officeDocument/2006/relationships/image" Target="../media/image_3ee79bc461e16583.png"/>
  <Relationship Id="rId4" Type="http://schemas.openxmlformats.org/officeDocument/2006/relationships/image" Target="../media/image_7e45d787b73b2dc2.png"/>
  <Relationship Id="rId5"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664dd03bf5cacac.png"/>
  <Relationship Id="rId3" Type="http://schemas.openxmlformats.org/officeDocument/2006/relationships/image" Target="../media/image_c2d72ad7bc5b09e9.png"/>
  <Relationship Id="rId4" Type="http://schemas.openxmlformats.org/officeDocument/2006/relationships/image" Target="../media/image_bba9923ccdf9adf1.png"/>
  <Relationship Id="rId5" Type="http://schemas.openxmlformats.org/officeDocument/2006/relationships/image" Target="../media/image_84f746fc027943bb.png"/>
  <Relationship Id="rId6"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3c237d942b620cda.png"/>
  <Relationship Id="rId3" Type="http://schemas.openxmlformats.org/officeDocument/2006/relationships/image" Target="../media/image_b812eab754e002bd.png"/>
  <Relationship Id="rId4" Type="http://schemas.openxmlformats.org/officeDocument/2006/relationships/image" Target="../media/image_a537d49de2ae96c1.png"/>
  <Relationship Id="rId5" Type="http://schemas.openxmlformats.org/officeDocument/2006/relationships/image" Target="../media/image_e16908058f5bb204.png"/>
  <Relationship Id="rId6"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28662205c962ef9d.pn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9525000" y="-381000"/>
            <a:ext cx="3619500" cy="3619500"/>
          </a:xfrm>
          <a:prstGeom prst="ellipse">
            <a:avLst/>
          </a:prstGeom>
          <a:solidFill>
            <a:schemeClr val="lt2"/>
          </a:solidFill>
          <a:ln>
            <a:noFill/>
          </a:ln>
        </p:spPr>
      </p:sp>
      <p:grpSp>
        <p:nvGrpSpPr>
          <p:cNvPr id="6" name="Group 6"/>
          <p:cNvGrpSpPr/>
          <p:nvPr/>
        </p:nvGrpSpPr>
        <p:grpSpPr>
          <a:xfrm>
            <a:off x="590550" y="2560320"/>
            <a:ext cx="8034528" cy="1745742"/>
            <a:chOff x="590550" y="2560320"/>
            <a:chExt cx="8034528" cy="1745742"/>
          </a:xfrm>
        </p:grpSpPr>
        <p:sp>
          <p:nvSpPr>
            <p:cNvPr id="3" name="TextBox 3"/>
            <p:cNvSpPr txBox="1"/>
            <p:nvPr/>
          </p:nvSpPr>
          <p:spPr>
            <a:xfrm>
              <a:off x="590550" y="2560320"/>
              <a:ext cx="8034528" cy="1047750"/>
            </a:xfrm>
            <a:prstGeom prst="rect">
              <a:avLst/>
            </a:prstGeom>
            <a:noFill/>
            <a:ln>
              <a:noFill/>
            </a:ln>
          </p:spPr>
          <p:txBody>
            <a:bodyPr wrap="none" lIns="0" tIns="0" rIns="0" bIns="0" anchor="t" anchorCtr="0">
              <a:spAutoFit/>
            </a:bodyPr>
            <a:lstStyle/>
            <a:p>
              <a:pPr algn="l"/>
              <a:r>
                <a:rPr lang="zh-CN" sz="5400" b="1" dirty="0">
                  <a:solidFill>
                    <a:schemeClr val="accent1"/>
                  </a:solidFill>
                  <a:latin typeface="+mn-lt"/>
                  <a:ea typeface="+mn-ea"/>
                  <a:cs typeface="+mn-cs"/>
                </a:rPr>
                <a:t>智能在线题库与组卷系统</a:t>
              </a:r>
            </a:p>
          </p:txBody>
        </p:sp>
        <p:sp>
          <p:nvSpPr>
            <p:cNvPr id="4" name="Rectangle 4"/>
            <p:cNvSpPr/>
            <p:nvPr/>
          </p:nvSpPr>
          <p:spPr>
            <a:xfrm>
              <a:off x="609600" y="3524250"/>
              <a:ext cx="1714500" cy="47625"/>
            </a:xfrm>
            <a:prstGeom prst="roundRect">
              <a:avLst>
                <a:gd name="adj" fmla="val 40000"/>
              </a:avLst>
            </a:prstGeom>
            <a:gradFill>
              <a:gsLst>
                <a:gs pos="0">
                  <a:schemeClr val="accent1"/>
                </a:gs>
                <a:gs pos="100000">
                  <a:schemeClr val="accent2"/>
                </a:gs>
              </a:gsLst>
              <a:lin ang="0" scaled="1"/>
            </a:gradFill>
            <a:ln>
              <a:noFill/>
            </a:ln>
          </p:spPr>
        </p:sp>
        <p:sp>
          <p:nvSpPr>
            <p:cNvPr id="5" name="TextBox 5"/>
            <p:cNvSpPr txBox="1"/>
            <p:nvPr/>
          </p:nvSpPr>
          <p:spPr>
            <a:xfrm>
              <a:off x="597408" y="3836670"/>
              <a:ext cx="6721972" cy="469392"/>
            </a:xfrm>
            <a:prstGeom prst="rect">
              <a:avLst/>
            </a:prstGeom>
            <a:noFill/>
            <a:ln>
              <a:noFill/>
            </a:ln>
          </p:spPr>
          <p:txBody>
            <a:bodyPr wrap="none" lIns="0" tIns="0" rIns="0" bIns="0" anchor="t" anchorCtr="0">
              <a:spAutoFit/>
            </a:bodyPr>
            <a:lstStyle/>
            <a:p>
              <a:pPr algn="l"/>
              <a:r>
                <a:rPr lang="zh-CN" sz="2400" dirty="0">
                  <a:solidFill>
                    <a:schemeClr val="accent5"/>
                  </a:solidFill>
                  <a:latin typeface="+mn-lt"/>
                  <a:ea typeface="+mn-ea"/>
                  <a:cs typeface="+mn-cs"/>
                </a:rPr>
                <a:t>基于 Java 的 Web 应用程序设计 · 前后端分离</a:t>
              </a:r>
            </a:p>
          </p:txBody>
        </p:sp>
      </p:grpSp>
      <p:grpSp>
        <p:nvGrpSpPr>
          <p:cNvPr id="12" name="Group 12"/>
          <p:cNvGrpSpPr/>
          <p:nvPr/>
        </p:nvGrpSpPr>
        <p:grpSpPr>
          <a:xfrm>
            <a:off x="0" y="5676900"/>
            <a:ext cx="12192000" cy="1181100"/>
            <a:chOff x="0" y="5676900"/>
            <a:chExt cx="12192000" cy="1181100"/>
          </a:xfrm>
        </p:grpSpPr>
        <p:sp>
          <p:nvSpPr>
            <p:cNvPr id="7" name="Rectangle 7"/>
            <p:cNvSpPr/>
            <p:nvPr/>
          </p:nvSpPr>
          <p:spPr>
            <a:xfrm>
              <a:off x="0" y="5676900"/>
              <a:ext cx="12192000" cy="1181100"/>
            </a:xfrm>
            <a:prstGeom prst="rect">
              <a:avLst/>
            </a:prstGeom>
            <a:solidFill>
              <a:schemeClr val="accent1"/>
            </a:solidFill>
            <a:ln>
              <a:noFill/>
            </a:ln>
          </p:spPr>
        </p:sp>
        <p:sp>
          <p:nvSpPr>
            <p:cNvPr id="8" name="TextBox 8"/>
            <p:cNvSpPr txBox="1"/>
            <p:nvPr/>
          </p:nvSpPr>
          <p:spPr>
            <a:xfrm>
              <a:off x="597408" y="5932170"/>
              <a:ext cx="1060689"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第 1 组</a:t>
              </a:r>
            </a:p>
          </p:txBody>
        </p:sp>
        <p:sp>
          <p:nvSpPr>
            <p:cNvPr id="9" name="TextBox 9"/>
            <p:cNvSpPr txBox="1"/>
            <p:nvPr/>
          </p:nvSpPr>
          <p:spPr>
            <a:xfrm>
              <a:off x="600456" y="6377940"/>
              <a:ext cx="4028618" cy="352044"/>
            </a:xfrm>
            <a:prstGeom prst="rect">
              <a:avLst/>
            </a:prstGeom>
            <a:noFill/>
            <a:ln>
              <a:noFill/>
            </a:ln>
          </p:spPr>
          <p:txBody>
            <a:bodyPr wrap="none" lIns="0" tIns="0" rIns="0" bIns="0" anchor="t" anchorCtr="0">
              <a:spAutoFit/>
            </a:bodyPr>
            <a:lstStyle/>
            <a:p>
              <a:pPr algn="l"/>
              <a:r>
                <a:rPr lang="zh-CN" sz="1800" dirty="0">
                  <a:solidFill>
                    <a:srgbClr val="E7EDF4"/>
                  </a:solidFill>
                  <a:latin typeface="+mn-lt"/>
                  <a:ea typeface="+mn-ea"/>
                  <a:cs typeface="+mn-cs"/>
                </a:rPr>
                <a:t>24050417 郏尉植 · 24050415 陆佳明</a:t>
              </a:r>
            </a:p>
          </p:txBody>
        </p:sp>
        <p:sp>
          <p:nvSpPr>
            <p:cNvPr id="10" name="TextBox 10"/>
            <p:cNvSpPr txBox="1"/>
            <p:nvPr/>
          </p:nvSpPr>
          <p:spPr>
            <a:xfrm>
              <a:off x="8467839" y="6045518"/>
              <a:ext cx="3121419" cy="264033"/>
            </a:xfrm>
            <a:prstGeom prst="rect">
              <a:avLst/>
            </a:prstGeom>
            <a:noFill/>
            <a:ln>
              <a:noFill/>
            </a:ln>
          </p:spPr>
          <p:txBody>
            <a:bodyPr wrap="none" lIns="0" tIns="0" rIns="0" bIns="0" anchor="t" anchorCtr="0">
              <a:spAutoFit/>
            </a:bodyPr>
            <a:lstStyle/>
            <a:p>
              <a:pPr algn="r"/>
              <a:r>
                <a:rPr lang="zh-CN" sz="1350" dirty="0">
                  <a:solidFill>
                    <a:srgbClr val="E7EDF4"/>
                  </a:solidFill>
                  <a:latin typeface="+mn-lt"/>
                  <a:ea typeface="+mn-ea"/>
                  <a:cs typeface="+mn-cs"/>
                </a:rPr>
                <a:t>软件开发实践 2（2025~2026 短学期）</a:t>
              </a:r>
            </a:p>
          </p:txBody>
        </p:sp>
        <p:sp>
          <p:nvSpPr>
            <p:cNvPr id="11" name="TextBox 11"/>
            <p:cNvSpPr txBox="1"/>
            <p:nvPr/>
          </p:nvSpPr>
          <p:spPr>
            <a:xfrm>
              <a:off x="9067571" y="6426518"/>
              <a:ext cx="2521687" cy="264033"/>
            </a:xfrm>
            <a:prstGeom prst="rect">
              <a:avLst/>
            </a:prstGeom>
            <a:noFill/>
            <a:ln>
              <a:noFill/>
            </a:ln>
          </p:spPr>
          <p:txBody>
            <a:bodyPr wrap="none" lIns="0" tIns="0" rIns="0" bIns="0" anchor="t" anchorCtr="0">
              <a:spAutoFit/>
            </a:bodyPr>
            <a:lstStyle/>
            <a:p>
              <a:pPr algn="r"/>
              <a:r>
                <a:rPr lang="zh-CN" sz="1350" dirty="0">
                  <a:solidFill>
                    <a:srgbClr val="E7EDF4"/>
                  </a:solidFill>
                  <a:latin typeface="+mn-lt"/>
                  <a:ea typeface="+mn-ea"/>
                  <a:cs typeface="+mn-cs"/>
                </a:rPr>
                <a:t>指导教师：杨艳 · 2026 年 9 月</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6"/>
            </a:solidFill>
            <a:ln>
              <a:noFill/>
            </a:ln>
          </p:spPr>
        </p:sp>
        <p:sp>
          <p:nvSpPr>
            <p:cNvPr id="3" name="Rectangle 3"/>
            <p:cNvSpPr/>
            <p:nvPr/>
          </p:nvSpPr>
          <p:spPr>
            <a:xfrm>
              <a:off x="914400" y="342900"/>
              <a:ext cx="247650" cy="76200"/>
            </a:xfrm>
            <a:prstGeom prst="roundRect">
              <a:avLst>
                <a:gd name="adj" fmla="val 50000"/>
              </a:avLst>
            </a:prstGeom>
            <a:solidFill>
              <a:schemeClr val="accent6"/>
            </a:solidFill>
            <a:ln>
              <a:noFill/>
            </a:ln>
          </p:spPr>
        </p:sp>
        <p:sp>
          <p:nvSpPr>
            <p:cNvPr id="4" name="Rectangle 4"/>
            <p:cNvSpPr/>
            <p:nvPr/>
          </p:nvSpPr>
          <p:spPr>
            <a:xfrm>
              <a:off x="1219200" y="342900"/>
              <a:ext cx="247650" cy="76200"/>
            </a:xfrm>
            <a:prstGeom prst="roundRect">
              <a:avLst>
                <a:gd name="adj" fmla="val 50000"/>
              </a:avLst>
            </a:prstGeom>
            <a:solidFill>
              <a:schemeClr val="accent6"/>
            </a:solidFill>
            <a:ln>
              <a:noFill/>
            </a:ln>
          </p:spPr>
        </p:sp>
        <p:sp>
          <p:nvSpPr>
            <p:cNvPr id="5" name="Rectangle 5"/>
            <p:cNvSpPr/>
            <p:nvPr/>
          </p:nvSpPr>
          <p:spPr>
            <a:xfrm>
              <a:off x="1524000" y="342900"/>
              <a:ext cx="247650" cy="76200"/>
            </a:xfrm>
            <a:prstGeom prst="roundRect">
              <a:avLst>
                <a:gd name="adj" fmla="val 50000"/>
              </a:avLst>
            </a:prstGeom>
            <a:solidFill>
              <a:schemeClr val="accent6"/>
            </a:solidFill>
            <a:ln>
              <a:noFill/>
            </a:ln>
          </p:spPr>
        </p:sp>
        <p:sp>
          <p:nvSpPr>
            <p:cNvPr id="6" name="Rectangle 6"/>
            <p:cNvSpPr/>
            <p:nvPr/>
          </p:nvSpPr>
          <p:spPr>
            <a:xfrm>
              <a:off x="1828800" y="342900"/>
              <a:ext cx="247650" cy="76200"/>
            </a:xfrm>
            <a:prstGeom prst="roundRect">
              <a:avLst>
                <a:gd name="adj" fmla="val 50000"/>
              </a:avLst>
            </a:prstGeom>
            <a:solidFill>
              <a:schemeClr val="accent6"/>
            </a:solidFill>
            <a:ln>
              <a:noFill/>
            </a:ln>
          </p:spPr>
        </p:sp>
        <p:sp>
          <p:nvSpPr>
            <p:cNvPr id="7" name="Rectangle 7"/>
            <p:cNvSpPr/>
            <p:nvPr/>
          </p:nvSpPr>
          <p:spPr>
            <a:xfrm>
              <a:off x="2133600" y="342900"/>
              <a:ext cx="247650" cy="76200"/>
            </a:xfrm>
            <a:prstGeom prst="roundRect">
              <a:avLst>
                <a:gd name="adj" fmla="val 50000"/>
              </a:avLst>
            </a:prstGeom>
            <a:solidFill>
              <a:schemeClr val="accent6"/>
            </a:solidFill>
            <a:ln>
              <a:noFill/>
            </a:ln>
          </p:spPr>
        </p:sp>
        <p:sp>
          <p:nvSpPr>
            <p:cNvPr id="8" name="TextBox 8"/>
            <p:cNvSpPr txBox="1"/>
            <p:nvPr/>
          </p:nvSpPr>
          <p:spPr>
            <a:xfrm>
              <a:off x="2507742" y="31146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汇报导航</a:t>
              </a:r>
            </a:p>
          </p:txBody>
        </p:sp>
        <p:sp>
          <p:nvSpPr>
            <p:cNvPr id="9" name="TextBox 9"/>
            <p:cNvSpPr txBox="1"/>
            <p:nvPr/>
          </p:nvSpPr>
          <p:spPr>
            <a:xfrm>
              <a:off x="593598" y="726758"/>
              <a:ext cx="384848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本次汇报的六个部分</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5" name="Group 15"/>
          <p:cNvGrpSpPr/>
          <p:nvPr/>
        </p:nvGrpSpPr>
        <p:grpSpPr>
          <a:xfrm>
            <a:off x="635013" y="1778000"/>
            <a:ext cx="4423143" cy="588201"/>
            <a:chOff x="635013" y="1778000"/>
            <a:chExt cx="4423143" cy="588201"/>
          </a:xfrm>
        </p:grpSpPr>
        <p:sp>
          <p:nvSpPr>
            <p:cNvPr id="12" name="Freeform 12"/>
            <p:cNvSpPr/>
            <p:nvPr/>
          </p:nvSpPr>
          <p:spPr>
            <a:xfrm>
              <a:off x="635013" y="1778000"/>
              <a:ext cx="253987" cy="253999"/>
            </a:xfrm>
            <a:custGeom>
              <a:avLst/>
              <a:gdLst/>
              <a:ahLst/>
              <a:cxnLst/>
              <a:rect l="l" t="t" r="r" b="b"/>
              <a:pathLst>
                <a:path w="253987" h="253999">
                  <a:moveTo>
                    <a:pt x="126987" y="0"/>
                  </a:moveTo>
                  <a:lnTo>
                    <a:pt x="135140" y="63"/>
                  </a:lnTo>
                  <a:lnTo>
                    <a:pt x="142964" y="279"/>
                  </a:lnTo>
                  <a:lnTo>
                    <a:pt x="146761" y="444"/>
                  </a:lnTo>
                  <a:lnTo>
                    <a:pt x="154114" y="876"/>
                  </a:lnTo>
                  <a:lnTo>
                    <a:pt x="161137" y="1460"/>
                  </a:lnTo>
                  <a:cubicBezTo>
                    <a:pt x="220662" y="7239"/>
                    <a:pt x="245592" y="31090"/>
                    <a:pt x="252145" y="89166"/>
                  </a:cubicBezTo>
                  <a:lnTo>
                    <a:pt x="252526" y="92849"/>
                  </a:lnTo>
                  <a:lnTo>
                    <a:pt x="253110" y="99873"/>
                  </a:lnTo>
                  <a:lnTo>
                    <a:pt x="253631" y="109105"/>
                  </a:lnTo>
                  <a:lnTo>
                    <a:pt x="253707" y="111010"/>
                  </a:lnTo>
                  <a:lnTo>
                    <a:pt x="253923" y="118846"/>
                  </a:lnTo>
                  <a:lnTo>
                    <a:pt x="253987" y="127000"/>
                  </a:lnTo>
                  <a:lnTo>
                    <a:pt x="253923" y="135153"/>
                  </a:lnTo>
                  <a:lnTo>
                    <a:pt x="253707" y="142976"/>
                  </a:lnTo>
                  <a:lnTo>
                    <a:pt x="253542" y="146774"/>
                  </a:lnTo>
                  <a:lnTo>
                    <a:pt x="253110" y="154127"/>
                  </a:lnTo>
                  <a:lnTo>
                    <a:pt x="252526" y="161150"/>
                  </a:lnTo>
                  <a:cubicBezTo>
                    <a:pt x="246748" y="220675"/>
                    <a:pt x="222897" y="245605"/>
                    <a:pt x="164820" y="252158"/>
                  </a:cubicBezTo>
                  <a:lnTo>
                    <a:pt x="161137" y="252539"/>
                  </a:lnTo>
                  <a:lnTo>
                    <a:pt x="154114" y="253123"/>
                  </a:lnTo>
                  <a:lnTo>
                    <a:pt x="144881" y="253644"/>
                  </a:lnTo>
                  <a:lnTo>
                    <a:pt x="142976" y="253720"/>
                  </a:lnTo>
                  <a:lnTo>
                    <a:pt x="135140" y="253936"/>
                  </a:lnTo>
                  <a:lnTo>
                    <a:pt x="126987" y="253999"/>
                  </a:lnTo>
                  <a:lnTo>
                    <a:pt x="118834" y="253936"/>
                  </a:lnTo>
                  <a:lnTo>
                    <a:pt x="111010" y="253720"/>
                  </a:lnTo>
                  <a:lnTo>
                    <a:pt x="107213" y="253555"/>
                  </a:lnTo>
                  <a:lnTo>
                    <a:pt x="99860" y="253123"/>
                  </a:lnTo>
                  <a:lnTo>
                    <a:pt x="92837" y="252539"/>
                  </a:lnTo>
                  <a:cubicBezTo>
                    <a:pt x="33312" y="246760"/>
                    <a:pt x="8382" y="222910"/>
                    <a:pt x="1829" y="164833"/>
                  </a:cubicBezTo>
                  <a:lnTo>
                    <a:pt x="1448" y="161150"/>
                  </a:lnTo>
                  <a:lnTo>
                    <a:pt x="864" y="154127"/>
                  </a:lnTo>
                  <a:lnTo>
                    <a:pt x="343" y="144894"/>
                  </a:lnTo>
                  <a:lnTo>
                    <a:pt x="267" y="142989"/>
                  </a:lnTo>
                  <a:lnTo>
                    <a:pt x="51" y="135153"/>
                  </a:lnTo>
                  <a:lnTo>
                    <a:pt x="0" y="131114"/>
                  </a:lnTo>
                  <a:lnTo>
                    <a:pt x="0" y="122885"/>
                  </a:lnTo>
                  <a:lnTo>
                    <a:pt x="51" y="118846"/>
                  </a:lnTo>
                  <a:lnTo>
                    <a:pt x="267" y="111023"/>
                  </a:lnTo>
                  <a:lnTo>
                    <a:pt x="432" y="107226"/>
                  </a:lnTo>
                  <a:lnTo>
                    <a:pt x="864" y="99873"/>
                  </a:lnTo>
                  <a:lnTo>
                    <a:pt x="1448" y="92849"/>
                  </a:lnTo>
                  <a:cubicBezTo>
                    <a:pt x="7226" y="33325"/>
                    <a:pt x="31077" y="8395"/>
                    <a:pt x="89154" y="1841"/>
                  </a:cubicBezTo>
                  <a:lnTo>
                    <a:pt x="92837" y="1460"/>
                  </a:lnTo>
                  <a:lnTo>
                    <a:pt x="99860" y="876"/>
                  </a:lnTo>
                  <a:lnTo>
                    <a:pt x="109093" y="356"/>
                  </a:lnTo>
                  <a:lnTo>
                    <a:pt x="110998" y="279"/>
                  </a:lnTo>
                  <a:lnTo>
                    <a:pt x="118834" y="63"/>
                  </a:lnTo>
                  <a:cubicBezTo>
                    <a:pt x="121501" y="25"/>
                    <a:pt x="124218" y="0"/>
                    <a:pt x="126987" y="0"/>
                  </a:cubicBezTo>
                  <a:close/>
                  <a:moveTo>
                    <a:pt x="139611" y="74752"/>
                  </a:moveTo>
                  <a:cubicBezTo>
                    <a:pt x="138557" y="64884"/>
                    <a:pt x="126809" y="60020"/>
                    <a:pt x="119075" y="66243"/>
                  </a:cubicBezTo>
                  <a:lnTo>
                    <a:pt x="118008" y="67221"/>
                  </a:lnTo>
                  <a:lnTo>
                    <a:pt x="92608" y="92621"/>
                  </a:lnTo>
                  <a:lnTo>
                    <a:pt x="91554" y="93815"/>
                  </a:lnTo>
                  <a:cubicBezTo>
                    <a:pt x="87999" y="98396"/>
                    <a:pt x="87999" y="104803"/>
                    <a:pt x="91554" y="109385"/>
                  </a:cubicBezTo>
                  <a:lnTo>
                    <a:pt x="92608" y="110579"/>
                  </a:lnTo>
                  <a:lnTo>
                    <a:pt x="93802" y="111633"/>
                  </a:lnTo>
                  <a:cubicBezTo>
                    <a:pt x="98383" y="115187"/>
                    <a:pt x="104791" y="115187"/>
                    <a:pt x="109372" y="111633"/>
                  </a:cubicBezTo>
                  <a:lnTo>
                    <a:pt x="110566" y="110579"/>
                  </a:lnTo>
                  <a:lnTo>
                    <a:pt x="114287" y="106858"/>
                  </a:lnTo>
                  <a:lnTo>
                    <a:pt x="114287" y="177800"/>
                  </a:lnTo>
                  <a:lnTo>
                    <a:pt x="114376" y="179285"/>
                  </a:lnTo>
                  <a:cubicBezTo>
                    <a:pt x="115136" y="185674"/>
                    <a:pt x="120553" y="190485"/>
                    <a:pt x="126987" y="190485"/>
                  </a:cubicBezTo>
                  <a:cubicBezTo>
                    <a:pt x="133421" y="190485"/>
                    <a:pt x="138838" y="185674"/>
                    <a:pt x="139598" y="179285"/>
                  </a:cubicBezTo>
                  <a:lnTo>
                    <a:pt x="139687" y="177800"/>
                  </a:lnTo>
                  <a:lnTo>
                    <a:pt x="139687" y="76200"/>
                  </a:lnTo>
                  <a:lnTo>
                    <a:pt x="139611" y="74752"/>
                  </a:lnTo>
                  <a:close/>
                </a:path>
              </a:pathLst>
            </a:custGeom>
            <a:solidFill>
              <a:schemeClr val="accent1"/>
            </a:solidFill>
            <a:ln>
              <a:noFill/>
            </a:ln>
          </p:spPr>
        </p:sp>
        <p:sp>
          <p:nvSpPr>
            <p:cNvPr id="13" name="TextBox 13"/>
            <p:cNvSpPr txBox="1"/>
            <p:nvPr/>
          </p:nvSpPr>
          <p:spPr>
            <a:xfrm>
              <a:off x="1057656" y="1786890"/>
              <a:ext cx="2199132"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项目背景与组内分工</a:t>
              </a:r>
            </a:p>
          </p:txBody>
        </p:sp>
        <p:sp>
          <p:nvSpPr>
            <p:cNvPr id="14" name="TextBox 14"/>
            <p:cNvSpPr txBox="1"/>
            <p:nvPr/>
          </p:nvSpPr>
          <p:spPr>
            <a:xfrm>
              <a:off x="1059942" y="2102168"/>
              <a:ext cx="399821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问题与目标 · 三款竞品 · 两人分工 ｜ P03—P05</a:t>
              </a:r>
            </a:p>
          </p:txBody>
        </p:sp>
      </p:grpSp>
      <p:grpSp>
        <p:nvGrpSpPr>
          <p:cNvPr id="19" name="Group 19"/>
          <p:cNvGrpSpPr/>
          <p:nvPr/>
        </p:nvGrpSpPr>
        <p:grpSpPr>
          <a:xfrm>
            <a:off x="635013" y="2482850"/>
            <a:ext cx="4807191" cy="588201"/>
            <a:chOff x="635013" y="2482850"/>
            <a:chExt cx="4807191" cy="588201"/>
          </a:xfrm>
        </p:grpSpPr>
        <p:sp>
          <p:nvSpPr>
            <p:cNvPr id="16" name="Freeform 16"/>
            <p:cNvSpPr/>
            <p:nvPr/>
          </p:nvSpPr>
          <p:spPr>
            <a:xfrm>
              <a:off x="635013" y="2482850"/>
              <a:ext cx="253987" cy="253999"/>
            </a:xfrm>
            <a:custGeom>
              <a:avLst/>
              <a:gdLst/>
              <a:ahLst/>
              <a:cxnLst/>
              <a:rect l="l" t="t" r="r" b="b"/>
              <a:pathLst>
                <a:path w="253987" h="253999">
                  <a:moveTo>
                    <a:pt x="126987" y="0"/>
                  </a:moveTo>
                  <a:lnTo>
                    <a:pt x="135140" y="63"/>
                  </a:lnTo>
                  <a:lnTo>
                    <a:pt x="142964" y="279"/>
                  </a:lnTo>
                  <a:lnTo>
                    <a:pt x="146761" y="444"/>
                  </a:lnTo>
                  <a:lnTo>
                    <a:pt x="154114" y="876"/>
                  </a:lnTo>
                  <a:lnTo>
                    <a:pt x="161137" y="1460"/>
                  </a:lnTo>
                  <a:cubicBezTo>
                    <a:pt x="220662" y="7239"/>
                    <a:pt x="245592" y="31090"/>
                    <a:pt x="252145" y="89166"/>
                  </a:cubicBezTo>
                  <a:lnTo>
                    <a:pt x="252526" y="92849"/>
                  </a:lnTo>
                  <a:lnTo>
                    <a:pt x="253110" y="99873"/>
                  </a:lnTo>
                  <a:lnTo>
                    <a:pt x="253631" y="109105"/>
                  </a:lnTo>
                  <a:lnTo>
                    <a:pt x="253707" y="111010"/>
                  </a:lnTo>
                  <a:lnTo>
                    <a:pt x="253923" y="118846"/>
                  </a:lnTo>
                  <a:lnTo>
                    <a:pt x="253987" y="127000"/>
                  </a:lnTo>
                  <a:lnTo>
                    <a:pt x="253923" y="135153"/>
                  </a:lnTo>
                  <a:lnTo>
                    <a:pt x="253707" y="142976"/>
                  </a:lnTo>
                  <a:lnTo>
                    <a:pt x="253542" y="146774"/>
                  </a:lnTo>
                  <a:lnTo>
                    <a:pt x="253110" y="154127"/>
                  </a:lnTo>
                  <a:lnTo>
                    <a:pt x="252526" y="161150"/>
                  </a:lnTo>
                  <a:cubicBezTo>
                    <a:pt x="246748" y="220675"/>
                    <a:pt x="222897" y="245605"/>
                    <a:pt x="164820" y="252158"/>
                  </a:cubicBezTo>
                  <a:lnTo>
                    <a:pt x="161137" y="252539"/>
                  </a:lnTo>
                  <a:lnTo>
                    <a:pt x="154114" y="253123"/>
                  </a:lnTo>
                  <a:lnTo>
                    <a:pt x="144881" y="253644"/>
                  </a:lnTo>
                  <a:lnTo>
                    <a:pt x="142976" y="253720"/>
                  </a:lnTo>
                  <a:lnTo>
                    <a:pt x="135140" y="253936"/>
                  </a:lnTo>
                  <a:lnTo>
                    <a:pt x="126987" y="253999"/>
                  </a:lnTo>
                  <a:lnTo>
                    <a:pt x="118834" y="253936"/>
                  </a:lnTo>
                  <a:lnTo>
                    <a:pt x="111010" y="253720"/>
                  </a:lnTo>
                  <a:lnTo>
                    <a:pt x="107213" y="253555"/>
                  </a:lnTo>
                  <a:lnTo>
                    <a:pt x="99860" y="253123"/>
                  </a:lnTo>
                  <a:lnTo>
                    <a:pt x="92837" y="252539"/>
                  </a:lnTo>
                  <a:cubicBezTo>
                    <a:pt x="33312" y="246760"/>
                    <a:pt x="8382" y="222910"/>
                    <a:pt x="1829" y="164833"/>
                  </a:cubicBezTo>
                  <a:lnTo>
                    <a:pt x="1448" y="161150"/>
                  </a:lnTo>
                  <a:lnTo>
                    <a:pt x="864" y="154127"/>
                  </a:lnTo>
                  <a:lnTo>
                    <a:pt x="343" y="144894"/>
                  </a:lnTo>
                  <a:lnTo>
                    <a:pt x="267" y="142989"/>
                  </a:lnTo>
                  <a:lnTo>
                    <a:pt x="51" y="135153"/>
                  </a:lnTo>
                  <a:lnTo>
                    <a:pt x="0" y="131114"/>
                  </a:lnTo>
                  <a:lnTo>
                    <a:pt x="0" y="122885"/>
                  </a:lnTo>
                  <a:lnTo>
                    <a:pt x="51" y="118846"/>
                  </a:lnTo>
                  <a:lnTo>
                    <a:pt x="267" y="111023"/>
                  </a:lnTo>
                  <a:lnTo>
                    <a:pt x="432" y="107226"/>
                  </a:lnTo>
                  <a:lnTo>
                    <a:pt x="864" y="99873"/>
                  </a:lnTo>
                  <a:lnTo>
                    <a:pt x="1448" y="92849"/>
                  </a:lnTo>
                  <a:cubicBezTo>
                    <a:pt x="7226" y="33325"/>
                    <a:pt x="31077" y="8395"/>
                    <a:pt x="89154" y="1841"/>
                  </a:cubicBezTo>
                  <a:lnTo>
                    <a:pt x="92837" y="1460"/>
                  </a:lnTo>
                  <a:lnTo>
                    <a:pt x="99860" y="876"/>
                  </a:lnTo>
                  <a:lnTo>
                    <a:pt x="109093" y="356"/>
                  </a:lnTo>
                  <a:lnTo>
                    <a:pt x="110998" y="279"/>
                  </a:lnTo>
                  <a:lnTo>
                    <a:pt x="118834" y="63"/>
                  </a:lnTo>
                  <a:cubicBezTo>
                    <a:pt x="121501" y="25"/>
                    <a:pt x="124218" y="0"/>
                    <a:pt x="126987" y="0"/>
                  </a:cubicBezTo>
                  <a:close/>
                  <a:moveTo>
                    <a:pt x="139687" y="63500"/>
                  </a:moveTo>
                  <a:lnTo>
                    <a:pt x="101587" y="63500"/>
                  </a:lnTo>
                  <a:lnTo>
                    <a:pt x="100101" y="63589"/>
                  </a:lnTo>
                  <a:cubicBezTo>
                    <a:pt x="93712" y="64349"/>
                    <a:pt x="88901" y="69766"/>
                    <a:pt x="88901" y="76200"/>
                  </a:cubicBezTo>
                  <a:cubicBezTo>
                    <a:pt x="88901" y="82634"/>
                    <a:pt x="93712" y="88051"/>
                    <a:pt x="100101" y="88811"/>
                  </a:cubicBezTo>
                  <a:lnTo>
                    <a:pt x="101587" y="88900"/>
                  </a:lnTo>
                  <a:lnTo>
                    <a:pt x="139687" y="88900"/>
                  </a:lnTo>
                  <a:lnTo>
                    <a:pt x="139687" y="114300"/>
                  </a:lnTo>
                  <a:lnTo>
                    <a:pt x="114287" y="114300"/>
                  </a:lnTo>
                  <a:lnTo>
                    <a:pt x="112382" y="114363"/>
                  </a:lnTo>
                  <a:cubicBezTo>
                    <a:pt x="99887" y="115302"/>
                    <a:pt x="89943" y="125213"/>
                    <a:pt x="88963" y="137706"/>
                  </a:cubicBezTo>
                  <a:lnTo>
                    <a:pt x="88887" y="139700"/>
                  </a:lnTo>
                  <a:lnTo>
                    <a:pt x="88887" y="165100"/>
                  </a:lnTo>
                  <a:lnTo>
                    <a:pt x="88951" y="167005"/>
                  </a:lnTo>
                  <a:cubicBezTo>
                    <a:pt x="89890" y="179500"/>
                    <a:pt x="99801" y="189444"/>
                    <a:pt x="112293" y="190423"/>
                  </a:cubicBezTo>
                  <a:lnTo>
                    <a:pt x="114287" y="190500"/>
                  </a:lnTo>
                  <a:lnTo>
                    <a:pt x="152387" y="190500"/>
                  </a:lnTo>
                  <a:lnTo>
                    <a:pt x="153873" y="190411"/>
                  </a:lnTo>
                  <a:cubicBezTo>
                    <a:pt x="160262" y="189651"/>
                    <a:pt x="165073" y="184233"/>
                    <a:pt x="165073" y="177800"/>
                  </a:cubicBezTo>
                  <a:cubicBezTo>
                    <a:pt x="165073" y="171366"/>
                    <a:pt x="160262" y="165948"/>
                    <a:pt x="153873" y="165188"/>
                  </a:cubicBezTo>
                  <a:lnTo>
                    <a:pt x="152387" y="165100"/>
                  </a:lnTo>
                  <a:lnTo>
                    <a:pt x="114287" y="165100"/>
                  </a:lnTo>
                  <a:lnTo>
                    <a:pt x="114287" y="139700"/>
                  </a:lnTo>
                  <a:lnTo>
                    <a:pt x="139687" y="139700"/>
                  </a:lnTo>
                  <a:lnTo>
                    <a:pt x="141592" y="139636"/>
                  </a:lnTo>
                  <a:cubicBezTo>
                    <a:pt x="154087" y="138697"/>
                    <a:pt x="164031" y="128786"/>
                    <a:pt x="165011" y="116294"/>
                  </a:cubicBezTo>
                  <a:lnTo>
                    <a:pt x="165087" y="114300"/>
                  </a:lnTo>
                  <a:lnTo>
                    <a:pt x="165087" y="88900"/>
                  </a:lnTo>
                  <a:lnTo>
                    <a:pt x="165023" y="86995"/>
                  </a:lnTo>
                  <a:cubicBezTo>
                    <a:pt x="164084" y="74499"/>
                    <a:pt x="154173" y="64556"/>
                    <a:pt x="141681" y="63576"/>
                  </a:cubicBezTo>
                  <a:lnTo>
                    <a:pt x="139687" y="63500"/>
                  </a:lnTo>
                  <a:close/>
                </a:path>
              </a:pathLst>
            </a:custGeom>
            <a:solidFill>
              <a:schemeClr val="accent1"/>
            </a:solidFill>
            <a:ln>
              <a:noFill/>
            </a:ln>
          </p:spPr>
        </p:sp>
        <p:sp>
          <p:nvSpPr>
            <p:cNvPr id="17" name="TextBox 17"/>
            <p:cNvSpPr txBox="1"/>
            <p:nvPr/>
          </p:nvSpPr>
          <p:spPr>
            <a:xfrm>
              <a:off x="1057656" y="2491740"/>
              <a:ext cx="987552"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需求分析</a:t>
              </a:r>
            </a:p>
          </p:txBody>
        </p:sp>
        <p:sp>
          <p:nvSpPr>
            <p:cNvPr id="18" name="TextBox 18"/>
            <p:cNvSpPr txBox="1"/>
            <p:nvPr/>
          </p:nvSpPr>
          <p:spPr>
            <a:xfrm>
              <a:off x="1059942" y="2807018"/>
              <a:ext cx="438226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三类角色 · 十四个功能模块 · 六步闭环 ｜ P06—P07</a:t>
              </a:r>
            </a:p>
          </p:txBody>
        </p:sp>
      </p:grpSp>
      <p:grpSp>
        <p:nvGrpSpPr>
          <p:cNvPr id="23" name="Group 23"/>
          <p:cNvGrpSpPr/>
          <p:nvPr/>
        </p:nvGrpSpPr>
        <p:grpSpPr>
          <a:xfrm>
            <a:off x="635013" y="3187700"/>
            <a:ext cx="4941608" cy="588201"/>
            <a:chOff x="635013" y="3187700"/>
            <a:chExt cx="4941608" cy="588201"/>
          </a:xfrm>
        </p:grpSpPr>
        <p:sp>
          <p:nvSpPr>
            <p:cNvPr id="20" name="Freeform 20"/>
            <p:cNvSpPr/>
            <p:nvPr/>
          </p:nvSpPr>
          <p:spPr>
            <a:xfrm>
              <a:off x="635013" y="3187700"/>
              <a:ext cx="253987" cy="253999"/>
            </a:xfrm>
            <a:custGeom>
              <a:avLst/>
              <a:gdLst/>
              <a:ahLst/>
              <a:cxnLst/>
              <a:rect l="l" t="t" r="r" b="b"/>
              <a:pathLst>
                <a:path w="253987" h="253999">
                  <a:moveTo>
                    <a:pt x="126987" y="0"/>
                  </a:moveTo>
                  <a:lnTo>
                    <a:pt x="135140" y="63"/>
                  </a:lnTo>
                  <a:lnTo>
                    <a:pt x="142964" y="279"/>
                  </a:lnTo>
                  <a:lnTo>
                    <a:pt x="146761" y="444"/>
                  </a:lnTo>
                  <a:lnTo>
                    <a:pt x="154114" y="876"/>
                  </a:lnTo>
                  <a:lnTo>
                    <a:pt x="161137" y="1460"/>
                  </a:lnTo>
                  <a:cubicBezTo>
                    <a:pt x="220662" y="7239"/>
                    <a:pt x="245592" y="31090"/>
                    <a:pt x="252145" y="89166"/>
                  </a:cubicBezTo>
                  <a:lnTo>
                    <a:pt x="252526" y="92849"/>
                  </a:lnTo>
                  <a:lnTo>
                    <a:pt x="253110" y="99873"/>
                  </a:lnTo>
                  <a:lnTo>
                    <a:pt x="253631" y="109105"/>
                  </a:lnTo>
                  <a:lnTo>
                    <a:pt x="253707" y="111010"/>
                  </a:lnTo>
                  <a:lnTo>
                    <a:pt x="253923" y="118846"/>
                  </a:lnTo>
                  <a:lnTo>
                    <a:pt x="253987" y="127000"/>
                  </a:lnTo>
                  <a:lnTo>
                    <a:pt x="253923" y="135153"/>
                  </a:lnTo>
                  <a:lnTo>
                    <a:pt x="253707" y="142976"/>
                  </a:lnTo>
                  <a:lnTo>
                    <a:pt x="253542" y="146774"/>
                  </a:lnTo>
                  <a:lnTo>
                    <a:pt x="253110" y="154127"/>
                  </a:lnTo>
                  <a:lnTo>
                    <a:pt x="252526" y="161150"/>
                  </a:lnTo>
                  <a:cubicBezTo>
                    <a:pt x="246748" y="220675"/>
                    <a:pt x="222897" y="245605"/>
                    <a:pt x="164820" y="252158"/>
                  </a:cubicBezTo>
                  <a:lnTo>
                    <a:pt x="161137" y="252539"/>
                  </a:lnTo>
                  <a:lnTo>
                    <a:pt x="154114" y="253123"/>
                  </a:lnTo>
                  <a:lnTo>
                    <a:pt x="144881" y="253644"/>
                  </a:lnTo>
                  <a:lnTo>
                    <a:pt x="142976" y="253720"/>
                  </a:lnTo>
                  <a:lnTo>
                    <a:pt x="135140" y="253936"/>
                  </a:lnTo>
                  <a:lnTo>
                    <a:pt x="126987" y="253999"/>
                  </a:lnTo>
                  <a:lnTo>
                    <a:pt x="118834" y="253936"/>
                  </a:lnTo>
                  <a:lnTo>
                    <a:pt x="111010" y="253720"/>
                  </a:lnTo>
                  <a:lnTo>
                    <a:pt x="107213" y="253555"/>
                  </a:lnTo>
                  <a:lnTo>
                    <a:pt x="99860" y="253123"/>
                  </a:lnTo>
                  <a:lnTo>
                    <a:pt x="92837" y="252539"/>
                  </a:lnTo>
                  <a:cubicBezTo>
                    <a:pt x="33312" y="246760"/>
                    <a:pt x="8382" y="222910"/>
                    <a:pt x="1829" y="164833"/>
                  </a:cubicBezTo>
                  <a:lnTo>
                    <a:pt x="1448" y="161150"/>
                  </a:lnTo>
                  <a:lnTo>
                    <a:pt x="864" y="154127"/>
                  </a:lnTo>
                  <a:lnTo>
                    <a:pt x="343" y="144894"/>
                  </a:lnTo>
                  <a:lnTo>
                    <a:pt x="267" y="142989"/>
                  </a:lnTo>
                  <a:lnTo>
                    <a:pt x="51" y="135153"/>
                  </a:lnTo>
                  <a:lnTo>
                    <a:pt x="0" y="131114"/>
                  </a:lnTo>
                  <a:lnTo>
                    <a:pt x="0" y="122885"/>
                  </a:lnTo>
                  <a:lnTo>
                    <a:pt x="51" y="118846"/>
                  </a:lnTo>
                  <a:lnTo>
                    <a:pt x="267" y="111023"/>
                  </a:lnTo>
                  <a:lnTo>
                    <a:pt x="432" y="107226"/>
                  </a:lnTo>
                  <a:lnTo>
                    <a:pt x="864" y="99873"/>
                  </a:lnTo>
                  <a:lnTo>
                    <a:pt x="1448" y="92849"/>
                  </a:lnTo>
                  <a:cubicBezTo>
                    <a:pt x="7226" y="33325"/>
                    <a:pt x="31077" y="8395"/>
                    <a:pt x="89154" y="1841"/>
                  </a:cubicBezTo>
                  <a:lnTo>
                    <a:pt x="92837" y="1460"/>
                  </a:lnTo>
                  <a:lnTo>
                    <a:pt x="99860" y="876"/>
                  </a:lnTo>
                  <a:lnTo>
                    <a:pt x="109093" y="356"/>
                  </a:lnTo>
                  <a:lnTo>
                    <a:pt x="110998" y="279"/>
                  </a:lnTo>
                  <a:lnTo>
                    <a:pt x="118834" y="63"/>
                  </a:lnTo>
                  <a:cubicBezTo>
                    <a:pt x="121501" y="25"/>
                    <a:pt x="124218" y="0"/>
                    <a:pt x="126987" y="0"/>
                  </a:cubicBezTo>
                  <a:close/>
                  <a:moveTo>
                    <a:pt x="139687" y="63500"/>
                  </a:moveTo>
                  <a:lnTo>
                    <a:pt x="114287" y="63500"/>
                  </a:lnTo>
                  <a:lnTo>
                    <a:pt x="112382" y="63563"/>
                  </a:lnTo>
                  <a:cubicBezTo>
                    <a:pt x="99127" y="64560"/>
                    <a:pt x="88883" y="75608"/>
                    <a:pt x="88887" y="88900"/>
                  </a:cubicBezTo>
                  <a:cubicBezTo>
                    <a:pt x="88865" y="95362"/>
                    <a:pt x="93698" y="100811"/>
                    <a:pt x="100117" y="101559"/>
                  </a:cubicBezTo>
                  <a:cubicBezTo>
                    <a:pt x="106536" y="102306"/>
                    <a:pt x="112493" y="98115"/>
                    <a:pt x="113957" y="91821"/>
                  </a:cubicBezTo>
                  <a:lnTo>
                    <a:pt x="114211" y="90386"/>
                  </a:lnTo>
                  <a:lnTo>
                    <a:pt x="114287" y="88900"/>
                  </a:lnTo>
                  <a:lnTo>
                    <a:pt x="139687" y="88900"/>
                  </a:lnTo>
                  <a:lnTo>
                    <a:pt x="139687" y="114300"/>
                  </a:lnTo>
                  <a:lnTo>
                    <a:pt x="114287" y="114300"/>
                  </a:lnTo>
                  <a:lnTo>
                    <a:pt x="112598" y="114389"/>
                  </a:lnTo>
                  <a:cubicBezTo>
                    <a:pt x="98488" y="115913"/>
                    <a:pt x="97942" y="136360"/>
                    <a:pt x="110972" y="139344"/>
                  </a:cubicBezTo>
                  <a:lnTo>
                    <a:pt x="112598" y="139611"/>
                  </a:lnTo>
                  <a:lnTo>
                    <a:pt x="114287" y="139700"/>
                  </a:lnTo>
                  <a:lnTo>
                    <a:pt x="139687" y="139700"/>
                  </a:lnTo>
                  <a:lnTo>
                    <a:pt x="139687" y="165100"/>
                  </a:lnTo>
                  <a:lnTo>
                    <a:pt x="114287" y="165100"/>
                  </a:lnTo>
                  <a:lnTo>
                    <a:pt x="114198" y="163614"/>
                  </a:lnTo>
                  <a:cubicBezTo>
                    <a:pt x="113404" y="156941"/>
                    <a:pt x="107551" y="152042"/>
                    <a:pt x="100843" y="152436"/>
                  </a:cubicBezTo>
                  <a:cubicBezTo>
                    <a:pt x="94135" y="152829"/>
                    <a:pt x="88895" y="158380"/>
                    <a:pt x="88887" y="165100"/>
                  </a:cubicBezTo>
                  <a:cubicBezTo>
                    <a:pt x="88883" y="178392"/>
                    <a:pt x="99127" y="189439"/>
                    <a:pt x="112382" y="190436"/>
                  </a:cubicBezTo>
                  <a:lnTo>
                    <a:pt x="114287" y="190500"/>
                  </a:lnTo>
                  <a:lnTo>
                    <a:pt x="139687" y="190500"/>
                  </a:lnTo>
                  <a:lnTo>
                    <a:pt x="141592" y="190436"/>
                  </a:lnTo>
                  <a:cubicBezTo>
                    <a:pt x="154087" y="189497"/>
                    <a:pt x="164031" y="179586"/>
                    <a:pt x="165011" y="167093"/>
                  </a:cubicBezTo>
                  <a:lnTo>
                    <a:pt x="165087" y="165100"/>
                  </a:lnTo>
                  <a:lnTo>
                    <a:pt x="165087" y="139700"/>
                  </a:lnTo>
                  <a:lnTo>
                    <a:pt x="165023" y="137795"/>
                  </a:lnTo>
                  <a:cubicBezTo>
                    <a:pt x="164802" y="134867"/>
                    <a:pt x="164071" y="132000"/>
                    <a:pt x="162864" y="129324"/>
                  </a:cubicBezTo>
                  <a:lnTo>
                    <a:pt x="161912" y="127393"/>
                  </a:lnTo>
                  <a:lnTo>
                    <a:pt x="161671" y="126987"/>
                  </a:lnTo>
                  <a:lnTo>
                    <a:pt x="161925" y="126606"/>
                  </a:lnTo>
                  <a:cubicBezTo>
                    <a:pt x="163641" y="123491"/>
                    <a:pt x="164688" y="120052"/>
                    <a:pt x="164998" y="116510"/>
                  </a:cubicBezTo>
                  <a:lnTo>
                    <a:pt x="165087" y="114300"/>
                  </a:lnTo>
                  <a:lnTo>
                    <a:pt x="165087" y="88900"/>
                  </a:lnTo>
                  <a:lnTo>
                    <a:pt x="165023" y="86995"/>
                  </a:lnTo>
                  <a:cubicBezTo>
                    <a:pt x="164084" y="74499"/>
                    <a:pt x="154173" y="64556"/>
                    <a:pt x="141681" y="63576"/>
                  </a:cubicBezTo>
                  <a:lnTo>
                    <a:pt x="139687" y="63500"/>
                  </a:lnTo>
                  <a:close/>
                </a:path>
              </a:pathLst>
            </a:custGeom>
            <a:solidFill>
              <a:schemeClr val="accent1"/>
            </a:solidFill>
            <a:ln>
              <a:noFill/>
            </a:ln>
          </p:spPr>
        </p:sp>
        <p:sp>
          <p:nvSpPr>
            <p:cNvPr id="21" name="TextBox 21"/>
            <p:cNvSpPr txBox="1"/>
            <p:nvPr/>
          </p:nvSpPr>
          <p:spPr>
            <a:xfrm>
              <a:off x="1057656" y="3196590"/>
              <a:ext cx="987552"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设计文档</a:t>
              </a:r>
            </a:p>
          </p:txBody>
        </p:sp>
        <p:sp>
          <p:nvSpPr>
            <p:cNvPr id="22" name="TextBox 22"/>
            <p:cNvSpPr txBox="1"/>
            <p:nvPr/>
          </p:nvSpPr>
          <p:spPr>
            <a:xfrm>
              <a:off x="1059942" y="3511868"/>
              <a:ext cx="451667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选型与架构 · 原型 · API · 数据库 · 决策 ｜ P08—P12</a:t>
              </a:r>
            </a:p>
          </p:txBody>
        </p:sp>
      </p:grpSp>
      <p:grpSp>
        <p:nvGrpSpPr>
          <p:cNvPr id="27" name="Group 27"/>
          <p:cNvGrpSpPr/>
          <p:nvPr/>
        </p:nvGrpSpPr>
        <p:grpSpPr>
          <a:xfrm>
            <a:off x="635013" y="3892550"/>
            <a:ext cx="4835995" cy="588201"/>
            <a:chOff x="635013" y="3892550"/>
            <a:chExt cx="4835995" cy="588201"/>
          </a:xfrm>
        </p:grpSpPr>
        <p:sp>
          <p:nvSpPr>
            <p:cNvPr id="24" name="Freeform 24"/>
            <p:cNvSpPr/>
            <p:nvPr/>
          </p:nvSpPr>
          <p:spPr>
            <a:xfrm>
              <a:off x="635013" y="3892550"/>
              <a:ext cx="253987" cy="253999"/>
            </a:xfrm>
            <a:custGeom>
              <a:avLst/>
              <a:gdLst/>
              <a:ahLst/>
              <a:cxnLst/>
              <a:rect l="l" t="t" r="r" b="b"/>
              <a:pathLst>
                <a:path w="253987" h="253999">
                  <a:moveTo>
                    <a:pt x="126987" y="0"/>
                  </a:moveTo>
                  <a:lnTo>
                    <a:pt x="135140" y="63"/>
                  </a:lnTo>
                  <a:lnTo>
                    <a:pt x="142964" y="279"/>
                  </a:lnTo>
                  <a:lnTo>
                    <a:pt x="146761" y="444"/>
                  </a:lnTo>
                  <a:lnTo>
                    <a:pt x="154114" y="876"/>
                  </a:lnTo>
                  <a:lnTo>
                    <a:pt x="161137" y="1460"/>
                  </a:lnTo>
                  <a:cubicBezTo>
                    <a:pt x="220662" y="7239"/>
                    <a:pt x="245592" y="31090"/>
                    <a:pt x="252145" y="89166"/>
                  </a:cubicBezTo>
                  <a:lnTo>
                    <a:pt x="252526" y="92849"/>
                  </a:lnTo>
                  <a:lnTo>
                    <a:pt x="253110" y="99873"/>
                  </a:lnTo>
                  <a:lnTo>
                    <a:pt x="253631" y="109105"/>
                  </a:lnTo>
                  <a:lnTo>
                    <a:pt x="253707" y="111010"/>
                  </a:lnTo>
                  <a:lnTo>
                    <a:pt x="253923" y="118846"/>
                  </a:lnTo>
                  <a:lnTo>
                    <a:pt x="253987" y="127000"/>
                  </a:lnTo>
                  <a:lnTo>
                    <a:pt x="253923" y="135153"/>
                  </a:lnTo>
                  <a:lnTo>
                    <a:pt x="253707" y="142976"/>
                  </a:lnTo>
                  <a:lnTo>
                    <a:pt x="253542" y="146774"/>
                  </a:lnTo>
                  <a:lnTo>
                    <a:pt x="253110" y="154127"/>
                  </a:lnTo>
                  <a:lnTo>
                    <a:pt x="252526" y="161150"/>
                  </a:lnTo>
                  <a:cubicBezTo>
                    <a:pt x="246748" y="220675"/>
                    <a:pt x="222897" y="245605"/>
                    <a:pt x="164820" y="252158"/>
                  </a:cubicBezTo>
                  <a:lnTo>
                    <a:pt x="161137" y="252539"/>
                  </a:lnTo>
                  <a:lnTo>
                    <a:pt x="154114" y="253123"/>
                  </a:lnTo>
                  <a:lnTo>
                    <a:pt x="144881" y="253644"/>
                  </a:lnTo>
                  <a:lnTo>
                    <a:pt x="142976" y="253720"/>
                  </a:lnTo>
                  <a:lnTo>
                    <a:pt x="135140" y="253936"/>
                  </a:lnTo>
                  <a:lnTo>
                    <a:pt x="126987" y="253999"/>
                  </a:lnTo>
                  <a:lnTo>
                    <a:pt x="118834" y="253936"/>
                  </a:lnTo>
                  <a:lnTo>
                    <a:pt x="111010" y="253720"/>
                  </a:lnTo>
                  <a:lnTo>
                    <a:pt x="107213" y="253555"/>
                  </a:lnTo>
                  <a:lnTo>
                    <a:pt x="99860" y="253123"/>
                  </a:lnTo>
                  <a:lnTo>
                    <a:pt x="92837" y="252539"/>
                  </a:lnTo>
                  <a:cubicBezTo>
                    <a:pt x="33312" y="246760"/>
                    <a:pt x="8382" y="222910"/>
                    <a:pt x="1829" y="164833"/>
                  </a:cubicBezTo>
                  <a:lnTo>
                    <a:pt x="1448" y="161150"/>
                  </a:lnTo>
                  <a:lnTo>
                    <a:pt x="864" y="154127"/>
                  </a:lnTo>
                  <a:lnTo>
                    <a:pt x="343" y="144894"/>
                  </a:lnTo>
                  <a:lnTo>
                    <a:pt x="267" y="142989"/>
                  </a:lnTo>
                  <a:lnTo>
                    <a:pt x="51" y="135153"/>
                  </a:lnTo>
                  <a:lnTo>
                    <a:pt x="0" y="131114"/>
                  </a:lnTo>
                  <a:lnTo>
                    <a:pt x="0" y="122885"/>
                  </a:lnTo>
                  <a:lnTo>
                    <a:pt x="51" y="118846"/>
                  </a:lnTo>
                  <a:lnTo>
                    <a:pt x="267" y="111023"/>
                  </a:lnTo>
                  <a:lnTo>
                    <a:pt x="432" y="107226"/>
                  </a:lnTo>
                  <a:lnTo>
                    <a:pt x="864" y="99873"/>
                  </a:lnTo>
                  <a:lnTo>
                    <a:pt x="1448" y="92849"/>
                  </a:lnTo>
                  <a:cubicBezTo>
                    <a:pt x="7226" y="33325"/>
                    <a:pt x="31077" y="8395"/>
                    <a:pt x="89154" y="1841"/>
                  </a:cubicBezTo>
                  <a:lnTo>
                    <a:pt x="92837" y="1460"/>
                  </a:lnTo>
                  <a:lnTo>
                    <a:pt x="99860" y="876"/>
                  </a:lnTo>
                  <a:lnTo>
                    <a:pt x="109093" y="356"/>
                  </a:lnTo>
                  <a:lnTo>
                    <a:pt x="110998" y="279"/>
                  </a:lnTo>
                  <a:lnTo>
                    <a:pt x="118834" y="63"/>
                  </a:lnTo>
                  <a:cubicBezTo>
                    <a:pt x="121501" y="25"/>
                    <a:pt x="124218" y="0"/>
                    <a:pt x="126987" y="0"/>
                  </a:cubicBezTo>
                  <a:close/>
                  <a:moveTo>
                    <a:pt x="152387" y="63500"/>
                  </a:moveTo>
                  <a:cubicBezTo>
                    <a:pt x="145948" y="63501"/>
                    <a:pt x="140529" y="68320"/>
                    <a:pt x="139776" y="74714"/>
                  </a:cubicBezTo>
                  <a:lnTo>
                    <a:pt x="139687" y="76200"/>
                  </a:lnTo>
                  <a:lnTo>
                    <a:pt x="139687" y="114300"/>
                  </a:lnTo>
                  <a:lnTo>
                    <a:pt x="114287" y="114300"/>
                  </a:lnTo>
                  <a:lnTo>
                    <a:pt x="114287" y="76200"/>
                  </a:lnTo>
                  <a:lnTo>
                    <a:pt x="114198" y="74714"/>
                  </a:lnTo>
                  <a:cubicBezTo>
                    <a:pt x="113438" y="68325"/>
                    <a:pt x="108021" y="63514"/>
                    <a:pt x="101587" y="63514"/>
                  </a:cubicBezTo>
                  <a:cubicBezTo>
                    <a:pt x="95153" y="63514"/>
                    <a:pt x="89736" y="68325"/>
                    <a:pt x="88976" y="74714"/>
                  </a:cubicBezTo>
                  <a:lnTo>
                    <a:pt x="88887" y="76200"/>
                  </a:lnTo>
                  <a:lnTo>
                    <a:pt x="88887" y="114300"/>
                  </a:lnTo>
                  <a:lnTo>
                    <a:pt x="88951" y="116205"/>
                  </a:lnTo>
                  <a:cubicBezTo>
                    <a:pt x="89890" y="128700"/>
                    <a:pt x="99801" y="138644"/>
                    <a:pt x="112293" y="139623"/>
                  </a:cubicBezTo>
                  <a:lnTo>
                    <a:pt x="114287" y="139700"/>
                  </a:lnTo>
                  <a:lnTo>
                    <a:pt x="139687" y="139700"/>
                  </a:lnTo>
                  <a:lnTo>
                    <a:pt x="139687" y="177800"/>
                  </a:lnTo>
                  <a:lnTo>
                    <a:pt x="139776" y="179285"/>
                  </a:lnTo>
                  <a:cubicBezTo>
                    <a:pt x="140536" y="185674"/>
                    <a:pt x="145953" y="190485"/>
                    <a:pt x="152387" y="190485"/>
                  </a:cubicBezTo>
                  <a:cubicBezTo>
                    <a:pt x="158821" y="190485"/>
                    <a:pt x="164238" y="185674"/>
                    <a:pt x="164998" y="179285"/>
                  </a:cubicBezTo>
                  <a:lnTo>
                    <a:pt x="165087" y="177800"/>
                  </a:lnTo>
                  <a:lnTo>
                    <a:pt x="165087" y="76200"/>
                  </a:lnTo>
                  <a:lnTo>
                    <a:pt x="164998" y="74714"/>
                  </a:lnTo>
                  <a:cubicBezTo>
                    <a:pt x="164245" y="68320"/>
                    <a:pt x="158825" y="63501"/>
                    <a:pt x="152387" y="63500"/>
                  </a:cubicBezTo>
                  <a:close/>
                </a:path>
              </a:pathLst>
            </a:custGeom>
            <a:solidFill>
              <a:schemeClr val="accent1"/>
            </a:solidFill>
            <a:ln>
              <a:noFill/>
            </a:ln>
          </p:spPr>
        </p:sp>
        <p:sp>
          <p:nvSpPr>
            <p:cNvPr id="25" name="TextBox 25"/>
            <p:cNvSpPr txBox="1"/>
            <p:nvPr/>
          </p:nvSpPr>
          <p:spPr>
            <a:xfrm>
              <a:off x="1057656" y="3901440"/>
              <a:ext cx="987552"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系统演示</a:t>
              </a:r>
            </a:p>
          </p:txBody>
        </p:sp>
        <p:sp>
          <p:nvSpPr>
            <p:cNvPr id="26" name="TextBox 26"/>
            <p:cNvSpPr txBox="1"/>
            <p:nvPr/>
          </p:nvSpPr>
          <p:spPr>
            <a:xfrm>
              <a:off x="1059942" y="4216718"/>
              <a:ext cx="441106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教师 · 学生 · 阅卷排名 · 六项增强功能 ｜ P13—P17</a:t>
              </a:r>
            </a:p>
          </p:txBody>
        </p:sp>
      </p:grpSp>
      <p:grpSp>
        <p:nvGrpSpPr>
          <p:cNvPr id="31" name="Group 31"/>
          <p:cNvGrpSpPr/>
          <p:nvPr/>
        </p:nvGrpSpPr>
        <p:grpSpPr>
          <a:xfrm>
            <a:off x="635013" y="4597400"/>
            <a:ext cx="4778387" cy="588201"/>
            <a:chOff x="635013" y="4597400"/>
            <a:chExt cx="4778387" cy="588201"/>
          </a:xfrm>
        </p:grpSpPr>
        <p:sp>
          <p:nvSpPr>
            <p:cNvPr id="28" name="Freeform 28"/>
            <p:cNvSpPr/>
            <p:nvPr/>
          </p:nvSpPr>
          <p:spPr>
            <a:xfrm>
              <a:off x="635013" y="4597400"/>
              <a:ext cx="253987" cy="253999"/>
            </a:xfrm>
            <a:custGeom>
              <a:avLst/>
              <a:gdLst/>
              <a:ahLst/>
              <a:cxnLst/>
              <a:rect l="l" t="t" r="r" b="b"/>
              <a:pathLst>
                <a:path w="253987" h="253999">
                  <a:moveTo>
                    <a:pt x="126987" y="0"/>
                  </a:moveTo>
                  <a:lnTo>
                    <a:pt x="135140" y="63"/>
                  </a:lnTo>
                  <a:lnTo>
                    <a:pt x="142964" y="279"/>
                  </a:lnTo>
                  <a:lnTo>
                    <a:pt x="146761" y="444"/>
                  </a:lnTo>
                  <a:lnTo>
                    <a:pt x="154114" y="876"/>
                  </a:lnTo>
                  <a:lnTo>
                    <a:pt x="161137" y="1460"/>
                  </a:lnTo>
                  <a:cubicBezTo>
                    <a:pt x="220662" y="7239"/>
                    <a:pt x="245592" y="31090"/>
                    <a:pt x="252145" y="89166"/>
                  </a:cubicBezTo>
                  <a:lnTo>
                    <a:pt x="252526" y="92849"/>
                  </a:lnTo>
                  <a:lnTo>
                    <a:pt x="253110" y="99873"/>
                  </a:lnTo>
                  <a:lnTo>
                    <a:pt x="253631" y="109105"/>
                  </a:lnTo>
                  <a:lnTo>
                    <a:pt x="253707" y="111010"/>
                  </a:lnTo>
                  <a:lnTo>
                    <a:pt x="253923" y="118846"/>
                  </a:lnTo>
                  <a:lnTo>
                    <a:pt x="253987" y="127000"/>
                  </a:lnTo>
                  <a:lnTo>
                    <a:pt x="253923" y="135153"/>
                  </a:lnTo>
                  <a:lnTo>
                    <a:pt x="253707" y="142976"/>
                  </a:lnTo>
                  <a:lnTo>
                    <a:pt x="253542" y="146774"/>
                  </a:lnTo>
                  <a:lnTo>
                    <a:pt x="253110" y="154127"/>
                  </a:lnTo>
                  <a:lnTo>
                    <a:pt x="252526" y="161150"/>
                  </a:lnTo>
                  <a:cubicBezTo>
                    <a:pt x="246748" y="220675"/>
                    <a:pt x="222897" y="245605"/>
                    <a:pt x="164820" y="252158"/>
                  </a:cubicBezTo>
                  <a:lnTo>
                    <a:pt x="161137" y="252539"/>
                  </a:lnTo>
                  <a:lnTo>
                    <a:pt x="154114" y="253123"/>
                  </a:lnTo>
                  <a:lnTo>
                    <a:pt x="144881" y="253644"/>
                  </a:lnTo>
                  <a:lnTo>
                    <a:pt x="142976" y="253720"/>
                  </a:lnTo>
                  <a:lnTo>
                    <a:pt x="135140" y="253936"/>
                  </a:lnTo>
                  <a:lnTo>
                    <a:pt x="126987" y="253999"/>
                  </a:lnTo>
                  <a:lnTo>
                    <a:pt x="118834" y="253936"/>
                  </a:lnTo>
                  <a:lnTo>
                    <a:pt x="111010" y="253720"/>
                  </a:lnTo>
                  <a:lnTo>
                    <a:pt x="107213" y="253555"/>
                  </a:lnTo>
                  <a:lnTo>
                    <a:pt x="99860" y="253123"/>
                  </a:lnTo>
                  <a:lnTo>
                    <a:pt x="92837" y="252539"/>
                  </a:lnTo>
                  <a:cubicBezTo>
                    <a:pt x="33312" y="246760"/>
                    <a:pt x="8382" y="222910"/>
                    <a:pt x="1829" y="164833"/>
                  </a:cubicBezTo>
                  <a:lnTo>
                    <a:pt x="1448" y="161150"/>
                  </a:lnTo>
                  <a:lnTo>
                    <a:pt x="864" y="154127"/>
                  </a:lnTo>
                  <a:lnTo>
                    <a:pt x="343" y="144894"/>
                  </a:lnTo>
                  <a:lnTo>
                    <a:pt x="267" y="142989"/>
                  </a:lnTo>
                  <a:lnTo>
                    <a:pt x="51" y="135153"/>
                  </a:lnTo>
                  <a:lnTo>
                    <a:pt x="0" y="131114"/>
                  </a:lnTo>
                  <a:lnTo>
                    <a:pt x="0" y="122885"/>
                  </a:lnTo>
                  <a:lnTo>
                    <a:pt x="51" y="118846"/>
                  </a:lnTo>
                  <a:lnTo>
                    <a:pt x="267" y="111023"/>
                  </a:lnTo>
                  <a:lnTo>
                    <a:pt x="432" y="107226"/>
                  </a:lnTo>
                  <a:lnTo>
                    <a:pt x="864" y="99873"/>
                  </a:lnTo>
                  <a:lnTo>
                    <a:pt x="1448" y="92849"/>
                  </a:lnTo>
                  <a:cubicBezTo>
                    <a:pt x="7226" y="33325"/>
                    <a:pt x="31077" y="8395"/>
                    <a:pt x="89154" y="1841"/>
                  </a:cubicBezTo>
                  <a:lnTo>
                    <a:pt x="92837" y="1460"/>
                  </a:lnTo>
                  <a:lnTo>
                    <a:pt x="99860" y="876"/>
                  </a:lnTo>
                  <a:lnTo>
                    <a:pt x="109093" y="356"/>
                  </a:lnTo>
                  <a:lnTo>
                    <a:pt x="110998" y="279"/>
                  </a:lnTo>
                  <a:lnTo>
                    <a:pt x="118834" y="63"/>
                  </a:lnTo>
                  <a:cubicBezTo>
                    <a:pt x="121501" y="25"/>
                    <a:pt x="124218" y="0"/>
                    <a:pt x="126987" y="0"/>
                  </a:cubicBezTo>
                  <a:close/>
                  <a:moveTo>
                    <a:pt x="152387" y="63500"/>
                  </a:moveTo>
                  <a:lnTo>
                    <a:pt x="101587" y="63500"/>
                  </a:lnTo>
                  <a:cubicBezTo>
                    <a:pt x="95148" y="63501"/>
                    <a:pt x="89729" y="68320"/>
                    <a:pt x="88976" y="74714"/>
                  </a:cubicBezTo>
                  <a:lnTo>
                    <a:pt x="88887" y="76200"/>
                  </a:lnTo>
                  <a:lnTo>
                    <a:pt x="88887" y="127000"/>
                  </a:lnTo>
                  <a:cubicBezTo>
                    <a:pt x="88888" y="133438"/>
                    <a:pt x="93707" y="138857"/>
                    <a:pt x="100101" y="139611"/>
                  </a:cubicBezTo>
                  <a:lnTo>
                    <a:pt x="101587" y="139700"/>
                  </a:lnTo>
                  <a:lnTo>
                    <a:pt x="139687" y="139700"/>
                  </a:lnTo>
                  <a:lnTo>
                    <a:pt x="139687" y="165100"/>
                  </a:lnTo>
                  <a:lnTo>
                    <a:pt x="114287" y="165100"/>
                  </a:lnTo>
                  <a:lnTo>
                    <a:pt x="114198" y="163614"/>
                  </a:lnTo>
                  <a:cubicBezTo>
                    <a:pt x="113404" y="156941"/>
                    <a:pt x="107551" y="152042"/>
                    <a:pt x="100843" y="152436"/>
                  </a:cubicBezTo>
                  <a:cubicBezTo>
                    <a:pt x="94135" y="152829"/>
                    <a:pt x="88895" y="158380"/>
                    <a:pt x="88887" y="165100"/>
                  </a:cubicBezTo>
                  <a:cubicBezTo>
                    <a:pt x="88883" y="178392"/>
                    <a:pt x="99127" y="189439"/>
                    <a:pt x="112382" y="190436"/>
                  </a:cubicBezTo>
                  <a:lnTo>
                    <a:pt x="114287" y="190500"/>
                  </a:lnTo>
                  <a:lnTo>
                    <a:pt x="139687" y="190500"/>
                  </a:lnTo>
                  <a:cubicBezTo>
                    <a:pt x="152979" y="190504"/>
                    <a:pt x="164026" y="180259"/>
                    <a:pt x="165023" y="167005"/>
                  </a:cubicBezTo>
                  <a:lnTo>
                    <a:pt x="165087" y="165100"/>
                  </a:lnTo>
                  <a:lnTo>
                    <a:pt x="165087" y="139700"/>
                  </a:lnTo>
                  <a:cubicBezTo>
                    <a:pt x="165091" y="126408"/>
                    <a:pt x="154847" y="115360"/>
                    <a:pt x="141592" y="114363"/>
                  </a:cubicBezTo>
                  <a:lnTo>
                    <a:pt x="139687" y="114300"/>
                  </a:lnTo>
                  <a:lnTo>
                    <a:pt x="114287" y="114300"/>
                  </a:lnTo>
                  <a:lnTo>
                    <a:pt x="114287" y="88900"/>
                  </a:lnTo>
                  <a:lnTo>
                    <a:pt x="152387" y="88900"/>
                  </a:lnTo>
                  <a:cubicBezTo>
                    <a:pt x="158825" y="88899"/>
                    <a:pt x="164245" y="84080"/>
                    <a:pt x="164998" y="77686"/>
                  </a:cubicBezTo>
                  <a:lnTo>
                    <a:pt x="165087" y="76200"/>
                  </a:lnTo>
                  <a:cubicBezTo>
                    <a:pt x="165086" y="69761"/>
                    <a:pt x="160267" y="64342"/>
                    <a:pt x="153873" y="63589"/>
                  </a:cubicBezTo>
                  <a:lnTo>
                    <a:pt x="152387" y="63500"/>
                  </a:lnTo>
                  <a:close/>
                </a:path>
              </a:pathLst>
            </a:custGeom>
            <a:solidFill>
              <a:schemeClr val="accent1"/>
            </a:solidFill>
            <a:ln>
              <a:noFill/>
            </a:ln>
          </p:spPr>
        </p:sp>
        <p:sp>
          <p:nvSpPr>
            <p:cNvPr id="29" name="TextBox 29"/>
            <p:cNvSpPr txBox="1"/>
            <p:nvPr/>
          </p:nvSpPr>
          <p:spPr>
            <a:xfrm>
              <a:off x="1057656" y="4606290"/>
              <a:ext cx="1714500"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运行结果与验证</a:t>
              </a:r>
            </a:p>
          </p:txBody>
        </p:sp>
        <p:sp>
          <p:nvSpPr>
            <p:cNvPr id="30" name="TextBox 30"/>
            <p:cNvSpPr txBox="1"/>
            <p:nvPr/>
          </p:nvSpPr>
          <p:spPr>
            <a:xfrm>
              <a:off x="1059942" y="4921568"/>
              <a:ext cx="435345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数字为什么是这个值 · 测试与已知边界 ｜ P18—P19</a:t>
              </a:r>
            </a:p>
          </p:txBody>
        </p:sp>
      </p:grpSp>
      <p:grpSp>
        <p:nvGrpSpPr>
          <p:cNvPr id="35" name="Group 35"/>
          <p:cNvGrpSpPr/>
          <p:nvPr/>
        </p:nvGrpSpPr>
        <p:grpSpPr>
          <a:xfrm>
            <a:off x="635013" y="5302250"/>
            <a:ext cx="3971887" cy="588201"/>
            <a:chOff x="635013" y="5302250"/>
            <a:chExt cx="3971887" cy="588201"/>
          </a:xfrm>
        </p:grpSpPr>
        <p:sp>
          <p:nvSpPr>
            <p:cNvPr id="32" name="Freeform 32"/>
            <p:cNvSpPr/>
            <p:nvPr/>
          </p:nvSpPr>
          <p:spPr>
            <a:xfrm>
              <a:off x="635013" y="5302250"/>
              <a:ext cx="253987" cy="253999"/>
            </a:xfrm>
            <a:custGeom>
              <a:avLst/>
              <a:gdLst/>
              <a:ahLst/>
              <a:cxnLst/>
              <a:rect l="l" t="t" r="r" b="b"/>
              <a:pathLst>
                <a:path w="253987" h="253999">
                  <a:moveTo>
                    <a:pt x="126987" y="0"/>
                  </a:moveTo>
                  <a:lnTo>
                    <a:pt x="135140" y="63"/>
                  </a:lnTo>
                  <a:lnTo>
                    <a:pt x="142964" y="279"/>
                  </a:lnTo>
                  <a:lnTo>
                    <a:pt x="146761" y="444"/>
                  </a:lnTo>
                  <a:lnTo>
                    <a:pt x="154114" y="876"/>
                  </a:lnTo>
                  <a:lnTo>
                    <a:pt x="161137" y="1460"/>
                  </a:lnTo>
                  <a:cubicBezTo>
                    <a:pt x="220662" y="7239"/>
                    <a:pt x="245592" y="31090"/>
                    <a:pt x="252145" y="89166"/>
                  </a:cubicBezTo>
                  <a:lnTo>
                    <a:pt x="252526" y="92849"/>
                  </a:lnTo>
                  <a:lnTo>
                    <a:pt x="253110" y="99873"/>
                  </a:lnTo>
                  <a:lnTo>
                    <a:pt x="253631" y="109105"/>
                  </a:lnTo>
                  <a:lnTo>
                    <a:pt x="253707" y="111010"/>
                  </a:lnTo>
                  <a:lnTo>
                    <a:pt x="253923" y="118846"/>
                  </a:lnTo>
                  <a:lnTo>
                    <a:pt x="253987" y="127000"/>
                  </a:lnTo>
                  <a:lnTo>
                    <a:pt x="253923" y="135153"/>
                  </a:lnTo>
                  <a:lnTo>
                    <a:pt x="253707" y="142976"/>
                  </a:lnTo>
                  <a:lnTo>
                    <a:pt x="253542" y="146774"/>
                  </a:lnTo>
                  <a:lnTo>
                    <a:pt x="253110" y="154127"/>
                  </a:lnTo>
                  <a:lnTo>
                    <a:pt x="252526" y="161150"/>
                  </a:lnTo>
                  <a:cubicBezTo>
                    <a:pt x="246748" y="220675"/>
                    <a:pt x="222897" y="245605"/>
                    <a:pt x="164820" y="252158"/>
                  </a:cubicBezTo>
                  <a:lnTo>
                    <a:pt x="161137" y="252539"/>
                  </a:lnTo>
                  <a:lnTo>
                    <a:pt x="154114" y="253123"/>
                  </a:lnTo>
                  <a:lnTo>
                    <a:pt x="144881" y="253644"/>
                  </a:lnTo>
                  <a:lnTo>
                    <a:pt x="142976" y="253720"/>
                  </a:lnTo>
                  <a:lnTo>
                    <a:pt x="135140" y="253936"/>
                  </a:lnTo>
                  <a:lnTo>
                    <a:pt x="126987" y="253999"/>
                  </a:lnTo>
                  <a:lnTo>
                    <a:pt x="118834" y="253936"/>
                  </a:lnTo>
                  <a:lnTo>
                    <a:pt x="111010" y="253720"/>
                  </a:lnTo>
                  <a:lnTo>
                    <a:pt x="107213" y="253555"/>
                  </a:lnTo>
                  <a:lnTo>
                    <a:pt x="99860" y="253123"/>
                  </a:lnTo>
                  <a:lnTo>
                    <a:pt x="92837" y="252539"/>
                  </a:lnTo>
                  <a:cubicBezTo>
                    <a:pt x="33312" y="246760"/>
                    <a:pt x="8382" y="222910"/>
                    <a:pt x="1829" y="164833"/>
                  </a:cubicBezTo>
                  <a:lnTo>
                    <a:pt x="1448" y="161150"/>
                  </a:lnTo>
                  <a:lnTo>
                    <a:pt x="864" y="154127"/>
                  </a:lnTo>
                  <a:lnTo>
                    <a:pt x="343" y="144894"/>
                  </a:lnTo>
                  <a:lnTo>
                    <a:pt x="267" y="142989"/>
                  </a:lnTo>
                  <a:lnTo>
                    <a:pt x="51" y="135153"/>
                  </a:lnTo>
                  <a:lnTo>
                    <a:pt x="0" y="131114"/>
                  </a:lnTo>
                  <a:lnTo>
                    <a:pt x="0" y="122885"/>
                  </a:lnTo>
                  <a:lnTo>
                    <a:pt x="51" y="118846"/>
                  </a:lnTo>
                  <a:lnTo>
                    <a:pt x="267" y="111023"/>
                  </a:lnTo>
                  <a:lnTo>
                    <a:pt x="432" y="107226"/>
                  </a:lnTo>
                  <a:lnTo>
                    <a:pt x="864" y="99873"/>
                  </a:lnTo>
                  <a:lnTo>
                    <a:pt x="1448" y="92849"/>
                  </a:lnTo>
                  <a:cubicBezTo>
                    <a:pt x="7226" y="33325"/>
                    <a:pt x="31077" y="8395"/>
                    <a:pt x="89154" y="1841"/>
                  </a:cubicBezTo>
                  <a:lnTo>
                    <a:pt x="92837" y="1460"/>
                  </a:lnTo>
                  <a:lnTo>
                    <a:pt x="99860" y="876"/>
                  </a:lnTo>
                  <a:lnTo>
                    <a:pt x="109093" y="356"/>
                  </a:lnTo>
                  <a:lnTo>
                    <a:pt x="110998" y="279"/>
                  </a:lnTo>
                  <a:lnTo>
                    <a:pt x="118834" y="63"/>
                  </a:lnTo>
                  <a:cubicBezTo>
                    <a:pt x="121501" y="25"/>
                    <a:pt x="124218" y="0"/>
                    <a:pt x="126987" y="0"/>
                  </a:cubicBezTo>
                  <a:close/>
                  <a:moveTo>
                    <a:pt x="139687" y="63500"/>
                  </a:moveTo>
                  <a:lnTo>
                    <a:pt x="114287" y="63500"/>
                  </a:lnTo>
                  <a:lnTo>
                    <a:pt x="112382" y="63563"/>
                  </a:lnTo>
                  <a:cubicBezTo>
                    <a:pt x="99887" y="64502"/>
                    <a:pt x="89943" y="74414"/>
                    <a:pt x="88963" y="86906"/>
                  </a:cubicBezTo>
                  <a:lnTo>
                    <a:pt x="88887" y="88900"/>
                  </a:lnTo>
                  <a:lnTo>
                    <a:pt x="88887" y="165100"/>
                  </a:lnTo>
                  <a:lnTo>
                    <a:pt x="88951" y="167005"/>
                  </a:lnTo>
                  <a:cubicBezTo>
                    <a:pt x="89890" y="179500"/>
                    <a:pt x="99801" y="189444"/>
                    <a:pt x="112293" y="190423"/>
                  </a:cubicBezTo>
                  <a:lnTo>
                    <a:pt x="114287" y="190500"/>
                  </a:lnTo>
                  <a:lnTo>
                    <a:pt x="139687" y="190500"/>
                  </a:lnTo>
                  <a:lnTo>
                    <a:pt x="141592" y="190436"/>
                  </a:lnTo>
                  <a:cubicBezTo>
                    <a:pt x="154087" y="189497"/>
                    <a:pt x="164031" y="179586"/>
                    <a:pt x="165011" y="167093"/>
                  </a:cubicBezTo>
                  <a:lnTo>
                    <a:pt x="165087" y="165100"/>
                  </a:lnTo>
                  <a:lnTo>
                    <a:pt x="165087" y="139700"/>
                  </a:lnTo>
                  <a:lnTo>
                    <a:pt x="165023" y="137795"/>
                  </a:lnTo>
                  <a:cubicBezTo>
                    <a:pt x="164084" y="125299"/>
                    <a:pt x="154173" y="115356"/>
                    <a:pt x="141681" y="114376"/>
                  </a:cubicBezTo>
                  <a:lnTo>
                    <a:pt x="139687" y="114300"/>
                  </a:lnTo>
                  <a:lnTo>
                    <a:pt x="114287" y="114300"/>
                  </a:lnTo>
                  <a:lnTo>
                    <a:pt x="114287" y="88900"/>
                  </a:lnTo>
                  <a:lnTo>
                    <a:pt x="139687" y="88900"/>
                  </a:lnTo>
                  <a:lnTo>
                    <a:pt x="139776" y="90386"/>
                  </a:lnTo>
                  <a:cubicBezTo>
                    <a:pt x="140569" y="97058"/>
                    <a:pt x="146423" y="101958"/>
                    <a:pt x="153131" y="101564"/>
                  </a:cubicBezTo>
                  <a:cubicBezTo>
                    <a:pt x="159839" y="101170"/>
                    <a:pt x="165079" y="95619"/>
                    <a:pt x="165087" y="88900"/>
                  </a:cubicBezTo>
                  <a:cubicBezTo>
                    <a:pt x="165091" y="75608"/>
                    <a:pt x="154847" y="64560"/>
                    <a:pt x="141592" y="63563"/>
                  </a:cubicBezTo>
                  <a:lnTo>
                    <a:pt x="139687" y="63500"/>
                  </a:lnTo>
                  <a:close/>
                  <a:moveTo>
                    <a:pt x="139687" y="139700"/>
                  </a:moveTo>
                  <a:lnTo>
                    <a:pt x="139687" y="165100"/>
                  </a:lnTo>
                  <a:lnTo>
                    <a:pt x="114287" y="165100"/>
                  </a:lnTo>
                  <a:lnTo>
                    <a:pt x="114287" y="139700"/>
                  </a:lnTo>
                  <a:lnTo>
                    <a:pt x="139687" y="139700"/>
                  </a:lnTo>
                  <a:close/>
                </a:path>
              </a:pathLst>
            </a:custGeom>
            <a:solidFill>
              <a:schemeClr val="accent1"/>
            </a:solidFill>
            <a:ln>
              <a:noFill/>
            </a:ln>
          </p:spPr>
        </p:sp>
        <p:sp>
          <p:nvSpPr>
            <p:cNvPr id="33" name="TextBox 33"/>
            <p:cNvSpPr txBox="1"/>
            <p:nvPr/>
          </p:nvSpPr>
          <p:spPr>
            <a:xfrm>
              <a:off x="1057656" y="5311140"/>
              <a:ext cx="1956816"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创新点与心得体会</a:t>
              </a:r>
            </a:p>
          </p:txBody>
        </p:sp>
        <p:sp>
          <p:nvSpPr>
            <p:cNvPr id="34" name="TextBox 34"/>
            <p:cNvSpPr txBox="1"/>
            <p:nvPr/>
          </p:nvSpPr>
          <p:spPr>
            <a:xfrm>
              <a:off x="1059942" y="5626418"/>
              <a:ext cx="354695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只有一条写入路径 · 三条真实踩坑 ｜ P20</a:t>
              </a:r>
            </a:p>
          </p:txBody>
        </p:sp>
      </p:grpSp>
      <p:grpSp>
        <p:nvGrpSpPr>
          <p:cNvPr id="70" name="Group 70"/>
          <p:cNvGrpSpPr/>
          <p:nvPr/>
        </p:nvGrpSpPr>
        <p:grpSpPr>
          <a:xfrm>
            <a:off x="6248400" y="1676400"/>
            <a:ext cx="5334000" cy="4305300"/>
            <a:chOff x="6248400" y="1676400"/>
            <a:chExt cx="5334000" cy="4305300"/>
          </a:xfrm>
        </p:grpSpPr>
        <p:sp>
          <p:nvSpPr>
            <p:cNvPr id="36" name="Rectangle 36"/>
            <p:cNvSpPr/>
            <p:nvPr/>
          </p:nvSpPr>
          <p:spPr>
            <a:xfrm>
              <a:off x="6248400" y="1676400"/>
              <a:ext cx="5334000" cy="4305300"/>
            </a:xfrm>
            <a:prstGeom prst="roundRect">
              <a:avLst>
                <a:gd name="adj" fmla="val 3982"/>
              </a:avLst>
            </a:prstGeom>
            <a:solidFill>
              <a:schemeClr val="lt2"/>
            </a:solidFill>
            <a:ln>
              <a:noFill/>
            </a:ln>
          </p:spPr>
        </p:sp>
        <p:grpSp>
          <p:nvGrpSpPr>
            <p:cNvPr id="43" name="Group 43"/>
            <p:cNvGrpSpPr/>
            <p:nvPr/>
          </p:nvGrpSpPr>
          <p:grpSpPr>
            <a:xfrm>
              <a:off x="6578110" y="1978211"/>
              <a:ext cx="191783" cy="172268"/>
              <a:chOff x="6578110" y="1978211"/>
              <a:chExt cx="191783" cy="172268"/>
            </a:xfrm>
          </p:grpSpPr>
          <p:sp>
            <p:nvSpPr>
              <p:cNvPr id="37" name="Freeform 37"/>
              <p:cNvSpPr/>
              <p:nvPr/>
            </p:nvSpPr>
            <p:spPr>
              <a:xfrm>
                <a:off x="6578110" y="1978211"/>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2"/>
              </a:solidFill>
              <a:ln>
                <a:noFill/>
              </a:ln>
            </p:spPr>
          </p:sp>
          <p:sp>
            <p:nvSpPr>
              <p:cNvPr id="38" name="Freeform 38"/>
              <p:cNvSpPr/>
              <p:nvPr/>
            </p:nvSpPr>
            <p:spPr>
              <a:xfrm>
                <a:off x="6578110" y="2040123"/>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2"/>
              </a:solidFill>
              <a:ln>
                <a:noFill/>
              </a:ln>
            </p:spPr>
          </p:sp>
          <p:sp>
            <p:nvSpPr>
              <p:cNvPr id="39" name="Freeform 39"/>
              <p:cNvSpPr/>
              <p:nvPr/>
            </p:nvSpPr>
            <p:spPr>
              <a:xfrm>
                <a:off x="6578110" y="2102035"/>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2"/>
              </a:solidFill>
              <a:ln>
                <a:noFill/>
              </a:ln>
            </p:spPr>
          </p:sp>
          <p:sp>
            <p:nvSpPr>
              <p:cNvPr id="40" name="Freeform 40"/>
              <p:cNvSpPr/>
              <p:nvPr/>
            </p:nvSpPr>
            <p:spPr>
              <a:xfrm>
                <a:off x="6656387" y="1994694"/>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2"/>
              </a:solidFill>
              <a:ln>
                <a:noFill/>
              </a:ln>
            </p:spPr>
          </p:sp>
          <p:sp>
            <p:nvSpPr>
              <p:cNvPr id="41" name="Freeform 41"/>
              <p:cNvSpPr/>
              <p:nvPr/>
            </p:nvSpPr>
            <p:spPr>
              <a:xfrm>
                <a:off x="6656387" y="2056606"/>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2"/>
              </a:solidFill>
              <a:ln>
                <a:noFill/>
              </a:ln>
            </p:spPr>
          </p:sp>
          <p:sp>
            <p:nvSpPr>
              <p:cNvPr id="42" name="Freeform 42"/>
              <p:cNvSpPr/>
              <p:nvPr/>
            </p:nvSpPr>
            <p:spPr>
              <a:xfrm>
                <a:off x="6656387" y="2118518"/>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2"/>
              </a:solidFill>
              <a:ln>
                <a:noFill/>
              </a:ln>
            </p:spPr>
          </p:sp>
        </p:grpSp>
        <p:sp>
          <p:nvSpPr>
            <p:cNvPr id="44" name="TextBox 44"/>
            <p:cNvSpPr txBox="1"/>
            <p:nvPr/>
          </p:nvSpPr>
          <p:spPr>
            <a:xfrm>
              <a:off x="6903720" y="1909762"/>
              <a:ext cx="1840230"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关键数字速览</a:t>
              </a:r>
            </a:p>
          </p:txBody>
        </p:sp>
        <p:sp>
          <p:nvSpPr>
            <p:cNvPr id="45" name="Line 45"/>
            <p:cNvSpPr/>
            <p:nvPr/>
          </p:nvSpPr>
          <p:spPr>
            <a:xfrm>
              <a:off x="6553200" y="2362200"/>
              <a:ext cx="4724400" cy="9525"/>
            </a:xfrm>
            <a:custGeom>
              <a:avLst/>
              <a:gdLst/>
              <a:ahLst/>
              <a:cxnLst/>
              <a:rect l="l" t="t" r="r" b="b"/>
              <a:pathLst>
                <a:path w="4724400" h="9525">
                  <a:moveTo>
                    <a:pt x="0" y="0"/>
                  </a:moveTo>
                  <a:lnTo>
                    <a:pt x="4724400" y="0"/>
                  </a:lnTo>
                </a:path>
              </a:pathLst>
            </a:custGeom>
            <a:noFill/>
            <a:ln w="9525">
              <a:solidFill>
                <a:schemeClr val="accent6"/>
              </a:solidFill>
            </a:ln>
          </p:spPr>
        </p:sp>
        <p:grpSp>
          <p:nvGrpSpPr>
            <p:cNvPr id="48" name="Group 48"/>
            <p:cNvGrpSpPr/>
            <p:nvPr/>
          </p:nvGrpSpPr>
          <p:grpSpPr>
            <a:xfrm>
              <a:off x="6541770" y="2614612"/>
              <a:ext cx="882396" cy="627889"/>
              <a:chOff x="6541770" y="2614612"/>
              <a:chExt cx="882396" cy="627889"/>
            </a:xfrm>
          </p:grpSpPr>
          <p:sp>
            <p:nvSpPr>
              <p:cNvPr id="46" name="TextBox 46"/>
              <p:cNvSpPr txBox="1"/>
              <p:nvPr/>
            </p:nvSpPr>
            <p:spPr>
              <a:xfrm>
                <a:off x="6541770" y="2614612"/>
                <a:ext cx="771011"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47 个</a:t>
                </a:r>
              </a:p>
            </p:txBody>
          </p:sp>
          <p:sp>
            <p:nvSpPr>
              <p:cNvPr id="47" name="TextBox 47"/>
              <p:cNvSpPr txBox="1"/>
              <p:nvPr/>
            </p:nvSpPr>
            <p:spPr>
              <a:xfrm>
                <a:off x="6546342" y="2978468"/>
                <a:ext cx="87782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REST 端点</a:t>
                </a:r>
              </a:p>
            </p:txBody>
          </p:sp>
        </p:grpSp>
        <p:grpSp>
          <p:nvGrpSpPr>
            <p:cNvPr id="51" name="Group 51"/>
            <p:cNvGrpSpPr/>
            <p:nvPr/>
          </p:nvGrpSpPr>
          <p:grpSpPr>
            <a:xfrm>
              <a:off x="9056370" y="2614612"/>
              <a:ext cx="926973" cy="627889"/>
              <a:chOff x="9056370" y="2614612"/>
              <a:chExt cx="926973" cy="627889"/>
            </a:xfrm>
          </p:grpSpPr>
          <p:sp>
            <p:nvSpPr>
              <p:cNvPr id="49" name="TextBox 49"/>
              <p:cNvSpPr txBox="1"/>
              <p:nvPr/>
            </p:nvSpPr>
            <p:spPr>
              <a:xfrm>
                <a:off x="9056370" y="2614612"/>
                <a:ext cx="771011"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11 张</a:t>
                </a:r>
              </a:p>
            </p:txBody>
          </p:sp>
          <p:sp>
            <p:nvSpPr>
              <p:cNvPr id="50" name="TextBox 50"/>
              <p:cNvSpPr txBox="1"/>
              <p:nvPr/>
            </p:nvSpPr>
            <p:spPr>
              <a:xfrm>
                <a:off x="9060942" y="2978468"/>
                <a:ext cx="92240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业务数据表</a:t>
                </a:r>
              </a:p>
            </p:txBody>
          </p:sp>
        </p:grpSp>
        <p:grpSp>
          <p:nvGrpSpPr>
            <p:cNvPr id="54" name="Group 54"/>
            <p:cNvGrpSpPr/>
            <p:nvPr/>
          </p:nvGrpSpPr>
          <p:grpSpPr>
            <a:xfrm>
              <a:off x="6541770" y="3452812"/>
              <a:ext cx="745236" cy="627889"/>
              <a:chOff x="6541770" y="3452812"/>
              <a:chExt cx="745236" cy="627889"/>
            </a:xfrm>
          </p:grpSpPr>
          <p:sp>
            <p:nvSpPr>
              <p:cNvPr id="52" name="TextBox 52"/>
              <p:cNvSpPr txBox="1"/>
              <p:nvPr/>
            </p:nvSpPr>
            <p:spPr>
              <a:xfrm>
                <a:off x="6541770" y="3452812"/>
                <a:ext cx="596089"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5 种</a:t>
                </a:r>
              </a:p>
            </p:txBody>
          </p:sp>
          <p:sp>
            <p:nvSpPr>
              <p:cNvPr id="53" name="TextBox 53"/>
              <p:cNvSpPr txBox="1"/>
              <p:nvPr/>
            </p:nvSpPr>
            <p:spPr>
              <a:xfrm>
                <a:off x="6546342" y="381666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支持题型</a:t>
                </a:r>
              </a:p>
            </p:txBody>
          </p:sp>
        </p:grpSp>
        <p:grpSp>
          <p:nvGrpSpPr>
            <p:cNvPr id="57" name="Group 57"/>
            <p:cNvGrpSpPr/>
            <p:nvPr/>
          </p:nvGrpSpPr>
          <p:grpSpPr>
            <a:xfrm>
              <a:off x="9056370" y="3452812"/>
              <a:ext cx="1584912" cy="627889"/>
              <a:chOff x="9056370" y="3452812"/>
              <a:chExt cx="1584912" cy="627889"/>
            </a:xfrm>
          </p:grpSpPr>
          <p:sp>
            <p:nvSpPr>
              <p:cNvPr id="55" name="TextBox 55"/>
              <p:cNvSpPr txBox="1"/>
              <p:nvPr/>
            </p:nvSpPr>
            <p:spPr>
              <a:xfrm>
                <a:off x="9056370" y="3452812"/>
                <a:ext cx="771011"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60 个</a:t>
                </a:r>
              </a:p>
            </p:txBody>
          </p:sp>
          <p:sp>
            <p:nvSpPr>
              <p:cNvPr id="56" name="TextBox 56"/>
              <p:cNvSpPr txBox="1"/>
              <p:nvPr/>
            </p:nvSpPr>
            <p:spPr>
              <a:xfrm>
                <a:off x="9060942" y="3816668"/>
                <a:ext cx="158034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Java 文件 / 9 模块</a:t>
                </a:r>
              </a:p>
            </p:txBody>
          </p:sp>
        </p:grpSp>
        <p:grpSp>
          <p:nvGrpSpPr>
            <p:cNvPr id="60" name="Group 60"/>
            <p:cNvGrpSpPr/>
            <p:nvPr/>
          </p:nvGrpSpPr>
          <p:grpSpPr>
            <a:xfrm>
              <a:off x="6541770" y="4291012"/>
              <a:ext cx="1862919" cy="627889"/>
              <a:chOff x="6541770" y="4291012"/>
              <a:chExt cx="1862919" cy="627889"/>
            </a:xfrm>
          </p:grpSpPr>
          <p:sp>
            <p:nvSpPr>
              <p:cNvPr id="58" name="TextBox 58"/>
              <p:cNvSpPr txBox="1"/>
              <p:nvPr/>
            </p:nvSpPr>
            <p:spPr>
              <a:xfrm>
                <a:off x="6541770" y="4291012"/>
                <a:ext cx="1088293"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55 + 55</a:t>
                </a:r>
              </a:p>
            </p:txBody>
          </p:sp>
          <p:sp>
            <p:nvSpPr>
              <p:cNvPr id="59" name="TextBox 59"/>
              <p:cNvSpPr txBox="1"/>
              <p:nvPr/>
            </p:nvSpPr>
            <p:spPr>
              <a:xfrm>
                <a:off x="6546342" y="4654868"/>
                <a:ext cx="185834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后端 / 前端自动化测试</a:t>
                </a:r>
              </a:p>
            </p:txBody>
          </p:sp>
        </p:grpSp>
        <p:grpSp>
          <p:nvGrpSpPr>
            <p:cNvPr id="63" name="Group 63"/>
            <p:cNvGrpSpPr/>
            <p:nvPr/>
          </p:nvGrpSpPr>
          <p:grpSpPr>
            <a:xfrm>
              <a:off x="9056370" y="4291012"/>
              <a:ext cx="1653921" cy="627889"/>
              <a:chOff x="9056370" y="4291012"/>
              <a:chExt cx="1653921" cy="627889"/>
            </a:xfrm>
          </p:grpSpPr>
          <p:sp>
            <p:nvSpPr>
              <p:cNvPr id="61" name="TextBox 61"/>
              <p:cNvSpPr txBox="1"/>
              <p:nvPr/>
            </p:nvSpPr>
            <p:spPr>
              <a:xfrm>
                <a:off x="9056370" y="4291012"/>
                <a:ext cx="596089"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9 项</a:t>
                </a:r>
              </a:p>
            </p:txBody>
          </p:sp>
          <p:sp>
            <p:nvSpPr>
              <p:cNvPr id="62" name="TextBox 62"/>
              <p:cNvSpPr txBox="1"/>
              <p:nvPr/>
            </p:nvSpPr>
            <p:spPr>
              <a:xfrm>
                <a:off x="9060942" y="4654868"/>
                <a:ext cx="164934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核心验收用例全通过</a:t>
                </a:r>
              </a:p>
            </p:txBody>
          </p:sp>
        </p:grpSp>
        <p:grpSp>
          <p:nvGrpSpPr>
            <p:cNvPr id="66" name="Group 66"/>
            <p:cNvGrpSpPr/>
            <p:nvPr/>
          </p:nvGrpSpPr>
          <p:grpSpPr>
            <a:xfrm>
              <a:off x="6541770" y="5129212"/>
              <a:ext cx="1108710" cy="627889"/>
              <a:chOff x="6541770" y="5129212"/>
              <a:chExt cx="1108710" cy="627889"/>
            </a:xfrm>
          </p:grpSpPr>
          <p:sp>
            <p:nvSpPr>
              <p:cNvPr id="64" name="TextBox 64"/>
              <p:cNvSpPr txBox="1"/>
              <p:nvPr/>
            </p:nvSpPr>
            <p:spPr>
              <a:xfrm>
                <a:off x="6541770" y="5129212"/>
                <a:ext cx="771011" cy="440055"/>
              </a:xfrm>
              <a:prstGeom prst="rect">
                <a:avLst/>
              </a:prstGeom>
              <a:noFill/>
              <a:ln>
                <a:noFill/>
              </a:ln>
            </p:spPr>
            <p:txBody>
              <a:bodyPr wrap="none" lIns="0" tIns="0" rIns="0" bIns="0" anchor="t" anchorCtr="0">
                <a:spAutoFit/>
              </a:bodyPr>
              <a:lstStyle/>
              <a:p>
                <a:pPr algn="l"/>
                <a:r>
                  <a:rPr lang="zh-CN" sz="2250" b="1" dirty="0">
                    <a:solidFill>
                      <a:schemeClr val="accent1"/>
                    </a:solidFill>
                    <a:latin typeface="+mn-lt"/>
                    <a:ea typeface="+mn-ea"/>
                    <a:cs typeface="+mn-cs"/>
                  </a:rPr>
                  <a:t>39 张</a:t>
                </a:r>
              </a:p>
            </p:txBody>
          </p:sp>
          <p:sp>
            <p:nvSpPr>
              <p:cNvPr id="65" name="TextBox 65"/>
              <p:cNvSpPr txBox="1"/>
              <p:nvPr/>
            </p:nvSpPr>
            <p:spPr>
              <a:xfrm>
                <a:off x="6546342" y="5493068"/>
                <a:ext cx="110413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真实走查截图</a:t>
                </a:r>
              </a:p>
            </p:txBody>
          </p:sp>
        </p:grpSp>
        <p:grpSp>
          <p:nvGrpSpPr>
            <p:cNvPr id="69" name="Group 69"/>
            <p:cNvGrpSpPr/>
            <p:nvPr/>
          </p:nvGrpSpPr>
          <p:grpSpPr>
            <a:xfrm>
              <a:off x="9056370" y="5129212"/>
              <a:ext cx="1644834" cy="627889"/>
              <a:chOff x="9056370" y="5129212"/>
              <a:chExt cx="1644834" cy="627889"/>
            </a:xfrm>
          </p:grpSpPr>
          <p:sp>
            <p:nvSpPr>
              <p:cNvPr id="67" name="TextBox 67"/>
              <p:cNvSpPr txBox="1"/>
              <p:nvPr/>
            </p:nvSpPr>
            <p:spPr>
              <a:xfrm>
                <a:off x="9056370" y="5129212"/>
                <a:ext cx="961077"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37.8%</a:t>
                </a:r>
              </a:p>
            </p:txBody>
          </p:sp>
          <p:sp>
            <p:nvSpPr>
              <p:cNvPr id="68" name="TextBox 68"/>
              <p:cNvSpPr txBox="1"/>
              <p:nvPr/>
            </p:nvSpPr>
            <p:spPr>
              <a:xfrm>
                <a:off x="9060942" y="5493068"/>
                <a:ext cx="164026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注释比例，要求 1/3</a:t>
                </a:r>
              </a:p>
            </p:txBody>
          </p:sp>
        </p:grpSp>
      </p:grpSp>
      <p:grpSp>
        <p:nvGrpSpPr>
          <p:cNvPr id="74" name="Group 74"/>
          <p:cNvGrpSpPr/>
          <p:nvPr/>
        </p:nvGrpSpPr>
        <p:grpSpPr>
          <a:xfrm>
            <a:off x="603885" y="6172200"/>
            <a:ext cx="10984230" cy="308134"/>
            <a:chOff x="603885" y="6172200"/>
            <a:chExt cx="10984230" cy="308134"/>
          </a:xfrm>
        </p:grpSpPr>
        <p:sp>
          <p:nvSpPr>
            <p:cNvPr id="71" name="Line 71"/>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72" name="TextBox 72"/>
            <p:cNvSpPr txBox="1"/>
            <p:nvPr/>
          </p:nvSpPr>
          <p:spPr>
            <a:xfrm>
              <a:off x="603885" y="6260306"/>
              <a:ext cx="5575005"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数字来源：docs/report-outline.md 第 2 节 · docs/project-report.md 第 6 节</a:t>
              </a:r>
            </a:p>
          </p:txBody>
        </p:sp>
        <p:sp>
          <p:nvSpPr>
            <p:cNvPr id="73" name="TextBox 73"/>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02 / 21</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6"/>
            </a:solidFill>
            <a:ln>
              <a:noFill/>
            </a:ln>
          </p:spPr>
        </p:sp>
        <p:sp>
          <p:nvSpPr>
            <p:cNvPr id="3" name="Rectangle 3"/>
            <p:cNvSpPr/>
            <p:nvPr/>
          </p:nvSpPr>
          <p:spPr>
            <a:xfrm>
              <a:off x="914400" y="342900"/>
              <a:ext cx="247650" cy="76200"/>
            </a:xfrm>
            <a:prstGeom prst="roundRect">
              <a:avLst>
                <a:gd name="adj" fmla="val 50000"/>
              </a:avLst>
            </a:prstGeom>
            <a:solidFill>
              <a:schemeClr val="accent6"/>
            </a:solidFill>
            <a:ln>
              <a:noFill/>
            </a:ln>
          </p:spPr>
        </p:sp>
        <p:sp>
          <p:nvSpPr>
            <p:cNvPr id="4" name="Rectangle 4"/>
            <p:cNvSpPr/>
            <p:nvPr/>
          </p:nvSpPr>
          <p:spPr>
            <a:xfrm>
              <a:off x="1219200" y="342900"/>
              <a:ext cx="247650" cy="76200"/>
            </a:xfrm>
            <a:prstGeom prst="roundRect">
              <a:avLst>
                <a:gd name="adj" fmla="val 50000"/>
              </a:avLst>
            </a:prstGeom>
            <a:solidFill>
              <a:schemeClr val="accent6"/>
            </a:solidFill>
            <a:ln>
              <a:noFill/>
            </a:ln>
          </p:spPr>
        </p:sp>
        <p:sp>
          <p:nvSpPr>
            <p:cNvPr id="5" name="Rectangle 5"/>
            <p:cNvSpPr/>
            <p:nvPr/>
          </p:nvSpPr>
          <p:spPr>
            <a:xfrm>
              <a:off x="1524000" y="342900"/>
              <a:ext cx="247650" cy="76200"/>
            </a:xfrm>
            <a:prstGeom prst="roundRect">
              <a:avLst>
                <a:gd name="adj" fmla="val 50000"/>
              </a:avLst>
            </a:prstGeom>
            <a:solidFill>
              <a:schemeClr val="accent6"/>
            </a:solidFill>
            <a:ln>
              <a:noFill/>
            </a:ln>
          </p:spPr>
        </p:sp>
        <p:sp>
          <p:nvSpPr>
            <p:cNvPr id="6" name="Rectangle 6"/>
            <p:cNvSpPr/>
            <p:nvPr/>
          </p:nvSpPr>
          <p:spPr>
            <a:xfrm>
              <a:off x="1828800" y="342900"/>
              <a:ext cx="247650" cy="76200"/>
            </a:xfrm>
            <a:prstGeom prst="roundRect">
              <a:avLst>
                <a:gd name="adj" fmla="val 50000"/>
              </a:avLst>
            </a:prstGeom>
            <a:solidFill>
              <a:schemeClr val="accent6"/>
            </a:solidFill>
            <a:ln>
              <a:noFill/>
            </a:ln>
          </p:spPr>
        </p:sp>
        <p:sp>
          <p:nvSpPr>
            <p:cNvPr id="7" name="Rectangle 7"/>
            <p:cNvSpPr/>
            <p:nvPr/>
          </p:nvSpPr>
          <p:spPr>
            <a:xfrm>
              <a:off x="2133600" y="342900"/>
              <a:ext cx="247650" cy="76200"/>
            </a:xfrm>
            <a:prstGeom prst="roundRect">
              <a:avLst>
                <a:gd name="adj" fmla="val 50000"/>
              </a:avLst>
            </a:prstGeom>
            <a:solidFill>
              <a:schemeClr val="accent6"/>
            </a:solidFill>
            <a:ln>
              <a:noFill/>
            </a:ln>
          </p:spPr>
        </p:sp>
        <p:sp>
          <p:nvSpPr>
            <p:cNvPr id="8" name="TextBox 8"/>
            <p:cNvSpPr txBox="1"/>
            <p:nvPr/>
          </p:nvSpPr>
          <p:spPr>
            <a:xfrm>
              <a:off x="2507742" y="311468"/>
              <a:ext cx="113139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一 · 项目背景</a:t>
              </a:r>
            </a:p>
          </p:txBody>
        </p:sp>
        <p:sp>
          <p:nvSpPr>
            <p:cNvPr id="9" name="TextBox 9"/>
            <p:cNvSpPr txBox="1"/>
            <p:nvPr/>
          </p:nvSpPr>
          <p:spPr>
            <a:xfrm>
              <a:off x="593598" y="726758"/>
              <a:ext cx="554469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项目背景：要解决的是哪一段</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3" name="Group 13"/>
          <p:cNvGrpSpPr/>
          <p:nvPr/>
        </p:nvGrpSpPr>
        <p:grpSpPr>
          <a:xfrm>
            <a:off x="598170" y="1776412"/>
            <a:ext cx="9109710" cy="440055"/>
            <a:chOff x="598170" y="1776412"/>
            <a:chExt cx="9109710" cy="440055"/>
          </a:xfrm>
        </p:grpSpPr>
        <p:sp>
          <p:nvSpPr>
            <p:cNvPr id="12" name="TextBox 12"/>
            <p:cNvSpPr txBox="1"/>
            <p:nvPr/>
          </p:nvSpPr>
          <p:spPr>
            <a:xfrm>
              <a:off x="598170" y="1776412"/>
              <a:ext cx="9109710"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成本几乎全部落在教师身上；学生除了一个总分之外拿不到任何反馈</a:t>
              </a:r>
            </a:p>
          </p:txBody>
        </p:sp>
      </p:grpSp>
      <p:grpSp>
        <p:nvGrpSpPr>
          <p:cNvPr id="34" name="Group 34"/>
          <p:cNvGrpSpPr/>
          <p:nvPr/>
        </p:nvGrpSpPr>
        <p:grpSpPr>
          <a:xfrm>
            <a:off x="609600" y="2743200"/>
            <a:ext cx="10668000" cy="975551"/>
            <a:chOff x="609600" y="2743200"/>
            <a:chExt cx="10668000" cy="975551"/>
          </a:xfrm>
        </p:grpSpPr>
        <p:sp>
          <p:nvSpPr>
            <p:cNvPr id="14" name="Rectangle 14"/>
            <p:cNvSpPr/>
            <p:nvPr/>
          </p:nvSpPr>
          <p:spPr>
            <a:xfrm>
              <a:off x="609600" y="2743200"/>
              <a:ext cx="1676400" cy="419100"/>
            </a:xfrm>
            <a:prstGeom prst="roundRect">
              <a:avLst>
                <a:gd name="adj" fmla="val 40909"/>
              </a:avLst>
            </a:prstGeom>
            <a:solidFill>
              <a:schemeClr val="lt2"/>
            </a:solidFill>
            <a:ln>
              <a:noFill/>
            </a:ln>
          </p:spPr>
        </p:sp>
        <p:sp>
          <p:nvSpPr>
            <p:cNvPr id="15" name="TextBox 15"/>
            <p:cNvSpPr txBox="1"/>
            <p:nvPr/>
          </p:nvSpPr>
          <p:spPr>
            <a:xfrm>
              <a:off x="861155" y="2834640"/>
              <a:ext cx="1173290"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Word 出卷</a:t>
              </a:r>
            </a:p>
          </p:txBody>
        </p:sp>
        <p:sp>
          <p:nvSpPr>
            <p:cNvPr id="16" name="Freeform 16"/>
            <p:cNvSpPr/>
            <p:nvPr/>
          </p:nvSpPr>
          <p:spPr>
            <a:xfrm>
              <a:off x="2343150" y="2857500"/>
              <a:ext cx="247650" cy="190500"/>
            </a:xfrm>
            <a:prstGeom prst="rightArrow">
              <a:avLst/>
            </a:prstGeom>
            <a:solidFill>
              <a:schemeClr val="accent6"/>
            </a:solidFill>
            <a:ln>
              <a:noFill/>
            </a:ln>
          </p:spPr>
        </p:sp>
        <p:sp>
          <p:nvSpPr>
            <p:cNvPr id="17" name="Rectangle 17"/>
            <p:cNvSpPr/>
            <p:nvPr/>
          </p:nvSpPr>
          <p:spPr>
            <a:xfrm>
              <a:off x="2857500" y="2743200"/>
              <a:ext cx="1676400" cy="419100"/>
            </a:xfrm>
            <a:prstGeom prst="roundRect">
              <a:avLst>
                <a:gd name="adj" fmla="val 40909"/>
              </a:avLst>
            </a:prstGeom>
            <a:solidFill>
              <a:schemeClr val="lt2"/>
            </a:solidFill>
            <a:ln>
              <a:noFill/>
            </a:ln>
          </p:spPr>
        </p:sp>
        <p:sp>
          <p:nvSpPr>
            <p:cNvPr id="18" name="TextBox 18"/>
            <p:cNvSpPr txBox="1"/>
            <p:nvPr/>
          </p:nvSpPr>
          <p:spPr>
            <a:xfrm>
              <a:off x="3444240" y="2834640"/>
              <a:ext cx="502920"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打印</a:t>
              </a:r>
            </a:p>
          </p:txBody>
        </p:sp>
        <p:sp>
          <p:nvSpPr>
            <p:cNvPr id="19" name="Freeform 19"/>
            <p:cNvSpPr/>
            <p:nvPr/>
          </p:nvSpPr>
          <p:spPr>
            <a:xfrm>
              <a:off x="4591050" y="2857500"/>
              <a:ext cx="247650" cy="190500"/>
            </a:xfrm>
            <a:prstGeom prst="rightArrow">
              <a:avLst/>
            </a:prstGeom>
            <a:solidFill>
              <a:schemeClr val="accent6"/>
            </a:solidFill>
            <a:ln>
              <a:noFill/>
            </a:ln>
          </p:spPr>
        </p:sp>
        <p:sp>
          <p:nvSpPr>
            <p:cNvPr id="20" name="Rectangle 20"/>
            <p:cNvSpPr/>
            <p:nvPr/>
          </p:nvSpPr>
          <p:spPr>
            <a:xfrm>
              <a:off x="5105400" y="2743200"/>
              <a:ext cx="1676400" cy="419100"/>
            </a:xfrm>
            <a:prstGeom prst="roundRect">
              <a:avLst>
                <a:gd name="adj" fmla="val 40909"/>
              </a:avLst>
            </a:prstGeom>
            <a:solidFill>
              <a:schemeClr val="lt2"/>
            </a:solidFill>
            <a:ln>
              <a:noFill/>
            </a:ln>
          </p:spPr>
        </p:sp>
        <p:sp>
          <p:nvSpPr>
            <p:cNvPr id="21" name="TextBox 21"/>
            <p:cNvSpPr txBox="1"/>
            <p:nvPr/>
          </p:nvSpPr>
          <p:spPr>
            <a:xfrm>
              <a:off x="5449824" y="2834640"/>
              <a:ext cx="987552"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纸质作答</a:t>
              </a:r>
            </a:p>
          </p:txBody>
        </p:sp>
        <p:sp>
          <p:nvSpPr>
            <p:cNvPr id="22" name="Freeform 22"/>
            <p:cNvSpPr/>
            <p:nvPr/>
          </p:nvSpPr>
          <p:spPr>
            <a:xfrm>
              <a:off x="6838950" y="2857500"/>
              <a:ext cx="247650" cy="190500"/>
            </a:xfrm>
            <a:prstGeom prst="rightArrow">
              <a:avLst/>
            </a:prstGeom>
            <a:solidFill>
              <a:schemeClr val="accent6"/>
            </a:solidFill>
            <a:ln>
              <a:noFill/>
            </a:ln>
          </p:spPr>
        </p:sp>
        <p:sp>
          <p:nvSpPr>
            <p:cNvPr id="23" name="Rectangle 23"/>
            <p:cNvSpPr/>
            <p:nvPr/>
          </p:nvSpPr>
          <p:spPr>
            <a:xfrm>
              <a:off x="7353300" y="2743200"/>
              <a:ext cx="1676400" cy="419100"/>
            </a:xfrm>
            <a:prstGeom prst="roundRect">
              <a:avLst>
                <a:gd name="adj" fmla="val 40909"/>
              </a:avLst>
            </a:prstGeom>
            <a:solidFill>
              <a:schemeClr val="lt2"/>
            </a:solidFill>
            <a:ln>
              <a:noFill/>
            </a:ln>
          </p:spPr>
        </p:sp>
        <p:sp>
          <p:nvSpPr>
            <p:cNvPr id="24" name="TextBox 24"/>
            <p:cNvSpPr txBox="1"/>
            <p:nvPr/>
          </p:nvSpPr>
          <p:spPr>
            <a:xfrm>
              <a:off x="7697724" y="2834640"/>
              <a:ext cx="987552"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人工批改</a:t>
              </a:r>
            </a:p>
          </p:txBody>
        </p:sp>
        <p:sp>
          <p:nvSpPr>
            <p:cNvPr id="25" name="Freeform 25"/>
            <p:cNvSpPr/>
            <p:nvPr/>
          </p:nvSpPr>
          <p:spPr>
            <a:xfrm>
              <a:off x="9086850" y="2857500"/>
              <a:ext cx="247650" cy="190500"/>
            </a:xfrm>
            <a:prstGeom prst="rightArrow">
              <a:avLst/>
            </a:prstGeom>
            <a:solidFill>
              <a:schemeClr val="accent6"/>
            </a:solidFill>
            <a:ln>
              <a:noFill/>
            </a:ln>
          </p:spPr>
        </p:sp>
        <p:sp>
          <p:nvSpPr>
            <p:cNvPr id="26" name="Rectangle 26"/>
            <p:cNvSpPr/>
            <p:nvPr/>
          </p:nvSpPr>
          <p:spPr>
            <a:xfrm>
              <a:off x="9601200" y="2743200"/>
              <a:ext cx="1676400" cy="419100"/>
            </a:xfrm>
            <a:prstGeom prst="roundRect">
              <a:avLst>
                <a:gd name="adj" fmla="val 40909"/>
              </a:avLst>
            </a:prstGeom>
            <a:solidFill>
              <a:schemeClr val="lt2"/>
            </a:solidFill>
            <a:ln>
              <a:noFill/>
            </a:ln>
          </p:spPr>
        </p:sp>
        <p:sp>
          <p:nvSpPr>
            <p:cNvPr id="27" name="TextBox 27"/>
            <p:cNvSpPr txBox="1"/>
            <p:nvPr/>
          </p:nvSpPr>
          <p:spPr>
            <a:xfrm>
              <a:off x="9945624" y="2834640"/>
              <a:ext cx="987552"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手工登分</a:t>
              </a:r>
            </a:p>
          </p:txBody>
        </p:sp>
        <p:sp>
          <p:nvSpPr>
            <p:cNvPr id="28" name="Ellipse 28"/>
            <p:cNvSpPr/>
            <p:nvPr/>
          </p:nvSpPr>
          <p:spPr>
            <a:xfrm>
              <a:off x="1400175" y="3286125"/>
              <a:ext cx="95250" cy="95250"/>
            </a:xfrm>
            <a:prstGeom prst="ellipse">
              <a:avLst/>
            </a:prstGeom>
            <a:solidFill>
              <a:schemeClr val="accent2"/>
            </a:solidFill>
            <a:ln>
              <a:noFill/>
            </a:ln>
          </p:spPr>
        </p:sp>
        <p:sp>
          <p:nvSpPr>
            <p:cNvPr id="29" name="TextBox 29"/>
            <p:cNvSpPr txBox="1"/>
            <p:nvPr/>
          </p:nvSpPr>
          <p:spPr>
            <a:xfrm>
              <a:off x="1077468" y="3454718"/>
              <a:ext cx="740664" cy="264033"/>
            </a:xfrm>
            <a:prstGeom prst="rect">
              <a:avLst/>
            </a:prstGeom>
            <a:noFill/>
            <a:ln>
              <a:noFill/>
            </a:ln>
          </p:spPr>
          <p:txBody>
            <a:bodyPr wrap="none" lIns="0" tIns="0" rIns="0" bIns="0" anchor="t" anchorCtr="0">
              <a:spAutoFit/>
            </a:bodyPr>
            <a:lstStyle/>
            <a:p>
              <a:pPr algn="ctr"/>
              <a:r>
                <a:rPr lang="zh-CN" sz="1350" dirty="0">
                  <a:solidFill>
                    <a:schemeClr val="accent2"/>
                  </a:solidFill>
                  <a:latin typeface="+mn-lt"/>
                  <a:ea typeface="+mn-ea"/>
                  <a:cs typeface="+mn-cs"/>
                </a:rPr>
                <a:t>反复重打</a:t>
              </a:r>
            </a:p>
          </p:txBody>
        </p:sp>
        <p:sp>
          <p:nvSpPr>
            <p:cNvPr id="30" name="Ellipse 30"/>
            <p:cNvSpPr/>
            <p:nvPr/>
          </p:nvSpPr>
          <p:spPr>
            <a:xfrm>
              <a:off x="8143875" y="3286125"/>
              <a:ext cx="95250" cy="95250"/>
            </a:xfrm>
            <a:prstGeom prst="ellipse">
              <a:avLst/>
            </a:prstGeom>
            <a:solidFill>
              <a:schemeClr val="accent2"/>
            </a:solidFill>
            <a:ln>
              <a:noFill/>
            </a:ln>
          </p:spPr>
        </p:sp>
        <p:sp>
          <p:nvSpPr>
            <p:cNvPr id="31" name="TextBox 31"/>
            <p:cNvSpPr txBox="1"/>
            <p:nvPr/>
          </p:nvSpPr>
          <p:spPr>
            <a:xfrm>
              <a:off x="7730299" y="3454718"/>
              <a:ext cx="922401" cy="264033"/>
            </a:xfrm>
            <a:prstGeom prst="rect">
              <a:avLst/>
            </a:prstGeom>
            <a:noFill/>
            <a:ln>
              <a:noFill/>
            </a:ln>
          </p:spPr>
          <p:txBody>
            <a:bodyPr wrap="none" lIns="0" tIns="0" rIns="0" bIns="0" anchor="t" anchorCtr="0">
              <a:spAutoFit/>
            </a:bodyPr>
            <a:lstStyle/>
            <a:p>
              <a:pPr algn="ctr"/>
              <a:r>
                <a:rPr lang="zh-CN" sz="1350" dirty="0">
                  <a:solidFill>
                    <a:schemeClr val="accent2"/>
                  </a:solidFill>
                  <a:latin typeface="+mn-lt"/>
                  <a:ea typeface="+mn-ea"/>
                  <a:cs typeface="+mn-cs"/>
                </a:rPr>
                <a:t>纯机械劳动</a:t>
              </a:r>
            </a:p>
          </p:txBody>
        </p:sp>
        <p:sp>
          <p:nvSpPr>
            <p:cNvPr id="32" name="Ellipse 32"/>
            <p:cNvSpPr/>
            <p:nvPr/>
          </p:nvSpPr>
          <p:spPr>
            <a:xfrm>
              <a:off x="10391775" y="3286125"/>
              <a:ext cx="95250" cy="95250"/>
            </a:xfrm>
            <a:prstGeom prst="ellipse">
              <a:avLst/>
            </a:prstGeom>
            <a:solidFill>
              <a:schemeClr val="accent2"/>
            </a:solidFill>
            <a:ln>
              <a:noFill/>
            </a:ln>
          </p:spPr>
        </p:sp>
        <p:sp>
          <p:nvSpPr>
            <p:cNvPr id="33" name="TextBox 33"/>
            <p:cNvSpPr txBox="1"/>
            <p:nvPr/>
          </p:nvSpPr>
          <p:spPr>
            <a:xfrm>
              <a:off x="9978200" y="3454718"/>
              <a:ext cx="922401" cy="264033"/>
            </a:xfrm>
            <a:prstGeom prst="rect">
              <a:avLst/>
            </a:prstGeom>
            <a:noFill/>
            <a:ln>
              <a:noFill/>
            </a:ln>
          </p:spPr>
          <p:txBody>
            <a:bodyPr wrap="none" lIns="0" tIns="0" rIns="0" bIns="0" anchor="t" anchorCtr="0">
              <a:spAutoFit/>
            </a:bodyPr>
            <a:lstStyle/>
            <a:p>
              <a:pPr algn="ctr"/>
              <a:r>
                <a:rPr lang="zh-CN" sz="1350" dirty="0">
                  <a:solidFill>
                    <a:schemeClr val="accent2"/>
                  </a:solidFill>
                  <a:latin typeface="+mn-lt"/>
                  <a:ea typeface="+mn-ea"/>
                  <a:cs typeface="+mn-cs"/>
                </a:rPr>
                <a:t>再汇总一遍</a:t>
              </a:r>
            </a:p>
          </p:txBody>
        </p:sp>
      </p:grpSp>
      <p:grpSp>
        <p:nvGrpSpPr>
          <p:cNvPr id="42" name="Group 42"/>
          <p:cNvGrpSpPr/>
          <p:nvPr/>
        </p:nvGrpSpPr>
        <p:grpSpPr>
          <a:xfrm>
            <a:off x="609600" y="4076700"/>
            <a:ext cx="3448050" cy="1676400"/>
            <a:chOff x="609600" y="4076700"/>
            <a:chExt cx="3448050" cy="1676400"/>
          </a:xfrm>
        </p:grpSpPr>
        <p:sp>
          <p:nvSpPr>
            <p:cNvPr id="35" name="Rectangle 35"/>
            <p:cNvSpPr/>
            <p:nvPr/>
          </p:nvSpPr>
          <p:spPr>
            <a:xfrm>
              <a:off x="609600" y="4076700"/>
              <a:ext cx="3448050" cy="1676400"/>
            </a:xfrm>
            <a:prstGeom prst="roundRect">
              <a:avLst>
                <a:gd name="adj" fmla="val 10227"/>
              </a:avLst>
            </a:prstGeom>
            <a:solidFill>
              <a:schemeClr val="lt2"/>
            </a:solidFill>
            <a:ln>
              <a:noFill/>
            </a:ln>
          </p:spPr>
        </p:sp>
        <p:grpSp>
          <p:nvGrpSpPr>
            <p:cNvPr id="39" name="Group 39"/>
            <p:cNvGrpSpPr/>
            <p:nvPr/>
          </p:nvGrpSpPr>
          <p:grpSpPr>
            <a:xfrm>
              <a:off x="909637" y="4346575"/>
              <a:ext cx="200027" cy="222250"/>
              <a:chOff x="909637" y="4346575"/>
              <a:chExt cx="200027" cy="222250"/>
            </a:xfrm>
          </p:grpSpPr>
          <p:sp>
            <p:nvSpPr>
              <p:cNvPr id="36" name="Freeform 36"/>
              <p:cNvSpPr/>
              <p:nvPr/>
            </p:nvSpPr>
            <p:spPr>
              <a:xfrm>
                <a:off x="909638" y="4499161"/>
                <a:ext cx="200026" cy="69664"/>
              </a:xfrm>
              <a:custGeom>
                <a:avLst/>
                <a:gdLst/>
                <a:ahLst/>
                <a:cxnLst/>
                <a:rect l="l" t="t" r="r" b="b"/>
                <a:pathLst>
                  <a:path w="200026" h="69664">
                    <a:moveTo>
                      <a:pt x="0" y="0"/>
                    </a:moveTo>
                    <a:cubicBezTo>
                      <a:pt x="21869" y="16747"/>
                      <a:pt x="58163" y="25214"/>
                      <a:pt x="100013" y="25214"/>
                    </a:cubicBezTo>
                    <a:cubicBezTo>
                      <a:pt x="141796" y="25214"/>
                      <a:pt x="178078" y="16769"/>
                      <a:pt x="200026" y="189"/>
                    </a:cubicBezTo>
                    <a:lnTo>
                      <a:pt x="200026" y="25214"/>
                    </a:lnTo>
                    <a:cubicBezTo>
                      <a:pt x="200026" y="52162"/>
                      <a:pt x="156742" y="68953"/>
                      <a:pt x="103424" y="69642"/>
                    </a:cubicBezTo>
                    <a:lnTo>
                      <a:pt x="100013" y="69664"/>
                    </a:lnTo>
                    <a:cubicBezTo>
                      <a:pt x="45139" y="69664"/>
                      <a:pt x="0" y="52740"/>
                      <a:pt x="0" y="25214"/>
                    </a:cubicBezTo>
                    <a:close/>
                  </a:path>
                </a:pathLst>
              </a:custGeom>
              <a:solidFill>
                <a:schemeClr val="accent1"/>
              </a:solidFill>
              <a:ln>
                <a:noFill/>
              </a:ln>
            </p:spPr>
          </p:sp>
          <p:sp>
            <p:nvSpPr>
              <p:cNvPr id="37" name="Freeform 37"/>
              <p:cNvSpPr/>
              <p:nvPr/>
            </p:nvSpPr>
            <p:spPr>
              <a:xfrm>
                <a:off x="909638" y="4432486"/>
                <a:ext cx="200026" cy="69664"/>
              </a:xfrm>
              <a:custGeom>
                <a:avLst/>
                <a:gdLst/>
                <a:ahLst/>
                <a:cxnLst/>
                <a:rect l="l" t="t" r="r" b="b"/>
                <a:pathLst>
                  <a:path w="200026" h="69664">
                    <a:moveTo>
                      <a:pt x="0" y="0"/>
                    </a:moveTo>
                    <a:cubicBezTo>
                      <a:pt x="21869" y="16747"/>
                      <a:pt x="58163" y="25214"/>
                      <a:pt x="100013" y="25214"/>
                    </a:cubicBezTo>
                    <a:cubicBezTo>
                      <a:pt x="141796" y="25214"/>
                      <a:pt x="178078" y="16769"/>
                      <a:pt x="200026" y="189"/>
                    </a:cubicBezTo>
                    <a:lnTo>
                      <a:pt x="200026" y="25214"/>
                    </a:lnTo>
                    <a:cubicBezTo>
                      <a:pt x="200026" y="52740"/>
                      <a:pt x="154886" y="69664"/>
                      <a:pt x="100013" y="69664"/>
                    </a:cubicBezTo>
                    <a:cubicBezTo>
                      <a:pt x="46695" y="69664"/>
                      <a:pt x="2556" y="53685"/>
                      <a:pt x="233" y="27492"/>
                    </a:cubicBezTo>
                    <a:lnTo>
                      <a:pt x="56" y="26370"/>
                    </a:lnTo>
                    <a:lnTo>
                      <a:pt x="0" y="25214"/>
                    </a:lnTo>
                    <a:close/>
                  </a:path>
                </a:pathLst>
              </a:custGeom>
              <a:solidFill>
                <a:schemeClr val="accent1"/>
              </a:solidFill>
              <a:ln>
                <a:noFill/>
              </a:ln>
            </p:spPr>
          </p:sp>
          <p:sp>
            <p:nvSpPr>
              <p:cNvPr id="38" name="Freeform 38"/>
              <p:cNvSpPr/>
              <p:nvPr/>
            </p:nvSpPr>
            <p:spPr>
              <a:xfrm>
                <a:off x="909637" y="4346575"/>
                <a:ext cx="200026" cy="88900"/>
              </a:xfrm>
              <a:custGeom>
                <a:avLst/>
                <a:gdLst/>
                <a:ahLst/>
                <a:cxnLst/>
                <a:rect l="l" t="t" r="r" b="b"/>
                <a:pathLst>
                  <a:path w="200026" h="88900">
                    <a:moveTo>
                      <a:pt x="100014" y="0"/>
                    </a:moveTo>
                    <a:cubicBezTo>
                      <a:pt x="111582" y="0"/>
                      <a:pt x="122728" y="756"/>
                      <a:pt x="133096" y="2200"/>
                    </a:cubicBezTo>
                    <a:lnTo>
                      <a:pt x="138307" y="2989"/>
                    </a:lnTo>
                    <a:cubicBezTo>
                      <a:pt x="144530" y="4026"/>
                      <a:pt x="150405" y="5315"/>
                      <a:pt x="155932" y="6856"/>
                    </a:cubicBezTo>
                    <a:lnTo>
                      <a:pt x="160821" y="8312"/>
                    </a:lnTo>
                    <a:lnTo>
                      <a:pt x="161655" y="8579"/>
                    </a:lnTo>
                    <a:cubicBezTo>
                      <a:pt x="164679" y="9573"/>
                      <a:pt x="167663" y="10685"/>
                      <a:pt x="170600" y="11913"/>
                    </a:cubicBezTo>
                    <a:lnTo>
                      <a:pt x="172812" y="12868"/>
                    </a:lnTo>
                    <a:cubicBezTo>
                      <a:pt x="176775" y="14661"/>
                      <a:pt x="180357" y="16624"/>
                      <a:pt x="183558" y="18758"/>
                    </a:cubicBezTo>
                    <a:cubicBezTo>
                      <a:pt x="184780" y="19573"/>
                      <a:pt x="185939" y="20406"/>
                      <a:pt x="187036" y="21258"/>
                    </a:cubicBezTo>
                    <a:cubicBezTo>
                      <a:pt x="189813" y="23414"/>
                      <a:pt x="192311" y="25907"/>
                      <a:pt x="194470" y="28681"/>
                    </a:cubicBezTo>
                    <a:lnTo>
                      <a:pt x="195481" y="30104"/>
                    </a:lnTo>
                    <a:cubicBezTo>
                      <a:pt x="196000" y="30882"/>
                      <a:pt x="196478" y="31663"/>
                      <a:pt x="196915" y="32449"/>
                    </a:cubicBezTo>
                    <a:lnTo>
                      <a:pt x="197693" y="33993"/>
                    </a:lnTo>
                    <a:cubicBezTo>
                      <a:pt x="198900" y="36586"/>
                      <a:pt x="199641" y="39290"/>
                      <a:pt x="199915" y="42105"/>
                    </a:cubicBezTo>
                    <a:lnTo>
                      <a:pt x="200026" y="44450"/>
                    </a:lnTo>
                    <a:cubicBezTo>
                      <a:pt x="200026" y="71976"/>
                      <a:pt x="154887" y="88900"/>
                      <a:pt x="100014" y="88900"/>
                    </a:cubicBezTo>
                    <a:cubicBezTo>
                      <a:pt x="46696" y="88900"/>
                      <a:pt x="2557" y="72920"/>
                      <a:pt x="234" y="46728"/>
                    </a:cubicBezTo>
                    <a:cubicBezTo>
                      <a:pt x="78" y="45979"/>
                      <a:pt x="0" y="45215"/>
                      <a:pt x="1" y="44450"/>
                    </a:cubicBezTo>
                    <a:lnTo>
                      <a:pt x="56" y="43294"/>
                    </a:lnTo>
                    <a:lnTo>
                      <a:pt x="234" y="42183"/>
                    </a:lnTo>
                    <a:cubicBezTo>
                      <a:pt x="2512" y="16558"/>
                      <a:pt x="44795" y="700"/>
                      <a:pt x="96547" y="22"/>
                    </a:cubicBezTo>
                    <a:close/>
                  </a:path>
                </a:pathLst>
              </a:custGeom>
              <a:solidFill>
                <a:schemeClr val="accent1"/>
              </a:solidFill>
              <a:ln>
                <a:noFill/>
              </a:ln>
            </p:spPr>
          </p:sp>
        </p:grpSp>
        <p:sp>
          <p:nvSpPr>
            <p:cNvPr id="40" name="TextBox 40"/>
            <p:cNvSpPr txBox="1"/>
            <p:nvPr/>
          </p:nvSpPr>
          <p:spPr>
            <a:xfrm>
              <a:off x="1248156" y="4339590"/>
              <a:ext cx="171450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成绩必须可追溯</a:t>
              </a:r>
            </a:p>
          </p:txBody>
        </p:sp>
        <p:sp>
          <p:nvSpPr>
            <p:cNvPr id="41" name="TextBox 41"/>
            <p:cNvSpPr txBox="1"/>
            <p:nvPr/>
          </p:nvSpPr>
          <p:spPr>
            <a:xfrm>
              <a:off x="869442" y="4845368"/>
              <a:ext cx="24140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教师随时会改题库，但已算出的</a:t>
              </a:r>
              <a:br/>
              <a:r>
                <a:rPr lang="zh-CN" sz="1350" dirty="0">
                  <a:solidFill>
                    <a:schemeClr val="dk1"/>
                  </a:solidFill>
                  <a:latin typeface="+mn-lt"/>
                  <a:ea typeface="+mn-ea"/>
                  <a:cs typeface="+mn-cs"/>
                </a:rPr>
                <a:t>分数不能因此改变。</a:t>
              </a:r>
            </a:p>
          </p:txBody>
        </p:sp>
      </p:grpSp>
      <p:grpSp>
        <p:nvGrpSpPr>
          <p:cNvPr id="47" name="Group 47"/>
          <p:cNvGrpSpPr/>
          <p:nvPr/>
        </p:nvGrpSpPr>
        <p:grpSpPr>
          <a:xfrm>
            <a:off x="4362450" y="4076700"/>
            <a:ext cx="3448050" cy="1676400"/>
            <a:chOff x="4362450" y="4076700"/>
            <a:chExt cx="3448050" cy="1676400"/>
          </a:xfrm>
        </p:grpSpPr>
        <p:sp>
          <p:nvSpPr>
            <p:cNvPr id="43" name="Rectangle 43"/>
            <p:cNvSpPr/>
            <p:nvPr/>
          </p:nvSpPr>
          <p:spPr>
            <a:xfrm>
              <a:off x="4362450" y="4076700"/>
              <a:ext cx="3448050" cy="1676400"/>
            </a:xfrm>
            <a:prstGeom prst="roundRect">
              <a:avLst>
                <a:gd name="adj" fmla="val 10227"/>
              </a:avLst>
            </a:prstGeom>
            <a:solidFill>
              <a:schemeClr val="lt2"/>
            </a:solidFill>
            <a:ln>
              <a:noFill/>
            </a:ln>
          </p:spPr>
        </p:sp>
        <p:sp>
          <p:nvSpPr>
            <p:cNvPr id="44" name="Freeform 44"/>
            <p:cNvSpPr/>
            <p:nvPr/>
          </p:nvSpPr>
          <p:spPr>
            <a:xfrm>
              <a:off x="4646343" y="4346575"/>
              <a:ext cx="232303" cy="222369"/>
            </a:xfrm>
            <a:custGeom>
              <a:avLst/>
              <a:gdLst/>
              <a:ahLst/>
              <a:cxnLst/>
              <a:rect l="l" t="t" r="r" b="b"/>
              <a:pathLst>
                <a:path w="232303" h="222369">
                  <a:moveTo>
                    <a:pt x="116135" y="0"/>
                  </a:moveTo>
                  <a:lnTo>
                    <a:pt x="117446" y="78"/>
                  </a:lnTo>
                  <a:lnTo>
                    <a:pt x="118102" y="167"/>
                  </a:lnTo>
                  <a:lnTo>
                    <a:pt x="118780" y="311"/>
                  </a:lnTo>
                  <a:lnTo>
                    <a:pt x="120013" y="689"/>
                  </a:lnTo>
                  <a:cubicBezTo>
                    <a:pt x="120865" y="1003"/>
                    <a:pt x="121675" y="1421"/>
                    <a:pt x="122424" y="1934"/>
                  </a:cubicBezTo>
                  <a:lnTo>
                    <a:pt x="123580" y="2845"/>
                  </a:lnTo>
                  <a:lnTo>
                    <a:pt x="126414" y="5267"/>
                  </a:lnTo>
                  <a:cubicBezTo>
                    <a:pt x="148831" y="23887"/>
                    <a:pt x="177163" y="33885"/>
                    <a:pt x="206302" y="33460"/>
                  </a:cubicBezTo>
                  <a:lnTo>
                    <a:pt x="210102" y="33349"/>
                  </a:lnTo>
                  <a:cubicBezTo>
                    <a:pt x="215216" y="33115"/>
                    <a:pt x="219827" y="36405"/>
                    <a:pt x="221270" y="41316"/>
                  </a:cubicBezTo>
                  <a:cubicBezTo>
                    <a:pt x="232303" y="78847"/>
                    <a:pt x="227645" y="119246"/>
                    <a:pt x="208359" y="153280"/>
                  </a:cubicBezTo>
                  <a:cubicBezTo>
                    <a:pt x="189074" y="187314"/>
                    <a:pt x="156811" y="212073"/>
                    <a:pt x="118946" y="221895"/>
                  </a:cubicBezTo>
                  <a:cubicBezTo>
                    <a:pt x="117117" y="222369"/>
                    <a:pt x="115197" y="222369"/>
                    <a:pt x="113368" y="221895"/>
                  </a:cubicBezTo>
                  <a:cubicBezTo>
                    <a:pt x="75501" y="212075"/>
                    <a:pt x="43235" y="187318"/>
                    <a:pt x="23948" y="153284"/>
                  </a:cubicBezTo>
                  <a:cubicBezTo>
                    <a:pt x="4660" y="119249"/>
                    <a:pt x="0" y="78848"/>
                    <a:pt x="11032" y="41316"/>
                  </a:cubicBezTo>
                  <a:cubicBezTo>
                    <a:pt x="12476" y="36405"/>
                    <a:pt x="17087" y="33115"/>
                    <a:pt x="22201" y="33349"/>
                  </a:cubicBezTo>
                  <a:cubicBezTo>
                    <a:pt x="52621" y="34739"/>
                    <a:pt x="82465" y="24725"/>
                    <a:pt x="105889" y="5267"/>
                  </a:cubicBezTo>
                  <a:lnTo>
                    <a:pt x="108812" y="2767"/>
                  </a:lnTo>
                  <a:lnTo>
                    <a:pt x="109878" y="1934"/>
                  </a:lnTo>
                  <a:cubicBezTo>
                    <a:pt x="110628" y="1421"/>
                    <a:pt x="111438" y="1003"/>
                    <a:pt x="112290" y="689"/>
                  </a:cubicBezTo>
                  <a:lnTo>
                    <a:pt x="113534" y="311"/>
                  </a:lnTo>
                  <a:cubicBezTo>
                    <a:pt x="113970" y="206"/>
                    <a:pt x="114412" y="128"/>
                    <a:pt x="114857" y="78"/>
                  </a:cubicBezTo>
                  <a:lnTo>
                    <a:pt x="116135" y="0"/>
                  </a:lnTo>
                  <a:close/>
                  <a:moveTo>
                    <a:pt x="116157" y="77788"/>
                  </a:moveTo>
                  <a:cubicBezTo>
                    <a:pt x="104526" y="77784"/>
                    <a:pt x="94860" y="86748"/>
                    <a:pt x="93988" y="98346"/>
                  </a:cubicBezTo>
                  <a:lnTo>
                    <a:pt x="93932" y="100013"/>
                  </a:lnTo>
                  <a:lnTo>
                    <a:pt x="93988" y="101680"/>
                  </a:lnTo>
                  <a:cubicBezTo>
                    <a:pt x="94544" y="109003"/>
                    <a:pt x="98682" y="115579"/>
                    <a:pt x="105044" y="119249"/>
                  </a:cubicBezTo>
                  <a:lnTo>
                    <a:pt x="105044" y="138907"/>
                  </a:lnTo>
                  <a:lnTo>
                    <a:pt x="105122" y="140207"/>
                  </a:lnTo>
                  <a:cubicBezTo>
                    <a:pt x="105817" y="146045"/>
                    <a:pt x="110939" y="150332"/>
                    <a:pt x="116808" y="149988"/>
                  </a:cubicBezTo>
                  <a:cubicBezTo>
                    <a:pt x="122678" y="149643"/>
                    <a:pt x="127263" y="144786"/>
                    <a:pt x="127270" y="138907"/>
                  </a:cubicBezTo>
                  <a:lnTo>
                    <a:pt x="127281" y="119260"/>
                  </a:lnTo>
                  <a:cubicBezTo>
                    <a:pt x="135993" y="114229"/>
                    <a:pt x="140240" y="103972"/>
                    <a:pt x="137633" y="94255"/>
                  </a:cubicBezTo>
                  <a:cubicBezTo>
                    <a:pt x="135027" y="84538"/>
                    <a:pt x="126218" y="77783"/>
                    <a:pt x="116157" y="77788"/>
                  </a:cubicBezTo>
                  <a:close/>
                </a:path>
              </a:pathLst>
            </a:custGeom>
            <a:solidFill>
              <a:schemeClr val="accent1"/>
            </a:solidFill>
            <a:ln>
              <a:noFill/>
            </a:ln>
          </p:spPr>
        </p:sp>
        <p:sp>
          <p:nvSpPr>
            <p:cNvPr id="45" name="TextBox 45"/>
            <p:cNvSpPr txBox="1"/>
            <p:nvPr/>
          </p:nvSpPr>
          <p:spPr>
            <a:xfrm>
              <a:off x="5001006" y="4339590"/>
              <a:ext cx="195681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权限必须在服务端</a:t>
              </a:r>
            </a:p>
          </p:txBody>
        </p:sp>
        <p:sp>
          <p:nvSpPr>
            <p:cNvPr id="46" name="TextBox 46"/>
            <p:cNvSpPr txBox="1"/>
            <p:nvPr/>
          </p:nvSpPr>
          <p:spPr>
            <a:xfrm>
              <a:off x="4622292" y="4845368"/>
              <a:ext cx="25854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前端隐藏按钮不构成保护；公布前</a:t>
              </a:r>
              <a:br/>
              <a:r>
                <a:rPr lang="zh-CN" sz="1350" dirty="0">
                  <a:solidFill>
                    <a:schemeClr val="dk1"/>
                  </a:solidFill>
                  <a:latin typeface="+mn-lt"/>
                  <a:ea typeface="+mn-ea"/>
                  <a:cs typeface="+mn-cs"/>
                </a:rPr>
                <a:t>不能把答案下发到浏览器。</a:t>
              </a:r>
            </a:p>
          </p:txBody>
        </p:sp>
      </p:grpSp>
      <p:grpSp>
        <p:nvGrpSpPr>
          <p:cNvPr id="52" name="Group 52"/>
          <p:cNvGrpSpPr/>
          <p:nvPr/>
        </p:nvGrpSpPr>
        <p:grpSpPr>
          <a:xfrm>
            <a:off x="8115300" y="4076700"/>
            <a:ext cx="3448050" cy="1676400"/>
            <a:chOff x="8115300" y="4076700"/>
            <a:chExt cx="3448050" cy="1676400"/>
          </a:xfrm>
        </p:grpSpPr>
        <p:sp>
          <p:nvSpPr>
            <p:cNvPr id="48" name="Rectangle 48"/>
            <p:cNvSpPr/>
            <p:nvPr/>
          </p:nvSpPr>
          <p:spPr>
            <a:xfrm>
              <a:off x="8115300" y="4076700"/>
              <a:ext cx="3448050" cy="1676400"/>
            </a:xfrm>
            <a:prstGeom prst="roundRect">
              <a:avLst>
                <a:gd name="adj" fmla="val 10227"/>
              </a:avLst>
            </a:prstGeom>
            <a:solidFill>
              <a:schemeClr val="lt2"/>
            </a:solidFill>
            <a:ln>
              <a:noFill/>
            </a:ln>
          </p:spPr>
        </p:sp>
        <p:sp>
          <p:nvSpPr>
            <p:cNvPr id="49" name="Freeform 49"/>
            <p:cNvSpPr/>
            <p:nvPr/>
          </p:nvSpPr>
          <p:spPr>
            <a:xfrm>
              <a:off x="8404225" y="4341597"/>
              <a:ext cx="233697" cy="234079"/>
            </a:xfrm>
            <a:custGeom>
              <a:avLst/>
              <a:gdLst/>
              <a:ahLst/>
              <a:cxnLst/>
              <a:rect l="l" t="t" r="r" b="b"/>
              <a:pathLst>
                <a:path w="233697" h="234079">
                  <a:moveTo>
                    <a:pt x="166688" y="19869"/>
                  </a:moveTo>
                  <a:cubicBezTo>
                    <a:pt x="212998" y="46608"/>
                    <a:pt x="233697" y="102539"/>
                    <a:pt x="215950" y="152984"/>
                  </a:cubicBezTo>
                  <a:cubicBezTo>
                    <a:pt x="198203" y="203428"/>
                    <a:pt x="147044" y="234079"/>
                    <a:pt x="94193" y="225932"/>
                  </a:cubicBezTo>
                  <a:cubicBezTo>
                    <a:pt x="41341" y="217785"/>
                    <a:pt x="1788" y="173151"/>
                    <a:pt x="56" y="119704"/>
                  </a:cubicBezTo>
                  <a:lnTo>
                    <a:pt x="0" y="116103"/>
                  </a:lnTo>
                  <a:lnTo>
                    <a:pt x="56" y="112503"/>
                  </a:lnTo>
                  <a:cubicBezTo>
                    <a:pt x="1321" y="73464"/>
                    <a:pt x="22990" y="37956"/>
                    <a:pt x="57128" y="18978"/>
                  </a:cubicBezTo>
                  <a:cubicBezTo>
                    <a:pt x="91267" y="0"/>
                    <a:pt x="132862" y="338"/>
                    <a:pt x="166688" y="19869"/>
                  </a:cubicBezTo>
                  <a:close/>
                  <a:moveTo>
                    <a:pt x="152319" y="86021"/>
                  </a:moveTo>
                  <a:cubicBezTo>
                    <a:pt x="148360" y="82063"/>
                    <a:pt x="142075" y="81668"/>
                    <a:pt x="137651" y="85099"/>
                  </a:cubicBezTo>
                  <a:lnTo>
                    <a:pt x="136606" y="86021"/>
                  </a:lnTo>
                  <a:lnTo>
                    <a:pt x="100013" y="122604"/>
                  </a:lnTo>
                  <a:lnTo>
                    <a:pt x="85644" y="108246"/>
                  </a:lnTo>
                  <a:lnTo>
                    <a:pt x="84600" y="107324"/>
                  </a:lnTo>
                  <a:cubicBezTo>
                    <a:pt x="80176" y="103895"/>
                    <a:pt x="73892" y="104292"/>
                    <a:pt x="69934" y="108249"/>
                  </a:cubicBezTo>
                  <a:cubicBezTo>
                    <a:pt x="65976" y="112207"/>
                    <a:pt x="65580" y="118491"/>
                    <a:pt x="69009" y="122915"/>
                  </a:cubicBezTo>
                  <a:lnTo>
                    <a:pt x="69931" y="123960"/>
                  </a:lnTo>
                  <a:lnTo>
                    <a:pt x="92156" y="146185"/>
                  </a:lnTo>
                  <a:lnTo>
                    <a:pt x="93201" y="147107"/>
                  </a:lnTo>
                  <a:cubicBezTo>
                    <a:pt x="97210" y="150217"/>
                    <a:pt x="102816" y="150217"/>
                    <a:pt x="106825" y="147107"/>
                  </a:cubicBezTo>
                  <a:lnTo>
                    <a:pt x="107869" y="146185"/>
                  </a:lnTo>
                  <a:lnTo>
                    <a:pt x="152319" y="101735"/>
                  </a:lnTo>
                  <a:lnTo>
                    <a:pt x="153242" y="100690"/>
                  </a:lnTo>
                  <a:cubicBezTo>
                    <a:pt x="156673" y="96266"/>
                    <a:pt x="156278" y="89980"/>
                    <a:pt x="152319" y="86021"/>
                  </a:cubicBezTo>
                  <a:close/>
                </a:path>
              </a:pathLst>
            </a:custGeom>
            <a:solidFill>
              <a:schemeClr val="accent1"/>
            </a:solidFill>
            <a:ln>
              <a:noFill/>
            </a:ln>
          </p:spPr>
        </p:sp>
        <p:sp>
          <p:nvSpPr>
            <p:cNvPr id="50" name="TextBox 50"/>
            <p:cNvSpPr txBox="1"/>
            <p:nvPr/>
          </p:nvSpPr>
          <p:spPr>
            <a:xfrm>
              <a:off x="8753856" y="433959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判分必须确定</a:t>
              </a:r>
            </a:p>
          </p:txBody>
        </p:sp>
        <p:sp>
          <p:nvSpPr>
            <p:cNvPr id="51" name="TextBox 51"/>
            <p:cNvSpPr txBox="1"/>
            <p:nvPr/>
          </p:nvSpPr>
          <p:spPr>
            <a:xfrm>
              <a:off x="8375142" y="4845368"/>
              <a:ext cx="241401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同一份答卷交几次、由谁触发、</a:t>
              </a:r>
              <a:br/>
              <a:r>
                <a:rPr lang="zh-CN" sz="1350" dirty="0">
                  <a:solidFill>
                    <a:schemeClr val="dk1"/>
                  </a:solidFill>
                  <a:latin typeface="+mn-lt"/>
                  <a:ea typeface="+mn-ea"/>
                  <a:cs typeface="+mn-cs"/>
                </a:rPr>
                <a:t>走正常还是超时兜底都一致。</a:t>
              </a:r>
            </a:p>
          </p:txBody>
        </p:sp>
      </p:grpSp>
      <p:grpSp>
        <p:nvGrpSpPr>
          <p:cNvPr id="56" name="Group 56"/>
          <p:cNvGrpSpPr/>
          <p:nvPr/>
        </p:nvGrpSpPr>
        <p:grpSpPr>
          <a:xfrm>
            <a:off x="603885" y="6172200"/>
            <a:ext cx="10984230" cy="308134"/>
            <a:chOff x="603885" y="6172200"/>
            <a:chExt cx="10984230" cy="308134"/>
          </a:xfrm>
        </p:grpSpPr>
        <p:sp>
          <p:nvSpPr>
            <p:cNvPr id="53" name="Line 53"/>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4" name="TextBox 54"/>
            <p:cNvSpPr txBox="1"/>
            <p:nvPr/>
          </p:nvSpPr>
          <p:spPr>
            <a:xfrm>
              <a:off x="603885" y="6260306"/>
              <a:ext cx="2966608"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来源：docs/project-report.md 第 1.1 节</a:t>
              </a:r>
            </a:p>
          </p:txBody>
        </p:sp>
        <p:sp>
          <p:nvSpPr>
            <p:cNvPr id="55" name="TextBox 55"/>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03 / 21</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6"/>
            </a:solidFill>
            <a:ln>
              <a:noFill/>
            </a:ln>
          </p:spPr>
        </p:sp>
        <p:sp>
          <p:nvSpPr>
            <p:cNvPr id="3" name="Rectangle 3"/>
            <p:cNvSpPr/>
            <p:nvPr/>
          </p:nvSpPr>
          <p:spPr>
            <a:xfrm>
              <a:off x="914400" y="342900"/>
              <a:ext cx="247650" cy="76200"/>
            </a:xfrm>
            <a:prstGeom prst="roundRect">
              <a:avLst>
                <a:gd name="adj" fmla="val 50000"/>
              </a:avLst>
            </a:prstGeom>
            <a:solidFill>
              <a:schemeClr val="accent6"/>
            </a:solidFill>
            <a:ln>
              <a:noFill/>
            </a:ln>
          </p:spPr>
        </p:sp>
        <p:sp>
          <p:nvSpPr>
            <p:cNvPr id="4" name="Rectangle 4"/>
            <p:cNvSpPr/>
            <p:nvPr/>
          </p:nvSpPr>
          <p:spPr>
            <a:xfrm>
              <a:off x="1219200" y="342900"/>
              <a:ext cx="247650" cy="76200"/>
            </a:xfrm>
            <a:prstGeom prst="roundRect">
              <a:avLst>
                <a:gd name="adj" fmla="val 50000"/>
              </a:avLst>
            </a:prstGeom>
            <a:solidFill>
              <a:schemeClr val="accent6"/>
            </a:solidFill>
            <a:ln>
              <a:noFill/>
            </a:ln>
          </p:spPr>
        </p:sp>
        <p:sp>
          <p:nvSpPr>
            <p:cNvPr id="5" name="Rectangle 5"/>
            <p:cNvSpPr/>
            <p:nvPr/>
          </p:nvSpPr>
          <p:spPr>
            <a:xfrm>
              <a:off x="1524000" y="342900"/>
              <a:ext cx="247650" cy="76200"/>
            </a:xfrm>
            <a:prstGeom prst="roundRect">
              <a:avLst>
                <a:gd name="adj" fmla="val 50000"/>
              </a:avLst>
            </a:prstGeom>
            <a:solidFill>
              <a:schemeClr val="accent6"/>
            </a:solidFill>
            <a:ln>
              <a:noFill/>
            </a:ln>
          </p:spPr>
        </p:sp>
        <p:sp>
          <p:nvSpPr>
            <p:cNvPr id="6" name="Rectangle 6"/>
            <p:cNvSpPr/>
            <p:nvPr/>
          </p:nvSpPr>
          <p:spPr>
            <a:xfrm>
              <a:off x="1828800" y="342900"/>
              <a:ext cx="247650" cy="76200"/>
            </a:xfrm>
            <a:prstGeom prst="roundRect">
              <a:avLst>
                <a:gd name="adj" fmla="val 50000"/>
              </a:avLst>
            </a:prstGeom>
            <a:solidFill>
              <a:schemeClr val="accent6"/>
            </a:solidFill>
            <a:ln>
              <a:noFill/>
            </a:ln>
          </p:spPr>
        </p:sp>
        <p:sp>
          <p:nvSpPr>
            <p:cNvPr id="7" name="Rectangle 7"/>
            <p:cNvSpPr/>
            <p:nvPr/>
          </p:nvSpPr>
          <p:spPr>
            <a:xfrm>
              <a:off x="2133600" y="342900"/>
              <a:ext cx="247650" cy="76200"/>
            </a:xfrm>
            <a:prstGeom prst="roundRect">
              <a:avLst>
                <a:gd name="adj" fmla="val 50000"/>
              </a:avLst>
            </a:prstGeom>
            <a:solidFill>
              <a:schemeClr val="accent6"/>
            </a:solidFill>
            <a:ln>
              <a:noFill/>
            </a:ln>
          </p:spPr>
        </p:sp>
        <p:sp>
          <p:nvSpPr>
            <p:cNvPr id="8" name="TextBox 8"/>
            <p:cNvSpPr txBox="1"/>
            <p:nvPr/>
          </p:nvSpPr>
          <p:spPr>
            <a:xfrm>
              <a:off x="2507742" y="311468"/>
              <a:ext cx="113139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一 · 项目背景</a:t>
              </a:r>
            </a:p>
          </p:txBody>
        </p:sp>
        <p:sp>
          <p:nvSpPr>
            <p:cNvPr id="9" name="TextBox 9"/>
            <p:cNvSpPr txBox="1"/>
            <p:nvPr/>
          </p:nvSpPr>
          <p:spPr>
            <a:xfrm>
              <a:off x="593598" y="726758"/>
              <a:ext cx="554469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竞品分析：三款产品与借鉴点</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3" name="Group 13"/>
          <p:cNvGrpSpPr/>
          <p:nvPr/>
        </p:nvGrpSpPr>
        <p:grpSpPr>
          <a:xfrm>
            <a:off x="598170" y="1624012"/>
            <a:ext cx="9715500" cy="440055"/>
            <a:chOff x="598170" y="1624012"/>
            <a:chExt cx="9715500" cy="440055"/>
          </a:xfrm>
        </p:grpSpPr>
        <p:sp>
          <p:nvSpPr>
            <p:cNvPr id="12" name="TextBox 12"/>
            <p:cNvSpPr txBox="1"/>
            <p:nvPr/>
          </p:nvSpPr>
          <p:spPr>
            <a:xfrm>
              <a:off x="598170" y="1624012"/>
              <a:ext cx="9715500"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共同印证：题库与试卷必须独立；本项目更进一步，组卷时写入五项快照</a:t>
              </a:r>
            </a:p>
          </p:txBody>
        </p:sp>
      </p:grpSp>
      <p:grpSp>
        <p:nvGrpSpPr>
          <p:cNvPr id="34" name="Group 34"/>
          <p:cNvGrpSpPr/>
          <p:nvPr/>
        </p:nvGrpSpPr>
        <p:grpSpPr>
          <a:xfrm>
            <a:off x="609600" y="2133600"/>
            <a:ext cx="10972800" cy="3775901"/>
            <a:chOff x="609600" y="2133600"/>
            <a:chExt cx="10972800" cy="3775901"/>
          </a:xfrm>
        </p:grpSpPr>
        <p:sp>
          <p:nvSpPr>
            <p:cNvPr id="14" name="Rectangle 14"/>
            <p:cNvSpPr/>
            <p:nvPr/>
          </p:nvSpPr>
          <p:spPr>
            <a:xfrm>
              <a:off x="609600" y="2133600"/>
              <a:ext cx="10972800" cy="495300"/>
            </a:xfrm>
            <a:prstGeom prst="roundRect">
              <a:avLst>
                <a:gd name="adj" fmla="val 26923"/>
              </a:avLst>
            </a:prstGeom>
            <a:solidFill>
              <a:schemeClr val="accent1"/>
            </a:solidFill>
            <a:ln>
              <a:noFill/>
            </a:ln>
          </p:spPr>
        </p:sp>
        <p:sp>
          <p:nvSpPr>
            <p:cNvPr id="15" name="Rectangle 15"/>
            <p:cNvSpPr/>
            <p:nvPr/>
          </p:nvSpPr>
          <p:spPr>
            <a:xfrm>
              <a:off x="609600" y="2705100"/>
              <a:ext cx="2286000" cy="3152775"/>
            </a:xfrm>
            <a:prstGeom prst="roundRect">
              <a:avLst>
                <a:gd name="adj" fmla="val 5833"/>
              </a:avLst>
            </a:prstGeom>
            <a:solidFill>
              <a:schemeClr val="lt2"/>
            </a:solidFill>
            <a:ln>
              <a:noFill/>
            </a:ln>
          </p:spPr>
        </p:sp>
        <p:sp>
          <p:nvSpPr>
            <p:cNvPr id="16" name="TextBox 16"/>
            <p:cNvSpPr txBox="1"/>
            <p:nvPr/>
          </p:nvSpPr>
          <p:spPr>
            <a:xfrm>
              <a:off x="755142" y="2311718"/>
              <a:ext cx="37719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产品</a:t>
              </a:r>
            </a:p>
          </p:txBody>
        </p:sp>
        <p:sp>
          <p:nvSpPr>
            <p:cNvPr id="17" name="TextBox 17"/>
            <p:cNvSpPr txBox="1"/>
            <p:nvPr/>
          </p:nvSpPr>
          <p:spPr>
            <a:xfrm>
              <a:off x="3041142" y="2311718"/>
              <a:ext cx="2012823"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官方资料显示的相关能力</a:t>
              </a:r>
            </a:p>
          </p:txBody>
        </p:sp>
        <p:sp>
          <p:nvSpPr>
            <p:cNvPr id="18" name="TextBox 18"/>
            <p:cNvSpPr txBox="1"/>
            <p:nvPr/>
          </p:nvSpPr>
          <p:spPr>
            <a:xfrm>
              <a:off x="6184392" y="2311718"/>
              <a:ext cx="92240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本项目借鉴</a:t>
              </a:r>
            </a:p>
          </p:txBody>
        </p:sp>
        <p:sp>
          <p:nvSpPr>
            <p:cNvPr id="19" name="TextBox 19"/>
            <p:cNvSpPr txBox="1"/>
            <p:nvPr/>
          </p:nvSpPr>
          <p:spPr>
            <a:xfrm>
              <a:off x="9327642" y="2311718"/>
              <a:ext cx="92240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本期不照搬</a:t>
              </a:r>
            </a:p>
          </p:txBody>
        </p:sp>
        <p:sp>
          <p:nvSpPr>
            <p:cNvPr id="20" name="Line 20"/>
            <p:cNvSpPr/>
            <p:nvPr/>
          </p:nvSpPr>
          <p:spPr>
            <a:xfrm>
              <a:off x="609600" y="3705225"/>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1" name="Line 21"/>
            <p:cNvSpPr/>
            <p:nvPr/>
          </p:nvSpPr>
          <p:spPr>
            <a:xfrm>
              <a:off x="609600" y="478155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2" name="TextBox 22"/>
            <p:cNvSpPr txBox="1"/>
            <p:nvPr/>
          </p:nvSpPr>
          <p:spPr>
            <a:xfrm>
              <a:off x="755142" y="2749868"/>
              <a:ext cx="1113725"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Moodle Quiz</a:t>
              </a:r>
            </a:p>
          </p:txBody>
        </p:sp>
        <p:sp>
          <p:nvSpPr>
            <p:cNvPr id="23" name="TextBox 23"/>
            <p:cNvSpPr txBox="1"/>
            <p:nvPr/>
          </p:nvSpPr>
          <p:spPr>
            <a:xfrm>
              <a:off x="3041142" y="2749868"/>
              <a:ext cx="2242566"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题目独立存放在题库中，可分</a:t>
              </a:r>
              <a:br/>
              <a:r>
                <a:rPr lang="zh-CN" sz="1350" dirty="0">
                  <a:solidFill>
                    <a:schemeClr val="dk1"/>
                  </a:solidFill>
                  <a:latin typeface="+mn-lt"/>
                  <a:ea typeface="+mn-ea"/>
                  <a:cs typeface="+mn-cs"/>
                </a:rPr>
                <a:t>类、筛选、跨测验复用；测验</a:t>
              </a:r>
              <a:br/>
              <a:r>
                <a:rPr lang="zh-CN" sz="1350" dirty="0">
                  <a:solidFill>
                    <a:schemeClr val="dk1"/>
                  </a:solidFill>
                  <a:latin typeface="+mn-lt"/>
                  <a:ea typeface="+mn-ea"/>
                  <a:cs typeface="+mn-cs"/>
                </a:rPr>
                <a:t>支持预览、提交、成绩查看与</a:t>
              </a:r>
              <a:br/>
              <a:r>
                <a:rPr lang="zh-CN" sz="1350" dirty="0">
                  <a:solidFill>
                    <a:schemeClr val="dk1"/>
                  </a:solidFill>
                  <a:latin typeface="+mn-lt"/>
                  <a:ea typeface="+mn-ea"/>
                  <a:cs typeface="+mn-cs"/>
                </a:rPr>
                <a:t>教师查看作答</a:t>
              </a:r>
            </a:p>
          </p:txBody>
        </p:sp>
        <p:sp>
          <p:nvSpPr>
            <p:cNvPr id="24" name="TextBox 24"/>
            <p:cNvSpPr txBox="1"/>
            <p:nvPr/>
          </p:nvSpPr>
          <p:spPr>
            <a:xfrm>
              <a:off x="6184392" y="2749868"/>
              <a:ext cx="224256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题库与试卷彻底分离；按知识</a:t>
              </a:r>
              <a:br/>
              <a:r>
                <a:rPr lang="zh-CN" sz="1350" dirty="0">
                  <a:solidFill>
                    <a:schemeClr val="dk1"/>
                  </a:solidFill>
                  <a:latin typeface="+mn-lt"/>
                  <a:ea typeface="+mn-ea"/>
                  <a:cs typeface="+mn-cs"/>
                </a:rPr>
                <a:t>点／难度筛选；发布前必须预</a:t>
              </a:r>
              <a:br/>
              <a:r>
                <a:rPr lang="zh-CN" sz="1350" dirty="0">
                  <a:solidFill>
                    <a:schemeClr val="dk1"/>
                  </a:solidFill>
                  <a:latin typeface="+mn-lt"/>
                  <a:ea typeface="+mn-ea"/>
                  <a:cs typeface="+mn-cs"/>
                </a:rPr>
                <a:t>览；历史题目只停用不删除</a:t>
              </a:r>
            </a:p>
          </p:txBody>
        </p:sp>
        <p:sp>
          <p:nvSpPr>
            <p:cNvPr id="25" name="TextBox 25"/>
            <p:cNvSpPr txBox="1"/>
            <p:nvPr/>
          </p:nvSpPr>
          <p:spPr>
            <a:xfrm>
              <a:off x="9327642" y="2749868"/>
              <a:ext cx="15567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跨课程共享题库、复</a:t>
              </a:r>
              <a:br/>
              <a:r>
                <a:rPr lang="zh-CN" sz="1350" dirty="0">
                  <a:solidFill>
                    <a:schemeClr val="dk1"/>
                  </a:solidFill>
                  <a:latin typeface="+mn-lt"/>
                  <a:ea typeface="+mn-ea"/>
                  <a:cs typeface="+mn-cs"/>
                </a:rPr>
                <a:t>杂题型与插件体系</a:t>
              </a:r>
            </a:p>
          </p:txBody>
        </p:sp>
        <p:sp>
          <p:nvSpPr>
            <p:cNvPr id="26" name="TextBox 26"/>
            <p:cNvSpPr txBox="1"/>
            <p:nvPr/>
          </p:nvSpPr>
          <p:spPr>
            <a:xfrm>
              <a:off x="755142" y="3826192"/>
              <a:ext cx="1855425"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Canvas New Quizzes</a:t>
              </a:r>
            </a:p>
          </p:txBody>
        </p:sp>
        <p:sp>
          <p:nvSpPr>
            <p:cNvPr id="27" name="TextBox 27"/>
            <p:cNvSpPr txBox="1"/>
            <p:nvPr/>
          </p:nvSpPr>
          <p:spPr>
            <a:xfrm>
              <a:off x="3041142" y="3826192"/>
              <a:ext cx="255117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可从 Item Banks 向测验添加单题</a:t>
              </a:r>
              <a:br/>
              <a:r>
                <a:rPr lang="zh-CN" sz="1350" dirty="0">
                  <a:solidFill>
                    <a:schemeClr val="dk1"/>
                  </a:solidFill>
                  <a:latin typeface="+mn-lt"/>
                  <a:ea typeface="+mn-ea"/>
                  <a:cs typeface="+mn-cs"/>
                </a:rPr>
                <a:t>或多题，并在测验内单独设置</a:t>
              </a:r>
              <a:br/>
              <a:r>
                <a:rPr lang="zh-CN" sz="1350" dirty="0">
                  <a:solidFill>
                    <a:schemeClr val="dk1"/>
                  </a:solidFill>
                  <a:latin typeface="+mn-lt"/>
                  <a:ea typeface="+mn-ea"/>
                  <a:cs typeface="+mn-cs"/>
                </a:rPr>
                <a:t>每题分值</a:t>
              </a:r>
            </a:p>
          </p:txBody>
        </p:sp>
        <p:sp>
          <p:nvSpPr>
            <p:cNvPr id="28" name="TextBox 28"/>
            <p:cNvSpPr txBox="1"/>
            <p:nvPr/>
          </p:nvSpPr>
          <p:spPr>
            <a:xfrm>
              <a:off x="6184392" y="3826192"/>
              <a:ext cx="224256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从题库手动选题组卷；试卷中</a:t>
              </a:r>
              <a:br/>
              <a:r>
                <a:rPr lang="zh-CN" sz="1350" dirty="0">
                  <a:solidFill>
                    <a:schemeClr val="dk1"/>
                  </a:solidFill>
                  <a:latin typeface="+mn-lt"/>
                  <a:ea typeface="+mn-ea"/>
                  <a:cs typeface="+mn-cs"/>
                </a:rPr>
                <a:t>的题目拥有独立于题库建议分</a:t>
              </a:r>
              <a:br/>
              <a:r>
                <a:rPr lang="zh-CN" sz="1350" dirty="0">
                  <a:solidFill>
                    <a:schemeClr val="dk1"/>
                  </a:solidFill>
                  <a:latin typeface="+mn-lt"/>
                  <a:ea typeface="+mn-ea"/>
                  <a:cs typeface="+mn-cs"/>
                </a:rPr>
                <a:t>值的实际分值</a:t>
              </a:r>
            </a:p>
          </p:txBody>
        </p:sp>
        <p:sp>
          <p:nvSpPr>
            <p:cNvPr id="29" name="TextBox 29"/>
            <p:cNvSpPr txBox="1"/>
            <p:nvPr/>
          </p:nvSpPr>
          <p:spPr>
            <a:xfrm>
              <a:off x="9327642" y="3826192"/>
              <a:ext cx="138531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LMS 课程体系、</a:t>
              </a:r>
              <a:br/>
              <a:r>
                <a:rPr lang="zh-CN" sz="1350" dirty="0">
                  <a:solidFill>
                    <a:schemeClr val="dk1"/>
                  </a:solidFill>
                  <a:latin typeface="+mn-lt"/>
                  <a:ea typeface="+mn-ea"/>
                  <a:cs typeface="+mn-cs"/>
                </a:rPr>
                <a:t>机构级题库共享、</a:t>
              </a:r>
              <a:br/>
              <a:r>
                <a:rPr lang="zh-CN" sz="1350" dirty="0">
                  <a:solidFill>
                    <a:schemeClr val="dk1"/>
                  </a:solidFill>
                  <a:latin typeface="+mn-lt"/>
                  <a:ea typeface="+mn-ea"/>
                  <a:cs typeface="+mn-cs"/>
                </a:rPr>
                <a:t>QTI 导入导出</a:t>
              </a:r>
            </a:p>
          </p:txBody>
        </p:sp>
        <p:sp>
          <p:nvSpPr>
            <p:cNvPr id="30" name="TextBox 30"/>
            <p:cNvSpPr txBox="1"/>
            <p:nvPr/>
          </p:nvSpPr>
          <p:spPr>
            <a:xfrm>
              <a:off x="755142" y="4902518"/>
              <a:ext cx="1702327"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Google Forms Quiz</a:t>
              </a:r>
            </a:p>
          </p:txBody>
        </p:sp>
        <p:sp>
          <p:nvSpPr>
            <p:cNvPr id="31" name="TextBox 31"/>
            <p:cNvSpPr txBox="1"/>
            <p:nvPr/>
          </p:nvSpPr>
          <p:spPr>
            <a:xfrm>
              <a:off x="3041142" y="4902518"/>
              <a:ext cx="2242566" cy="10069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可配置答案与分值、对部分题</a:t>
              </a:r>
              <a:br/>
              <a:r>
                <a:rPr lang="zh-CN" sz="1350" dirty="0">
                  <a:solidFill>
                    <a:schemeClr val="dk1"/>
                  </a:solidFill>
                  <a:latin typeface="+mn-lt"/>
                  <a:ea typeface="+mn-ea"/>
                  <a:cs typeface="+mn-cs"/>
                </a:rPr>
                <a:t>型自动评分、逐份或逐题人工</a:t>
              </a:r>
              <a:br/>
              <a:r>
                <a:rPr lang="zh-CN" sz="1350" dirty="0">
                  <a:solidFill>
                    <a:schemeClr val="dk1"/>
                  </a:solidFill>
                  <a:latin typeface="+mn-lt"/>
                  <a:ea typeface="+mn-ea"/>
                  <a:cs typeface="+mn-cs"/>
                </a:rPr>
                <a:t>评分，并可选择立即公布或人</a:t>
              </a:r>
              <a:br/>
              <a:r>
                <a:rPr lang="zh-CN" sz="1350" dirty="0">
                  <a:solidFill>
                    <a:schemeClr val="dk1"/>
                  </a:solidFill>
                  <a:latin typeface="+mn-lt"/>
                  <a:ea typeface="+mn-ea"/>
                  <a:cs typeface="+mn-cs"/>
                </a:rPr>
                <a:t>工复核后公布成绩</a:t>
              </a:r>
            </a:p>
          </p:txBody>
        </p:sp>
        <p:sp>
          <p:nvSpPr>
            <p:cNvPr id="32" name="TextBox 32"/>
            <p:cNvSpPr txBox="1"/>
            <p:nvPr/>
          </p:nvSpPr>
          <p:spPr>
            <a:xfrm>
              <a:off x="6184392" y="4902518"/>
              <a:ext cx="2268284"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客观题自动判分 + 主观题人工</a:t>
              </a:r>
              <a:br/>
              <a:r>
                <a:rPr lang="zh-CN" sz="1350" dirty="0">
                  <a:solidFill>
                    <a:schemeClr val="dk1"/>
                  </a:solidFill>
                  <a:latin typeface="+mn-lt"/>
                  <a:ea typeface="+mn-ea"/>
                  <a:cs typeface="+mn-cs"/>
                </a:rPr>
                <a:t>评分的混合模型；成绩必须教</a:t>
              </a:r>
              <a:br/>
              <a:r>
                <a:rPr lang="zh-CN" sz="1350" dirty="0">
                  <a:solidFill>
                    <a:schemeClr val="dk1"/>
                  </a:solidFill>
                  <a:latin typeface="+mn-lt"/>
                  <a:ea typeface="+mn-ea"/>
                  <a:cs typeface="+mn-cs"/>
                </a:rPr>
                <a:t>师确认后才公布</a:t>
              </a:r>
            </a:p>
          </p:txBody>
        </p:sp>
        <p:sp>
          <p:nvSpPr>
            <p:cNvPr id="33" name="TextBox 33"/>
            <p:cNvSpPr txBox="1"/>
            <p:nvPr/>
          </p:nvSpPr>
          <p:spPr>
            <a:xfrm>
              <a:off x="9327642" y="4902518"/>
              <a:ext cx="1556766" cy="51168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通用表单能力、邮件</a:t>
              </a:r>
              <a:br/>
              <a:r>
                <a:rPr lang="zh-CN" sz="1350" dirty="0">
                  <a:solidFill>
                    <a:schemeClr val="dk1"/>
                  </a:solidFill>
                  <a:latin typeface="+mn-lt"/>
                  <a:ea typeface="+mn-ea"/>
                  <a:cs typeface="+mn-cs"/>
                </a:rPr>
                <a:t>发分、表格生态集成</a:t>
              </a:r>
            </a:p>
          </p:txBody>
        </p:sp>
      </p:grpSp>
      <p:grpSp>
        <p:nvGrpSpPr>
          <p:cNvPr id="38" name="Group 38"/>
          <p:cNvGrpSpPr/>
          <p:nvPr/>
        </p:nvGrpSpPr>
        <p:grpSpPr>
          <a:xfrm>
            <a:off x="603885" y="6172200"/>
            <a:ext cx="10984230" cy="308134"/>
            <a:chOff x="603885" y="6172200"/>
            <a:chExt cx="10984230" cy="308134"/>
          </a:xfrm>
        </p:grpSpPr>
        <p:sp>
          <p:nvSpPr>
            <p:cNvPr id="35" name="Line 35"/>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6" name="TextBox 36"/>
            <p:cNvSpPr txBox="1"/>
            <p:nvPr/>
          </p:nvSpPr>
          <p:spPr>
            <a:xfrm>
              <a:off x="603885" y="6260306"/>
              <a:ext cx="5265918"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官方页面核对时间 2026-09-01 · 链接见 docs/project-report.md 第 1.2 节</a:t>
              </a:r>
            </a:p>
          </p:txBody>
        </p:sp>
        <p:sp>
          <p:nvSpPr>
            <p:cNvPr id="37" name="TextBox 37"/>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04 / 21</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6"/>
            </a:solidFill>
            <a:ln>
              <a:noFill/>
            </a:ln>
          </p:spPr>
        </p:sp>
        <p:sp>
          <p:nvSpPr>
            <p:cNvPr id="3" name="Rectangle 3"/>
            <p:cNvSpPr/>
            <p:nvPr/>
          </p:nvSpPr>
          <p:spPr>
            <a:xfrm>
              <a:off x="914400" y="342900"/>
              <a:ext cx="247650" cy="76200"/>
            </a:xfrm>
            <a:prstGeom prst="roundRect">
              <a:avLst>
                <a:gd name="adj" fmla="val 50000"/>
              </a:avLst>
            </a:prstGeom>
            <a:solidFill>
              <a:schemeClr val="accent6"/>
            </a:solidFill>
            <a:ln>
              <a:noFill/>
            </a:ln>
          </p:spPr>
        </p:sp>
        <p:sp>
          <p:nvSpPr>
            <p:cNvPr id="4" name="Rectangle 4"/>
            <p:cNvSpPr/>
            <p:nvPr/>
          </p:nvSpPr>
          <p:spPr>
            <a:xfrm>
              <a:off x="1219200" y="342900"/>
              <a:ext cx="247650" cy="76200"/>
            </a:xfrm>
            <a:prstGeom prst="roundRect">
              <a:avLst>
                <a:gd name="adj" fmla="val 50000"/>
              </a:avLst>
            </a:prstGeom>
            <a:solidFill>
              <a:schemeClr val="accent6"/>
            </a:solidFill>
            <a:ln>
              <a:noFill/>
            </a:ln>
          </p:spPr>
        </p:sp>
        <p:sp>
          <p:nvSpPr>
            <p:cNvPr id="5" name="Rectangle 5"/>
            <p:cNvSpPr/>
            <p:nvPr/>
          </p:nvSpPr>
          <p:spPr>
            <a:xfrm>
              <a:off x="1524000" y="342900"/>
              <a:ext cx="247650" cy="76200"/>
            </a:xfrm>
            <a:prstGeom prst="roundRect">
              <a:avLst>
                <a:gd name="adj" fmla="val 50000"/>
              </a:avLst>
            </a:prstGeom>
            <a:solidFill>
              <a:schemeClr val="accent6"/>
            </a:solidFill>
            <a:ln>
              <a:noFill/>
            </a:ln>
          </p:spPr>
        </p:sp>
        <p:sp>
          <p:nvSpPr>
            <p:cNvPr id="6" name="Rectangle 6"/>
            <p:cNvSpPr/>
            <p:nvPr/>
          </p:nvSpPr>
          <p:spPr>
            <a:xfrm>
              <a:off x="1828800" y="342900"/>
              <a:ext cx="247650" cy="76200"/>
            </a:xfrm>
            <a:prstGeom prst="roundRect">
              <a:avLst>
                <a:gd name="adj" fmla="val 50000"/>
              </a:avLst>
            </a:prstGeom>
            <a:solidFill>
              <a:schemeClr val="accent6"/>
            </a:solidFill>
            <a:ln>
              <a:noFill/>
            </a:ln>
          </p:spPr>
        </p:sp>
        <p:sp>
          <p:nvSpPr>
            <p:cNvPr id="7" name="Rectangle 7"/>
            <p:cNvSpPr/>
            <p:nvPr/>
          </p:nvSpPr>
          <p:spPr>
            <a:xfrm>
              <a:off x="2133600" y="342900"/>
              <a:ext cx="247650" cy="76200"/>
            </a:xfrm>
            <a:prstGeom prst="roundRect">
              <a:avLst>
                <a:gd name="adj" fmla="val 50000"/>
              </a:avLst>
            </a:prstGeom>
            <a:solidFill>
              <a:schemeClr val="accent6"/>
            </a:solidFill>
            <a:ln>
              <a:noFill/>
            </a:ln>
          </p:spPr>
        </p:sp>
        <p:sp>
          <p:nvSpPr>
            <p:cNvPr id="8" name="TextBox 8"/>
            <p:cNvSpPr txBox="1"/>
            <p:nvPr/>
          </p:nvSpPr>
          <p:spPr>
            <a:xfrm>
              <a:off x="2507742" y="311468"/>
              <a:ext cx="113139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一 · 组内分工</a:t>
              </a:r>
            </a:p>
          </p:txBody>
        </p:sp>
        <p:sp>
          <p:nvSpPr>
            <p:cNvPr id="9" name="TextBox 9"/>
            <p:cNvSpPr txBox="1"/>
            <p:nvPr/>
          </p:nvSpPr>
          <p:spPr>
            <a:xfrm>
              <a:off x="593598" y="726758"/>
              <a:ext cx="5251036"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组内分工（第 1 组 · 2 人）</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6" name="Group 36"/>
          <p:cNvGrpSpPr/>
          <p:nvPr/>
        </p:nvGrpSpPr>
        <p:grpSpPr>
          <a:xfrm>
            <a:off x="609600" y="1905000"/>
            <a:ext cx="5334000" cy="3238500"/>
            <a:chOff x="609600" y="1905000"/>
            <a:chExt cx="5334000" cy="3238500"/>
          </a:xfrm>
        </p:grpSpPr>
        <p:sp>
          <p:nvSpPr>
            <p:cNvPr id="12" name="Rectangle 12"/>
            <p:cNvSpPr/>
            <p:nvPr/>
          </p:nvSpPr>
          <p:spPr>
            <a:xfrm>
              <a:off x="609600" y="1905000"/>
              <a:ext cx="5334000" cy="3238500"/>
            </a:xfrm>
            <a:prstGeom prst="roundRect">
              <a:avLst>
                <a:gd name="adj" fmla="val 5294"/>
              </a:avLst>
            </a:prstGeom>
            <a:solidFill>
              <a:schemeClr val="lt2"/>
            </a:solidFill>
            <a:ln>
              <a:noFill/>
            </a:ln>
          </p:spPr>
        </p:sp>
        <p:sp>
          <p:nvSpPr>
            <p:cNvPr id="13" name="Ellipse 13"/>
            <p:cNvSpPr/>
            <p:nvPr/>
          </p:nvSpPr>
          <p:spPr>
            <a:xfrm>
              <a:off x="914400" y="2247900"/>
              <a:ext cx="533400" cy="533400"/>
            </a:xfrm>
            <a:prstGeom prst="ellipse">
              <a:avLst/>
            </a:prstGeom>
            <a:solidFill>
              <a:schemeClr val="accent1"/>
            </a:solidFill>
            <a:ln>
              <a:noFill/>
            </a:ln>
          </p:spPr>
        </p:sp>
        <p:grpSp>
          <p:nvGrpSpPr>
            <p:cNvPr id="16" name="Group 16"/>
            <p:cNvGrpSpPr/>
            <p:nvPr/>
          </p:nvGrpSpPr>
          <p:grpSpPr>
            <a:xfrm>
              <a:off x="1103313" y="2403475"/>
              <a:ext cx="155575" cy="222250"/>
              <a:chOff x="1103313" y="2403475"/>
              <a:chExt cx="155575" cy="222250"/>
            </a:xfrm>
          </p:grpSpPr>
          <p:sp>
            <p:nvSpPr>
              <p:cNvPr id="14" name="Freeform 14"/>
              <p:cNvSpPr/>
              <p:nvPr/>
            </p:nvSpPr>
            <p:spPr>
              <a:xfrm>
                <a:off x="1125538" y="2403475"/>
                <a:ext cx="111125" cy="111125"/>
              </a:xfrm>
              <a:custGeom>
                <a:avLst/>
                <a:gdLst/>
                <a:ahLst/>
                <a:cxnLst/>
                <a:rect l="l" t="t" r="r" b="b"/>
                <a:pathLst>
                  <a:path w="111125" h="111125">
                    <a:moveTo>
                      <a:pt x="55563" y="0"/>
                    </a:moveTo>
                    <a:cubicBezTo>
                      <a:pt x="86249" y="0"/>
                      <a:pt x="111125" y="24876"/>
                      <a:pt x="111125" y="55563"/>
                    </a:cubicBezTo>
                    <a:cubicBezTo>
                      <a:pt x="111125" y="86249"/>
                      <a:pt x="86249" y="111125"/>
                      <a:pt x="55563" y="111125"/>
                    </a:cubicBezTo>
                    <a:cubicBezTo>
                      <a:pt x="24876" y="111125"/>
                      <a:pt x="0" y="86249"/>
                      <a:pt x="0" y="55563"/>
                    </a:cubicBezTo>
                    <a:lnTo>
                      <a:pt x="56" y="53151"/>
                    </a:lnTo>
                    <a:cubicBezTo>
                      <a:pt x="1347" y="23432"/>
                      <a:pt x="25815" y="2"/>
                      <a:pt x="55563" y="0"/>
                    </a:cubicBezTo>
                    <a:close/>
                  </a:path>
                </a:pathLst>
              </a:custGeom>
              <a:solidFill>
                <a:schemeClr val="lt1"/>
              </a:solidFill>
              <a:ln>
                <a:noFill/>
              </a:ln>
            </p:spPr>
          </p:sp>
          <p:sp>
            <p:nvSpPr>
              <p:cNvPr id="15" name="Freeform 15"/>
              <p:cNvSpPr/>
              <p:nvPr/>
            </p:nvSpPr>
            <p:spPr>
              <a:xfrm>
                <a:off x="1103313" y="2536825"/>
                <a:ext cx="155575" cy="88900"/>
              </a:xfrm>
              <a:custGeom>
                <a:avLst/>
                <a:gdLst/>
                <a:ahLst/>
                <a:cxnLst/>
                <a:rect l="l" t="t" r="r" b="b"/>
                <a:pathLst>
                  <a:path w="155575" h="88900">
                    <a:moveTo>
                      <a:pt x="100013" y="0"/>
                    </a:moveTo>
                    <a:cubicBezTo>
                      <a:pt x="130699" y="0"/>
                      <a:pt x="155575" y="24876"/>
                      <a:pt x="155575" y="55563"/>
                    </a:cubicBezTo>
                    <a:lnTo>
                      <a:pt x="155575" y="66675"/>
                    </a:lnTo>
                    <a:cubicBezTo>
                      <a:pt x="155575" y="78950"/>
                      <a:pt x="145625" y="88900"/>
                      <a:pt x="133350" y="88900"/>
                    </a:cubicBezTo>
                    <a:lnTo>
                      <a:pt x="22225" y="88900"/>
                    </a:lnTo>
                    <a:cubicBezTo>
                      <a:pt x="9950" y="88900"/>
                      <a:pt x="0" y="78950"/>
                      <a:pt x="0" y="66675"/>
                    </a:cubicBezTo>
                    <a:lnTo>
                      <a:pt x="0" y="55563"/>
                    </a:lnTo>
                    <a:cubicBezTo>
                      <a:pt x="0" y="24876"/>
                      <a:pt x="24876" y="0"/>
                      <a:pt x="55563" y="0"/>
                    </a:cubicBezTo>
                    <a:lnTo>
                      <a:pt x="100013" y="0"/>
                    </a:lnTo>
                    <a:close/>
                  </a:path>
                </a:pathLst>
              </a:custGeom>
              <a:solidFill>
                <a:schemeClr val="lt1"/>
              </a:solidFill>
              <a:ln>
                <a:noFill/>
              </a:ln>
            </p:spPr>
          </p:sp>
        </p:grpSp>
        <p:sp>
          <p:nvSpPr>
            <p:cNvPr id="17" name="TextBox 17"/>
            <p:cNvSpPr txBox="1"/>
            <p:nvPr/>
          </p:nvSpPr>
          <p:spPr>
            <a:xfrm>
              <a:off x="1626108" y="2293620"/>
              <a:ext cx="99364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郏尉植</a:t>
              </a:r>
            </a:p>
          </p:txBody>
        </p:sp>
        <p:sp>
          <p:nvSpPr>
            <p:cNvPr id="18" name="TextBox 18"/>
            <p:cNvSpPr txBox="1"/>
            <p:nvPr/>
          </p:nvSpPr>
          <p:spPr>
            <a:xfrm>
              <a:off x="1631442" y="2673668"/>
              <a:ext cx="123135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学号 24050417</a:t>
              </a:r>
            </a:p>
          </p:txBody>
        </p:sp>
        <p:sp>
          <p:nvSpPr>
            <p:cNvPr id="19" name="Line 19"/>
            <p:cNvSpPr/>
            <p:nvPr/>
          </p:nvSpPr>
          <p:spPr>
            <a:xfrm>
              <a:off x="914400" y="304800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20" name="TextBox 20"/>
            <p:cNvSpPr txBox="1"/>
            <p:nvPr/>
          </p:nvSpPr>
          <p:spPr>
            <a:xfrm>
              <a:off x="907542" y="320706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负责内容</a:t>
              </a:r>
            </a:p>
          </p:txBody>
        </p:sp>
        <p:grpSp>
          <p:nvGrpSpPr>
            <p:cNvPr id="27" name="Group 27"/>
            <p:cNvGrpSpPr/>
            <p:nvPr/>
          </p:nvGrpSpPr>
          <p:grpSpPr>
            <a:xfrm>
              <a:off x="914400" y="3505200"/>
              <a:ext cx="4619625" cy="337375"/>
              <a:chOff x="914400" y="3505200"/>
              <a:chExt cx="4619625" cy="337375"/>
            </a:xfrm>
          </p:grpSpPr>
          <p:sp>
            <p:nvSpPr>
              <p:cNvPr id="21" name="Rectangle 21"/>
              <p:cNvSpPr/>
              <p:nvPr/>
            </p:nvSpPr>
            <p:spPr>
              <a:xfrm>
                <a:off x="914400" y="3505200"/>
                <a:ext cx="1581150" cy="323850"/>
              </a:xfrm>
              <a:prstGeom prst="roundRect">
                <a:avLst>
                  <a:gd name="adj" fmla="val 50000"/>
                </a:avLst>
              </a:prstGeom>
              <a:solidFill>
                <a:schemeClr val="lt1"/>
              </a:solidFill>
              <a:ln>
                <a:noFill/>
              </a:ln>
            </p:spPr>
          </p:sp>
          <p:sp>
            <p:nvSpPr>
              <p:cNvPr id="22" name="TextBox 22"/>
              <p:cNvSpPr txBox="1"/>
              <p:nvPr/>
            </p:nvSpPr>
            <p:spPr>
              <a:xfrm>
                <a:off x="1062038" y="3578542"/>
                <a:ext cx="1285875"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前后端具体开发</a:t>
                </a:r>
              </a:p>
            </p:txBody>
          </p:sp>
          <p:sp>
            <p:nvSpPr>
              <p:cNvPr id="23" name="Rectangle 23"/>
              <p:cNvSpPr/>
              <p:nvPr/>
            </p:nvSpPr>
            <p:spPr>
              <a:xfrm>
                <a:off x="2609850" y="3505200"/>
                <a:ext cx="1409700" cy="323850"/>
              </a:xfrm>
              <a:prstGeom prst="roundRect">
                <a:avLst>
                  <a:gd name="adj" fmla="val 50000"/>
                </a:avLst>
              </a:prstGeom>
              <a:solidFill>
                <a:schemeClr val="lt1"/>
              </a:solidFill>
              <a:ln>
                <a:noFill/>
              </a:ln>
            </p:spPr>
          </p:sp>
          <p:sp>
            <p:nvSpPr>
              <p:cNvPr id="24" name="TextBox 24"/>
              <p:cNvSpPr txBox="1"/>
              <p:nvPr/>
            </p:nvSpPr>
            <p:spPr>
              <a:xfrm>
                <a:off x="2760574" y="3578542"/>
                <a:ext cx="1108253"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API 接口设计</a:t>
                </a:r>
              </a:p>
            </p:txBody>
          </p:sp>
          <p:sp>
            <p:nvSpPr>
              <p:cNvPr id="25" name="Rectangle 25"/>
              <p:cNvSpPr/>
              <p:nvPr/>
            </p:nvSpPr>
            <p:spPr>
              <a:xfrm>
                <a:off x="4133850" y="3505200"/>
                <a:ext cx="1400175" cy="323850"/>
              </a:xfrm>
              <a:prstGeom prst="roundRect">
                <a:avLst>
                  <a:gd name="adj" fmla="val 50000"/>
                </a:avLst>
              </a:prstGeom>
              <a:solidFill>
                <a:schemeClr val="lt1"/>
              </a:solidFill>
              <a:ln>
                <a:noFill/>
              </a:ln>
            </p:spPr>
          </p:sp>
          <p:sp>
            <p:nvSpPr>
              <p:cNvPr id="26" name="TextBox 26"/>
              <p:cNvSpPr txBox="1"/>
              <p:nvPr/>
            </p:nvSpPr>
            <p:spPr>
              <a:xfrm>
                <a:off x="4277106" y="3578542"/>
                <a:ext cx="110413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界面原型设计</a:t>
                </a:r>
              </a:p>
            </p:txBody>
          </p:sp>
        </p:grpSp>
        <p:grpSp>
          <p:nvGrpSpPr>
            <p:cNvPr id="34" name="Group 34"/>
            <p:cNvGrpSpPr/>
            <p:nvPr/>
          </p:nvGrpSpPr>
          <p:grpSpPr>
            <a:xfrm>
              <a:off x="914400" y="3943350"/>
              <a:ext cx="4629150" cy="337375"/>
              <a:chOff x="914400" y="3943350"/>
              <a:chExt cx="4629150" cy="337375"/>
            </a:xfrm>
          </p:grpSpPr>
          <p:sp>
            <p:nvSpPr>
              <p:cNvPr id="28" name="Rectangle 28"/>
              <p:cNvSpPr/>
              <p:nvPr/>
            </p:nvSpPr>
            <p:spPr>
              <a:xfrm>
                <a:off x="914400" y="3943350"/>
                <a:ext cx="1581150" cy="323850"/>
              </a:xfrm>
              <a:prstGeom prst="roundRect">
                <a:avLst>
                  <a:gd name="adj" fmla="val 50000"/>
                </a:avLst>
              </a:prstGeom>
              <a:solidFill>
                <a:schemeClr val="lt1"/>
              </a:solidFill>
              <a:ln>
                <a:noFill/>
              </a:ln>
            </p:spPr>
          </p:sp>
          <p:sp>
            <p:nvSpPr>
              <p:cNvPr id="29" name="TextBox 29"/>
              <p:cNvSpPr txBox="1"/>
              <p:nvPr/>
            </p:nvSpPr>
            <p:spPr>
              <a:xfrm>
                <a:off x="1062038" y="4016692"/>
                <a:ext cx="1285875"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数据库测试数据</a:t>
                </a:r>
              </a:p>
            </p:txBody>
          </p:sp>
          <p:sp>
            <p:nvSpPr>
              <p:cNvPr id="30" name="Rectangle 30"/>
              <p:cNvSpPr/>
              <p:nvPr/>
            </p:nvSpPr>
            <p:spPr>
              <a:xfrm>
                <a:off x="2609850" y="3943350"/>
                <a:ext cx="1771650" cy="323850"/>
              </a:xfrm>
              <a:prstGeom prst="roundRect">
                <a:avLst>
                  <a:gd name="adj" fmla="val 50000"/>
                </a:avLst>
              </a:prstGeom>
              <a:solidFill>
                <a:schemeClr val="lt1"/>
              </a:solidFill>
              <a:ln>
                <a:noFill/>
              </a:ln>
            </p:spPr>
          </p:sp>
          <p:sp>
            <p:nvSpPr>
              <p:cNvPr id="31" name="TextBox 31"/>
              <p:cNvSpPr txBox="1"/>
              <p:nvPr/>
            </p:nvSpPr>
            <p:spPr>
              <a:xfrm>
                <a:off x="2761869" y="4016692"/>
                <a:ext cx="146761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项目测试案例设计</a:t>
                </a:r>
              </a:p>
            </p:txBody>
          </p:sp>
          <p:sp>
            <p:nvSpPr>
              <p:cNvPr id="32" name="Rectangle 32"/>
              <p:cNvSpPr/>
              <p:nvPr/>
            </p:nvSpPr>
            <p:spPr>
              <a:xfrm>
                <a:off x="4495800" y="3943350"/>
                <a:ext cx="1047750" cy="323850"/>
              </a:xfrm>
              <a:prstGeom prst="roundRect">
                <a:avLst>
                  <a:gd name="adj" fmla="val 50000"/>
                </a:avLst>
              </a:prstGeom>
              <a:solidFill>
                <a:schemeClr val="lt1"/>
              </a:solidFill>
              <a:ln>
                <a:noFill/>
              </a:ln>
            </p:spPr>
          </p:sp>
          <p:sp>
            <p:nvSpPr>
              <p:cNvPr id="33" name="TextBox 33"/>
              <p:cNvSpPr txBox="1"/>
              <p:nvPr/>
            </p:nvSpPr>
            <p:spPr>
              <a:xfrm>
                <a:off x="4633570" y="4016692"/>
                <a:ext cx="772211"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PPT 制作</a:t>
                </a:r>
              </a:p>
            </p:txBody>
          </p:sp>
        </p:grpSp>
        <p:sp>
          <p:nvSpPr>
            <p:cNvPr id="35" name="TextBox 35"/>
            <p:cNvSpPr txBox="1"/>
            <p:nvPr/>
          </p:nvSpPr>
          <p:spPr>
            <a:xfrm>
              <a:off x="907542" y="4616768"/>
              <a:ext cx="3948322"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交付物：backend/ · frontend/ · docs/api.md</a:t>
              </a:r>
            </a:p>
          </p:txBody>
        </p:sp>
      </p:grpSp>
      <p:grpSp>
        <p:nvGrpSpPr>
          <p:cNvPr id="66" name="Group 66"/>
          <p:cNvGrpSpPr/>
          <p:nvPr/>
        </p:nvGrpSpPr>
        <p:grpSpPr>
          <a:xfrm>
            <a:off x="6248400" y="1905000"/>
            <a:ext cx="5334000" cy="3238500"/>
            <a:chOff x="6248400" y="1905000"/>
            <a:chExt cx="5334000" cy="3238500"/>
          </a:xfrm>
        </p:grpSpPr>
        <p:sp>
          <p:nvSpPr>
            <p:cNvPr id="37" name="Rectangle 37"/>
            <p:cNvSpPr/>
            <p:nvPr/>
          </p:nvSpPr>
          <p:spPr>
            <a:xfrm>
              <a:off x="6248400" y="1905000"/>
              <a:ext cx="5334000" cy="3238500"/>
            </a:xfrm>
            <a:prstGeom prst="roundRect">
              <a:avLst>
                <a:gd name="adj" fmla="val 5294"/>
              </a:avLst>
            </a:prstGeom>
            <a:solidFill>
              <a:schemeClr val="lt2"/>
            </a:solidFill>
            <a:ln>
              <a:noFill/>
            </a:ln>
          </p:spPr>
        </p:sp>
        <p:sp>
          <p:nvSpPr>
            <p:cNvPr id="38" name="Ellipse 38"/>
            <p:cNvSpPr/>
            <p:nvPr/>
          </p:nvSpPr>
          <p:spPr>
            <a:xfrm>
              <a:off x="6553200" y="2247900"/>
              <a:ext cx="533400" cy="533400"/>
            </a:xfrm>
            <a:prstGeom prst="ellipse">
              <a:avLst/>
            </a:prstGeom>
            <a:solidFill>
              <a:schemeClr val="accent3"/>
            </a:solidFill>
            <a:ln>
              <a:noFill/>
            </a:ln>
          </p:spPr>
        </p:sp>
        <p:grpSp>
          <p:nvGrpSpPr>
            <p:cNvPr id="41" name="Group 41"/>
            <p:cNvGrpSpPr/>
            <p:nvPr/>
          </p:nvGrpSpPr>
          <p:grpSpPr>
            <a:xfrm>
              <a:off x="6742113" y="2403475"/>
              <a:ext cx="155575" cy="222250"/>
              <a:chOff x="6742113" y="2403475"/>
              <a:chExt cx="155575" cy="222250"/>
            </a:xfrm>
          </p:grpSpPr>
          <p:sp>
            <p:nvSpPr>
              <p:cNvPr id="39" name="Freeform 39"/>
              <p:cNvSpPr/>
              <p:nvPr/>
            </p:nvSpPr>
            <p:spPr>
              <a:xfrm>
                <a:off x="6764338" y="2403475"/>
                <a:ext cx="111125" cy="111125"/>
              </a:xfrm>
              <a:custGeom>
                <a:avLst/>
                <a:gdLst/>
                <a:ahLst/>
                <a:cxnLst/>
                <a:rect l="l" t="t" r="r" b="b"/>
                <a:pathLst>
                  <a:path w="111125" h="111125">
                    <a:moveTo>
                      <a:pt x="55563" y="0"/>
                    </a:moveTo>
                    <a:cubicBezTo>
                      <a:pt x="86249" y="0"/>
                      <a:pt x="111125" y="24876"/>
                      <a:pt x="111125" y="55563"/>
                    </a:cubicBezTo>
                    <a:cubicBezTo>
                      <a:pt x="111125" y="86249"/>
                      <a:pt x="86249" y="111125"/>
                      <a:pt x="55563" y="111125"/>
                    </a:cubicBezTo>
                    <a:cubicBezTo>
                      <a:pt x="24876" y="111125"/>
                      <a:pt x="0" y="86249"/>
                      <a:pt x="0" y="55563"/>
                    </a:cubicBezTo>
                    <a:lnTo>
                      <a:pt x="56" y="53151"/>
                    </a:lnTo>
                    <a:cubicBezTo>
                      <a:pt x="1347" y="23432"/>
                      <a:pt x="25815" y="2"/>
                      <a:pt x="55563" y="0"/>
                    </a:cubicBezTo>
                    <a:close/>
                  </a:path>
                </a:pathLst>
              </a:custGeom>
              <a:solidFill>
                <a:schemeClr val="lt1"/>
              </a:solidFill>
              <a:ln>
                <a:noFill/>
              </a:ln>
            </p:spPr>
          </p:sp>
          <p:sp>
            <p:nvSpPr>
              <p:cNvPr id="40" name="Freeform 40"/>
              <p:cNvSpPr/>
              <p:nvPr/>
            </p:nvSpPr>
            <p:spPr>
              <a:xfrm>
                <a:off x="6742113" y="2536825"/>
                <a:ext cx="155575" cy="88900"/>
              </a:xfrm>
              <a:custGeom>
                <a:avLst/>
                <a:gdLst/>
                <a:ahLst/>
                <a:cxnLst/>
                <a:rect l="l" t="t" r="r" b="b"/>
                <a:pathLst>
                  <a:path w="155575" h="88900">
                    <a:moveTo>
                      <a:pt x="100013" y="0"/>
                    </a:moveTo>
                    <a:cubicBezTo>
                      <a:pt x="130699" y="0"/>
                      <a:pt x="155575" y="24876"/>
                      <a:pt x="155575" y="55563"/>
                    </a:cubicBezTo>
                    <a:lnTo>
                      <a:pt x="155575" y="66675"/>
                    </a:lnTo>
                    <a:cubicBezTo>
                      <a:pt x="155575" y="78950"/>
                      <a:pt x="145625" y="88900"/>
                      <a:pt x="133350" y="88900"/>
                    </a:cubicBezTo>
                    <a:lnTo>
                      <a:pt x="22225" y="88900"/>
                    </a:lnTo>
                    <a:cubicBezTo>
                      <a:pt x="9950" y="88900"/>
                      <a:pt x="0" y="78950"/>
                      <a:pt x="0" y="66675"/>
                    </a:cubicBezTo>
                    <a:lnTo>
                      <a:pt x="0" y="55563"/>
                    </a:lnTo>
                    <a:cubicBezTo>
                      <a:pt x="0" y="24876"/>
                      <a:pt x="24876" y="0"/>
                      <a:pt x="55563" y="0"/>
                    </a:cubicBezTo>
                    <a:lnTo>
                      <a:pt x="100013" y="0"/>
                    </a:lnTo>
                    <a:close/>
                  </a:path>
                </a:pathLst>
              </a:custGeom>
              <a:solidFill>
                <a:schemeClr val="lt1"/>
              </a:solidFill>
              <a:ln>
                <a:noFill/>
              </a:ln>
            </p:spPr>
          </p:sp>
        </p:grpSp>
        <p:sp>
          <p:nvSpPr>
            <p:cNvPr id="42" name="TextBox 42"/>
            <p:cNvSpPr txBox="1"/>
            <p:nvPr/>
          </p:nvSpPr>
          <p:spPr>
            <a:xfrm>
              <a:off x="7264908" y="2293620"/>
              <a:ext cx="99364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陆佳明</a:t>
              </a:r>
            </a:p>
          </p:txBody>
        </p:sp>
        <p:sp>
          <p:nvSpPr>
            <p:cNvPr id="43" name="TextBox 43"/>
            <p:cNvSpPr txBox="1"/>
            <p:nvPr/>
          </p:nvSpPr>
          <p:spPr>
            <a:xfrm>
              <a:off x="7270242" y="2673668"/>
              <a:ext cx="123135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学号 24050415</a:t>
              </a:r>
            </a:p>
          </p:txBody>
        </p:sp>
        <p:sp>
          <p:nvSpPr>
            <p:cNvPr id="44" name="Line 44"/>
            <p:cNvSpPr/>
            <p:nvPr/>
          </p:nvSpPr>
          <p:spPr>
            <a:xfrm>
              <a:off x="6553200" y="3048000"/>
              <a:ext cx="4724400" cy="9525"/>
            </a:xfrm>
            <a:custGeom>
              <a:avLst/>
              <a:gdLst/>
              <a:ahLst/>
              <a:cxnLst/>
              <a:rect l="l" t="t" r="r" b="b"/>
              <a:pathLst>
                <a:path w="4724400" h="9525">
                  <a:moveTo>
                    <a:pt x="0" y="0"/>
                  </a:moveTo>
                  <a:lnTo>
                    <a:pt x="4724400" y="0"/>
                  </a:lnTo>
                </a:path>
              </a:pathLst>
            </a:custGeom>
            <a:noFill/>
            <a:ln w="9525">
              <a:solidFill>
                <a:schemeClr val="accent6"/>
              </a:solidFill>
            </a:ln>
          </p:spPr>
        </p:sp>
        <p:sp>
          <p:nvSpPr>
            <p:cNvPr id="45" name="TextBox 45"/>
            <p:cNvSpPr txBox="1"/>
            <p:nvPr/>
          </p:nvSpPr>
          <p:spPr>
            <a:xfrm>
              <a:off x="6546342" y="320706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负责内容</a:t>
              </a:r>
            </a:p>
          </p:txBody>
        </p:sp>
        <p:grpSp>
          <p:nvGrpSpPr>
            <p:cNvPr id="54" name="Group 54"/>
            <p:cNvGrpSpPr/>
            <p:nvPr/>
          </p:nvGrpSpPr>
          <p:grpSpPr>
            <a:xfrm>
              <a:off x="6553200" y="3505200"/>
              <a:ext cx="4676775" cy="337375"/>
              <a:chOff x="6553200" y="3505200"/>
              <a:chExt cx="4676775" cy="337375"/>
            </a:xfrm>
          </p:grpSpPr>
          <p:sp>
            <p:nvSpPr>
              <p:cNvPr id="46" name="Rectangle 46"/>
              <p:cNvSpPr/>
              <p:nvPr/>
            </p:nvSpPr>
            <p:spPr>
              <a:xfrm>
                <a:off x="6553200" y="3505200"/>
                <a:ext cx="1038225" cy="323850"/>
              </a:xfrm>
              <a:prstGeom prst="roundRect">
                <a:avLst>
                  <a:gd name="adj" fmla="val 50000"/>
                </a:avLst>
              </a:prstGeom>
              <a:solidFill>
                <a:schemeClr val="lt1"/>
              </a:solidFill>
              <a:ln>
                <a:noFill/>
              </a:ln>
            </p:spPr>
          </p:sp>
          <p:sp>
            <p:nvSpPr>
              <p:cNvPr id="47" name="TextBox 47"/>
              <p:cNvSpPr txBox="1"/>
              <p:nvPr/>
            </p:nvSpPr>
            <p:spPr>
              <a:xfrm>
                <a:off x="6697218" y="3578542"/>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需求分析</a:t>
                </a:r>
              </a:p>
            </p:txBody>
          </p:sp>
          <p:sp>
            <p:nvSpPr>
              <p:cNvPr id="48" name="Rectangle 48"/>
              <p:cNvSpPr/>
              <p:nvPr/>
            </p:nvSpPr>
            <p:spPr>
              <a:xfrm>
                <a:off x="7705725" y="3505200"/>
                <a:ext cx="1038225" cy="323850"/>
              </a:xfrm>
              <a:prstGeom prst="roundRect">
                <a:avLst>
                  <a:gd name="adj" fmla="val 50000"/>
                </a:avLst>
              </a:prstGeom>
              <a:solidFill>
                <a:schemeClr val="lt1"/>
              </a:solidFill>
              <a:ln>
                <a:noFill/>
              </a:ln>
            </p:spPr>
          </p:sp>
          <p:sp>
            <p:nvSpPr>
              <p:cNvPr id="49" name="TextBox 49"/>
              <p:cNvSpPr txBox="1"/>
              <p:nvPr/>
            </p:nvSpPr>
            <p:spPr>
              <a:xfrm>
                <a:off x="7849743" y="3578542"/>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系统设计</a:t>
                </a:r>
              </a:p>
            </p:txBody>
          </p:sp>
          <p:sp>
            <p:nvSpPr>
              <p:cNvPr id="50" name="Rectangle 50"/>
              <p:cNvSpPr/>
              <p:nvPr/>
            </p:nvSpPr>
            <p:spPr>
              <a:xfrm>
                <a:off x="8858250" y="3505200"/>
                <a:ext cx="1038225" cy="323850"/>
              </a:xfrm>
              <a:prstGeom prst="roundRect">
                <a:avLst>
                  <a:gd name="adj" fmla="val 50000"/>
                </a:avLst>
              </a:prstGeom>
              <a:solidFill>
                <a:schemeClr val="lt1"/>
              </a:solidFill>
              <a:ln>
                <a:noFill/>
              </a:ln>
            </p:spPr>
          </p:sp>
          <p:sp>
            <p:nvSpPr>
              <p:cNvPr id="51" name="TextBox 51"/>
              <p:cNvSpPr txBox="1"/>
              <p:nvPr/>
            </p:nvSpPr>
            <p:spPr>
              <a:xfrm>
                <a:off x="9002268" y="3578542"/>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数据分析</a:t>
                </a:r>
              </a:p>
            </p:txBody>
          </p:sp>
          <p:sp>
            <p:nvSpPr>
              <p:cNvPr id="52" name="Rectangle 52"/>
              <p:cNvSpPr/>
              <p:nvPr/>
            </p:nvSpPr>
            <p:spPr>
              <a:xfrm>
                <a:off x="10010775" y="3505200"/>
                <a:ext cx="1219200" cy="323850"/>
              </a:xfrm>
              <a:prstGeom prst="roundRect">
                <a:avLst>
                  <a:gd name="adj" fmla="val 50000"/>
                </a:avLst>
              </a:prstGeom>
              <a:solidFill>
                <a:schemeClr val="lt1"/>
              </a:solidFill>
              <a:ln>
                <a:noFill/>
              </a:ln>
            </p:spPr>
          </p:sp>
          <p:sp>
            <p:nvSpPr>
              <p:cNvPr id="53" name="TextBox 53"/>
              <p:cNvSpPr txBox="1"/>
              <p:nvPr/>
            </p:nvSpPr>
            <p:spPr>
              <a:xfrm>
                <a:off x="10159174" y="3578542"/>
                <a:ext cx="922401"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业务流程图</a:t>
                </a:r>
              </a:p>
            </p:txBody>
          </p:sp>
        </p:grpSp>
        <p:grpSp>
          <p:nvGrpSpPr>
            <p:cNvPr id="61" name="Group 61"/>
            <p:cNvGrpSpPr/>
            <p:nvPr/>
          </p:nvGrpSpPr>
          <p:grpSpPr>
            <a:xfrm>
              <a:off x="6553200" y="3943350"/>
              <a:ext cx="3705225" cy="337375"/>
              <a:chOff x="6553200" y="3943350"/>
              <a:chExt cx="3705225" cy="337375"/>
            </a:xfrm>
          </p:grpSpPr>
          <p:sp>
            <p:nvSpPr>
              <p:cNvPr id="55" name="Rectangle 55"/>
              <p:cNvSpPr/>
              <p:nvPr/>
            </p:nvSpPr>
            <p:spPr>
              <a:xfrm>
                <a:off x="6553200" y="3943350"/>
                <a:ext cx="857250" cy="323850"/>
              </a:xfrm>
              <a:prstGeom prst="roundRect">
                <a:avLst>
                  <a:gd name="adj" fmla="val 50000"/>
                </a:avLst>
              </a:prstGeom>
              <a:solidFill>
                <a:schemeClr val="lt1"/>
              </a:solidFill>
              <a:ln>
                <a:noFill/>
              </a:ln>
            </p:spPr>
          </p:sp>
          <p:sp>
            <p:nvSpPr>
              <p:cNvPr id="56" name="TextBox 56"/>
              <p:cNvSpPr txBox="1"/>
              <p:nvPr/>
            </p:nvSpPr>
            <p:spPr>
              <a:xfrm>
                <a:off x="6691732" y="4016692"/>
                <a:ext cx="580187"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E-R 图</a:t>
                </a:r>
              </a:p>
            </p:txBody>
          </p:sp>
          <p:sp>
            <p:nvSpPr>
              <p:cNvPr id="57" name="Rectangle 57"/>
              <p:cNvSpPr/>
              <p:nvPr/>
            </p:nvSpPr>
            <p:spPr>
              <a:xfrm>
                <a:off x="7524750" y="3943350"/>
                <a:ext cx="1219200" cy="323850"/>
              </a:xfrm>
              <a:prstGeom prst="roundRect">
                <a:avLst>
                  <a:gd name="adj" fmla="val 50000"/>
                </a:avLst>
              </a:prstGeom>
              <a:solidFill>
                <a:schemeClr val="lt1"/>
              </a:solidFill>
              <a:ln>
                <a:noFill/>
              </a:ln>
            </p:spPr>
          </p:sp>
          <p:sp>
            <p:nvSpPr>
              <p:cNvPr id="58" name="TextBox 58"/>
              <p:cNvSpPr txBox="1"/>
              <p:nvPr/>
            </p:nvSpPr>
            <p:spPr>
              <a:xfrm>
                <a:off x="7673149" y="4016692"/>
                <a:ext cx="922401"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程序流程图</a:t>
                </a:r>
              </a:p>
            </p:txBody>
          </p:sp>
          <p:sp>
            <p:nvSpPr>
              <p:cNvPr id="59" name="Rectangle 59"/>
              <p:cNvSpPr/>
              <p:nvPr/>
            </p:nvSpPr>
            <p:spPr>
              <a:xfrm>
                <a:off x="8858250" y="3943350"/>
                <a:ext cx="1400175" cy="323850"/>
              </a:xfrm>
              <a:prstGeom prst="roundRect">
                <a:avLst>
                  <a:gd name="adj" fmla="val 50000"/>
                </a:avLst>
              </a:prstGeom>
              <a:solidFill>
                <a:schemeClr val="lt1"/>
              </a:solidFill>
              <a:ln>
                <a:noFill/>
              </a:ln>
            </p:spPr>
          </p:sp>
          <p:sp>
            <p:nvSpPr>
              <p:cNvPr id="60" name="TextBox 60"/>
              <p:cNvSpPr txBox="1"/>
              <p:nvPr/>
            </p:nvSpPr>
            <p:spPr>
              <a:xfrm>
                <a:off x="9001506" y="4016692"/>
                <a:ext cx="110413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数据库表设计</a:t>
                </a:r>
              </a:p>
            </p:txBody>
          </p:sp>
        </p:grpSp>
        <p:grpSp>
          <p:nvGrpSpPr>
            <p:cNvPr id="64" name="Group 64"/>
            <p:cNvGrpSpPr/>
            <p:nvPr/>
          </p:nvGrpSpPr>
          <p:grpSpPr>
            <a:xfrm>
              <a:off x="6553200" y="4381500"/>
              <a:ext cx="1400175" cy="337375"/>
              <a:chOff x="6553200" y="4381500"/>
              <a:chExt cx="1400175" cy="337375"/>
            </a:xfrm>
          </p:grpSpPr>
          <p:sp>
            <p:nvSpPr>
              <p:cNvPr id="62" name="Rectangle 62"/>
              <p:cNvSpPr/>
              <p:nvPr/>
            </p:nvSpPr>
            <p:spPr>
              <a:xfrm>
                <a:off x="6553200" y="4381500"/>
                <a:ext cx="1400175" cy="323850"/>
              </a:xfrm>
              <a:prstGeom prst="roundRect">
                <a:avLst>
                  <a:gd name="adj" fmla="val 50000"/>
                </a:avLst>
              </a:prstGeom>
              <a:solidFill>
                <a:schemeClr val="lt1"/>
              </a:solidFill>
              <a:ln>
                <a:noFill/>
              </a:ln>
            </p:spPr>
          </p:sp>
          <p:sp>
            <p:nvSpPr>
              <p:cNvPr id="63" name="TextBox 63"/>
              <p:cNvSpPr txBox="1"/>
              <p:nvPr/>
            </p:nvSpPr>
            <p:spPr>
              <a:xfrm>
                <a:off x="6696456" y="4454842"/>
                <a:ext cx="110413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报告主要撰写</a:t>
                </a:r>
              </a:p>
            </p:txBody>
          </p:sp>
        </p:grpSp>
        <p:sp>
          <p:nvSpPr>
            <p:cNvPr id="65" name="TextBox 65"/>
            <p:cNvSpPr txBox="1"/>
            <p:nvPr/>
          </p:nvSpPr>
          <p:spPr>
            <a:xfrm>
              <a:off x="6546342" y="4826318"/>
              <a:ext cx="360456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交付物：需求分析 · ER 图 · 项目报告正文</a:t>
              </a:r>
            </a:p>
          </p:txBody>
        </p:sp>
      </p:grpSp>
      <p:grpSp>
        <p:nvGrpSpPr>
          <p:cNvPr id="69" name="Group 69"/>
          <p:cNvGrpSpPr/>
          <p:nvPr/>
        </p:nvGrpSpPr>
        <p:grpSpPr>
          <a:xfrm>
            <a:off x="609600" y="5334000"/>
            <a:ext cx="10972800" cy="571500"/>
            <a:chOff x="609600" y="5334000"/>
            <a:chExt cx="10972800" cy="571500"/>
          </a:xfrm>
        </p:grpSpPr>
        <p:sp>
          <p:nvSpPr>
            <p:cNvPr id="67" name="Rectangle 67"/>
            <p:cNvSpPr/>
            <p:nvPr/>
          </p:nvSpPr>
          <p:spPr>
            <a:xfrm>
              <a:off x="609600" y="5334000"/>
              <a:ext cx="10972800" cy="571500"/>
            </a:xfrm>
            <a:prstGeom prst="roundRect">
              <a:avLst>
                <a:gd name="adj" fmla="val 30000"/>
              </a:avLst>
            </a:prstGeom>
            <a:solidFill>
              <a:srgbClr val="E7EDF4"/>
            </a:solidFill>
            <a:ln>
              <a:noFill/>
            </a:ln>
          </p:spPr>
        </p:sp>
        <p:sp>
          <p:nvSpPr>
            <p:cNvPr id="68" name="TextBox 68"/>
            <p:cNvSpPr txBox="1"/>
            <p:nvPr/>
          </p:nvSpPr>
          <p:spPr>
            <a:xfrm>
              <a:off x="826770" y="5453062"/>
              <a:ext cx="9412605"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协作方式：接口契约先定后并行，验收数字写死进断言，走查留存截图</a:t>
              </a:r>
            </a:p>
          </p:txBody>
        </p:sp>
      </p:grpSp>
      <p:grpSp>
        <p:nvGrpSpPr>
          <p:cNvPr id="73" name="Group 73"/>
          <p:cNvGrpSpPr/>
          <p:nvPr/>
        </p:nvGrpSpPr>
        <p:grpSpPr>
          <a:xfrm>
            <a:off x="603885" y="6172200"/>
            <a:ext cx="10984230" cy="308134"/>
            <a:chOff x="603885" y="6172200"/>
            <a:chExt cx="10984230" cy="308134"/>
          </a:xfrm>
        </p:grpSpPr>
        <p:sp>
          <p:nvSpPr>
            <p:cNvPr id="70" name="Line 70"/>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71" name="TextBox 71"/>
            <p:cNvSpPr txBox="1"/>
            <p:nvPr/>
          </p:nvSpPr>
          <p:spPr>
            <a:xfrm>
              <a:off x="603885" y="6260306"/>
              <a:ext cx="3351083"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来源：小组成员自述分工 · 交付物见仓库对应目录</a:t>
              </a:r>
            </a:p>
          </p:txBody>
        </p:sp>
        <p:sp>
          <p:nvSpPr>
            <p:cNvPr id="72" name="TextBox 72"/>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05 / 21</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6"/>
            </a:solidFill>
            <a:ln>
              <a:noFill/>
            </a:ln>
          </p:spPr>
        </p:sp>
        <p:sp>
          <p:nvSpPr>
            <p:cNvPr id="3" name="Rectangle 3"/>
            <p:cNvSpPr/>
            <p:nvPr/>
          </p:nvSpPr>
          <p:spPr>
            <a:xfrm>
              <a:off x="914400" y="342900"/>
              <a:ext cx="247650" cy="76200"/>
            </a:xfrm>
            <a:prstGeom prst="roundRect">
              <a:avLst>
                <a:gd name="adj" fmla="val 50000"/>
              </a:avLst>
            </a:prstGeom>
            <a:solidFill>
              <a:schemeClr val="accent6"/>
            </a:solidFill>
            <a:ln>
              <a:noFill/>
            </a:ln>
          </p:spPr>
        </p:sp>
        <p:sp>
          <p:nvSpPr>
            <p:cNvPr id="4" name="Rectangle 4"/>
            <p:cNvSpPr/>
            <p:nvPr/>
          </p:nvSpPr>
          <p:spPr>
            <a:xfrm>
              <a:off x="1219200" y="342900"/>
              <a:ext cx="247650" cy="76200"/>
            </a:xfrm>
            <a:prstGeom prst="roundRect">
              <a:avLst>
                <a:gd name="adj" fmla="val 50000"/>
              </a:avLst>
            </a:prstGeom>
            <a:solidFill>
              <a:schemeClr val="accent6"/>
            </a:solidFill>
            <a:ln>
              <a:noFill/>
            </a:ln>
          </p:spPr>
        </p:sp>
        <p:sp>
          <p:nvSpPr>
            <p:cNvPr id="5" name="Rectangle 5"/>
            <p:cNvSpPr/>
            <p:nvPr/>
          </p:nvSpPr>
          <p:spPr>
            <a:xfrm>
              <a:off x="1524000" y="342900"/>
              <a:ext cx="247650" cy="76200"/>
            </a:xfrm>
            <a:prstGeom prst="roundRect">
              <a:avLst>
                <a:gd name="adj" fmla="val 50000"/>
              </a:avLst>
            </a:prstGeom>
            <a:solidFill>
              <a:schemeClr val="accent6"/>
            </a:solidFill>
            <a:ln>
              <a:noFill/>
            </a:ln>
          </p:spPr>
        </p:sp>
        <p:sp>
          <p:nvSpPr>
            <p:cNvPr id="6" name="Rectangle 6"/>
            <p:cNvSpPr/>
            <p:nvPr/>
          </p:nvSpPr>
          <p:spPr>
            <a:xfrm>
              <a:off x="1828800" y="342900"/>
              <a:ext cx="247650" cy="76200"/>
            </a:xfrm>
            <a:prstGeom prst="roundRect">
              <a:avLst>
                <a:gd name="adj" fmla="val 50000"/>
              </a:avLst>
            </a:prstGeom>
            <a:solidFill>
              <a:schemeClr val="accent6"/>
            </a:solidFill>
            <a:ln>
              <a:noFill/>
            </a:ln>
          </p:spPr>
        </p:sp>
        <p:sp>
          <p:nvSpPr>
            <p:cNvPr id="7" name="Rectangle 7"/>
            <p:cNvSpPr/>
            <p:nvPr/>
          </p:nvSpPr>
          <p:spPr>
            <a:xfrm>
              <a:off x="2133600" y="342900"/>
              <a:ext cx="247650" cy="76200"/>
            </a:xfrm>
            <a:prstGeom prst="roundRect">
              <a:avLst>
                <a:gd name="adj" fmla="val 50000"/>
              </a:avLst>
            </a:prstGeom>
            <a:solidFill>
              <a:schemeClr val="accent6"/>
            </a:solidFill>
            <a:ln>
              <a:noFill/>
            </a:ln>
          </p:spPr>
        </p:sp>
        <p:sp>
          <p:nvSpPr>
            <p:cNvPr id="8" name="TextBox 8"/>
            <p:cNvSpPr txBox="1"/>
            <p:nvPr/>
          </p:nvSpPr>
          <p:spPr>
            <a:xfrm>
              <a:off x="2507742" y="311468"/>
              <a:ext cx="113139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二 · 需求分析</a:t>
              </a:r>
            </a:p>
          </p:txBody>
        </p:sp>
        <p:sp>
          <p:nvSpPr>
            <p:cNvPr id="9" name="TextBox 9"/>
            <p:cNvSpPr txBox="1"/>
            <p:nvPr/>
          </p:nvSpPr>
          <p:spPr>
            <a:xfrm>
              <a:off x="593598" y="726758"/>
              <a:ext cx="512064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三类角色与十四个功能模块</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6" name="Group 26"/>
          <p:cNvGrpSpPr/>
          <p:nvPr/>
        </p:nvGrpSpPr>
        <p:grpSpPr>
          <a:xfrm>
            <a:off x="609600" y="1600200"/>
            <a:ext cx="10953750" cy="838200"/>
            <a:chOff x="609600" y="1600200"/>
            <a:chExt cx="10953750" cy="838200"/>
          </a:xfrm>
        </p:grpSpPr>
        <p:sp>
          <p:nvSpPr>
            <p:cNvPr id="12" name="Rectangle 12"/>
            <p:cNvSpPr/>
            <p:nvPr/>
          </p:nvSpPr>
          <p:spPr>
            <a:xfrm>
              <a:off x="609600" y="1600200"/>
              <a:ext cx="3448050" cy="838200"/>
            </a:xfrm>
            <a:prstGeom prst="roundRect">
              <a:avLst>
                <a:gd name="adj" fmla="val 20455"/>
              </a:avLst>
            </a:prstGeom>
            <a:solidFill>
              <a:srgbClr val="E7EDF4"/>
            </a:solidFill>
            <a:ln>
              <a:noFill/>
            </a:ln>
          </p:spPr>
        </p:sp>
        <p:sp>
          <p:nvSpPr>
            <p:cNvPr id="13" name="Freeform 13"/>
            <p:cNvSpPr/>
            <p:nvPr/>
          </p:nvSpPr>
          <p:spPr>
            <a:xfrm>
              <a:off x="816065" y="1773237"/>
              <a:ext cx="215709" cy="206485"/>
            </a:xfrm>
            <a:custGeom>
              <a:avLst/>
              <a:gdLst/>
              <a:ahLst/>
              <a:cxnLst/>
              <a:rect l="l" t="t" r="r" b="b"/>
              <a:pathLst>
                <a:path w="215709" h="206485">
                  <a:moveTo>
                    <a:pt x="107839" y="0"/>
                  </a:moveTo>
                  <a:lnTo>
                    <a:pt x="109056" y="72"/>
                  </a:lnTo>
                  <a:lnTo>
                    <a:pt x="109665" y="155"/>
                  </a:lnTo>
                  <a:lnTo>
                    <a:pt x="110295" y="289"/>
                  </a:lnTo>
                  <a:lnTo>
                    <a:pt x="111440" y="640"/>
                  </a:lnTo>
                  <a:cubicBezTo>
                    <a:pt x="112231" y="931"/>
                    <a:pt x="112983" y="1320"/>
                    <a:pt x="113679" y="1795"/>
                  </a:cubicBezTo>
                  <a:lnTo>
                    <a:pt x="114752" y="2642"/>
                  </a:lnTo>
                  <a:lnTo>
                    <a:pt x="117384" y="4891"/>
                  </a:lnTo>
                  <a:cubicBezTo>
                    <a:pt x="138200" y="22181"/>
                    <a:pt x="164508" y="31465"/>
                    <a:pt x="191565" y="31070"/>
                  </a:cubicBezTo>
                  <a:lnTo>
                    <a:pt x="195094" y="30966"/>
                  </a:lnTo>
                  <a:cubicBezTo>
                    <a:pt x="199842" y="30750"/>
                    <a:pt x="204124" y="33805"/>
                    <a:pt x="205464" y="38365"/>
                  </a:cubicBezTo>
                  <a:cubicBezTo>
                    <a:pt x="215709" y="73214"/>
                    <a:pt x="211383" y="110728"/>
                    <a:pt x="193475" y="142331"/>
                  </a:cubicBezTo>
                  <a:cubicBezTo>
                    <a:pt x="175568" y="173934"/>
                    <a:pt x="145610" y="196923"/>
                    <a:pt x="110449" y="206044"/>
                  </a:cubicBezTo>
                  <a:cubicBezTo>
                    <a:pt x="108751" y="206485"/>
                    <a:pt x="106968" y="206485"/>
                    <a:pt x="105269" y="206044"/>
                  </a:cubicBezTo>
                  <a:cubicBezTo>
                    <a:pt x="70107" y="196926"/>
                    <a:pt x="40147" y="173937"/>
                    <a:pt x="22237" y="142334"/>
                  </a:cubicBezTo>
                  <a:cubicBezTo>
                    <a:pt x="4327" y="110731"/>
                    <a:pt x="0" y="73216"/>
                    <a:pt x="10244" y="38365"/>
                  </a:cubicBezTo>
                  <a:cubicBezTo>
                    <a:pt x="11585" y="33805"/>
                    <a:pt x="15866" y="30750"/>
                    <a:pt x="20615" y="30966"/>
                  </a:cubicBezTo>
                  <a:cubicBezTo>
                    <a:pt x="48862" y="32258"/>
                    <a:pt x="76574" y="22959"/>
                    <a:pt x="98325" y="4891"/>
                  </a:cubicBezTo>
                  <a:lnTo>
                    <a:pt x="101039" y="2569"/>
                  </a:lnTo>
                  <a:lnTo>
                    <a:pt x="102029" y="1795"/>
                  </a:lnTo>
                  <a:cubicBezTo>
                    <a:pt x="102725" y="1320"/>
                    <a:pt x="103477" y="931"/>
                    <a:pt x="104269" y="640"/>
                  </a:cubicBezTo>
                  <a:lnTo>
                    <a:pt x="105424" y="289"/>
                  </a:lnTo>
                  <a:cubicBezTo>
                    <a:pt x="105829" y="191"/>
                    <a:pt x="106239" y="119"/>
                    <a:pt x="106652" y="72"/>
                  </a:cubicBezTo>
                  <a:lnTo>
                    <a:pt x="107839" y="0"/>
                  </a:lnTo>
                  <a:close/>
                  <a:moveTo>
                    <a:pt x="107859" y="72231"/>
                  </a:moveTo>
                  <a:cubicBezTo>
                    <a:pt x="97060" y="72228"/>
                    <a:pt x="88084" y="80551"/>
                    <a:pt x="87274" y="91321"/>
                  </a:cubicBezTo>
                  <a:lnTo>
                    <a:pt x="87222" y="92868"/>
                  </a:lnTo>
                  <a:lnTo>
                    <a:pt x="87274" y="94416"/>
                  </a:lnTo>
                  <a:cubicBezTo>
                    <a:pt x="87790" y="101217"/>
                    <a:pt x="91633" y="107323"/>
                    <a:pt x="97541" y="110730"/>
                  </a:cubicBezTo>
                  <a:lnTo>
                    <a:pt x="97541" y="128984"/>
                  </a:lnTo>
                  <a:lnTo>
                    <a:pt x="97613" y="130191"/>
                  </a:lnTo>
                  <a:cubicBezTo>
                    <a:pt x="98258" y="135613"/>
                    <a:pt x="103014" y="139593"/>
                    <a:pt x="108464" y="139274"/>
                  </a:cubicBezTo>
                  <a:cubicBezTo>
                    <a:pt x="113914" y="138954"/>
                    <a:pt x="118172" y="134444"/>
                    <a:pt x="118178" y="128984"/>
                  </a:cubicBezTo>
                  <a:lnTo>
                    <a:pt x="118188" y="110740"/>
                  </a:lnTo>
                  <a:cubicBezTo>
                    <a:pt x="126279" y="106069"/>
                    <a:pt x="130222" y="96545"/>
                    <a:pt x="127802" y="87522"/>
                  </a:cubicBezTo>
                  <a:cubicBezTo>
                    <a:pt x="125382" y="78499"/>
                    <a:pt x="117202" y="72227"/>
                    <a:pt x="107859" y="72231"/>
                  </a:cubicBezTo>
                  <a:close/>
                </a:path>
              </a:pathLst>
            </a:custGeom>
            <a:solidFill>
              <a:schemeClr val="accent1"/>
            </a:solidFill>
            <a:ln>
              <a:noFill/>
            </a:ln>
          </p:spPr>
        </p:sp>
        <p:sp>
          <p:nvSpPr>
            <p:cNvPr id="14" name="TextBox 14"/>
            <p:cNvSpPr txBox="1"/>
            <p:nvPr/>
          </p:nvSpPr>
          <p:spPr>
            <a:xfrm>
              <a:off x="1133856" y="1767840"/>
              <a:ext cx="74523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管理员</a:t>
              </a:r>
            </a:p>
          </p:txBody>
        </p:sp>
        <p:sp>
          <p:nvSpPr>
            <p:cNvPr id="15" name="TextBox 15"/>
            <p:cNvSpPr txBox="1"/>
            <p:nvPr/>
          </p:nvSpPr>
          <p:spPr>
            <a:xfrm>
              <a:off x="793242" y="2102168"/>
              <a:ext cx="167661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账号管理 · 系统设置</a:t>
              </a:r>
            </a:p>
          </p:txBody>
        </p:sp>
        <p:sp>
          <p:nvSpPr>
            <p:cNvPr id="16" name="Rectangle 16"/>
            <p:cNvSpPr/>
            <p:nvPr/>
          </p:nvSpPr>
          <p:spPr>
            <a:xfrm>
              <a:off x="4362450" y="1600200"/>
              <a:ext cx="3448050" cy="838200"/>
            </a:xfrm>
            <a:prstGeom prst="roundRect">
              <a:avLst>
                <a:gd name="adj" fmla="val 20455"/>
              </a:avLst>
            </a:prstGeom>
            <a:solidFill>
              <a:srgbClr val="E7EDF4"/>
            </a:solidFill>
            <a:ln>
              <a:noFill/>
            </a:ln>
          </p:spPr>
        </p:sp>
        <p:sp>
          <p:nvSpPr>
            <p:cNvPr id="17" name="Freeform 17"/>
            <p:cNvSpPr/>
            <p:nvPr/>
          </p:nvSpPr>
          <p:spPr>
            <a:xfrm>
              <a:off x="4583906" y="1788183"/>
              <a:ext cx="181117" cy="181110"/>
            </a:xfrm>
            <a:custGeom>
              <a:avLst/>
              <a:gdLst/>
              <a:ahLst/>
              <a:cxnLst/>
              <a:rect l="l" t="t" r="r" b="b"/>
              <a:pathLst>
                <a:path w="181117" h="181110">
                  <a:moveTo>
                    <a:pt x="93746" y="31489"/>
                  </a:moveTo>
                  <a:lnTo>
                    <a:pt x="149621" y="87365"/>
                  </a:lnTo>
                  <a:lnTo>
                    <a:pt x="58889" y="178087"/>
                  </a:lnTo>
                  <a:cubicBezTo>
                    <a:pt x="56954" y="180022"/>
                    <a:pt x="54330" y="181110"/>
                    <a:pt x="51594" y="181110"/>
                  </a:cubicBezTo>
                  <a:lnTo>
                    <a:pt x="10319" y="181110"/>
                  </a:lnTo>
                  <a:cubicBezTo>
                    <a:pt x="4620" y="181110"/>
                    <a:pt x="0" y="176491"/>
                    <a:pt x="0" y="170792"/>
                  </a:cubicBezTo>
                  <a:lnTo>
                    <a:pt x="0" y="129517"/>
                  </a:lnTo>
                  <a:cubicBezTo>
                    <a:pt x="1" y="126780"/>
                    <a:pt x="1088" y="124156"/>
                    <a:pt x="3023" y="122222"/>
                  </a:cubicBezTo>
                  <a:close/>
                  <a:moveTo>
                    <a:pt x="149529" y="3649"/>
                  </a:moveTo>
                  <a:cubicBezTo>
                    <a:pt x="163162" y="7300"/>
                    <a:pt x="173812" y="17949"/>
                    <a:pt x="177464" y="31582"/>
                  </a:cubicBezTo>
                  <a:cubicBezTo>
                    <a:pt x="181117" y="45216"/>
                    <a:pt x="177218" y="59762"/>
                    <a:pt x="167235" y="69741"/>
                  </a:cubicBezTo>
                  <a:lnTo>
                    <a:pt x="164222" y="72764"/>
                  </a:lnTo>
                  <a:lnTo>
                    <a:pt x="108347" y="16888"/>
                  </a:lnTo>
                  <a:lnTo>
                    <a:pt x="111370" y="13875"/>
                  </a:lnTo>
                  <a:cubicBezTo>
                    <a:pt x="121351" y="3898"/>
                    <a:pt x="135896" y="0"/>
                    <a:pt x="149529" y="3649"/>
                  </a:cubicBezTo>
                </a:path>
              </a:pathLst>
            </a:custGeom>
            <a:solidFill>
              <a:schemeClr val="accent1"/>
            </a:solidFill>
            <a:ln>
              <a:noFill/>
            </a:ln>
          </p:spPr>
        </p:sp>
        <p:sp>
          <p:nvSpPr>
            <p:cNvPr id="18" name="TextBox 18"/>
            <p:cNvSpPr txBox="1"/>
            <p:nvPr/>
          </p:nvSpPr>
          <p:spPr>
            <a:xfrm>
              <a:off x="4886706" y="17678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教师</a:t>
              </a:r>
            </a:p>
          </p:txBody>
        </p:sp>
        <p:sp>
          <p:nvSpPr>
            <p:cNvPr id="19" name="TextBox 19"/>
            <p:cNvSpPr txBox="1"/>
            <p:nvPr/>
          </p:nvSpPr>
          <p:spPr>
            <a:xfrm>
              <a:off x="4546092" y="2102168"/>
              <a:ext cx="266707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题库 · 组卷 · 考试 · 阅卷 · 成绩</a:t>
              </a:r>
            </a:p>
          </p:txBody>
        </p:sp>
        <p:sp>
          <p:nvSpPr>
            <p:cNvPr id="20" name="Rectangle 20"/>
            <p:cNvSpPr/>
            <p:nvPr/>
          </p:nvSpPr>
          <p:spPr>
            <a:xfrm>
              <a:off x="8115300" y="1600200"/>
              <a:ext cx="3448050" cy="838200"/>
            </a:xfrm>
            <a:prstGeom prst="roundRect">
              <a:avLst>
                <a:gd name="adj" fmla="val 20455"/>
              </a:avLst>
            </a:prstGeom>
            <a:solidFill>
              <a:srgbClr val="E7EDF4"/>
            </a:solidFill>
            <a:ln>
              <a:noFill/>
            </a:ln>
          </p:spPr>
        </p:sp>
        <p:grpSp>
          <p:nvGrpSpPr>
            <p:cNvPr id="23" name="Group 23"/>
            <p:cNvGrpSpPr/>
            <p:nvPr/>
          </p:nvGrpSpPr>
          <p:grpSpPr>
            <a:xfrm>
              <a:off x="8357394" y="1773237"/>
              <a:ext cx="144462" cy="206375"/>
              <a:chOff x="8357394" y="1773237"/>
              <a:chExt cx="144462" cy="206375"/>
            </a:xfrm>
          </p:grpSpPr>
          <p:sp>
            <p:nvSpPr>
              <p:cNvPr id="21" name="Freeform 21"/>
              <p:cNvSpPr/>
              <p:nvPr/>
            </p:nvSpPr>
            <p:spPr>
              <a:xfrm>
                <a:off x="8378031" y="1773237"/>
                <a:ext cx="103187" cy="103187"/>
              </a:xfrm>
              <a:custGeom>
                <a:avLst/>
                <a:gdLst/>
                <a:ahLst/>
                <a:cxnLst/>
                <a:rect l="l" t="t" r="r" b="b"/>
                <a:pathLst>
                  <a:path w="103187" h="103187">
                    <a:moveTo>
                      <a:pt x="51594" y="0"/>
                    </a:moveTo>
                    <a:cubicBezTo>
                      <a:pt x="80088" y="0"/>
                      <a:pt x="103187" y="23099"/>
                      <a:pt x="103187" y="51594"/>
                    </a:cubicBezTo>
                    <a:cubicBezTo>
                      <a:pt x="103187" y="80088"/>
                      <a:pt x="80088" y="103187"/>
                      <a:pt x="51594" y="103187"/>
                    </a:cubicBezTo>
                    <a:cubicBezTo>
                      <a:pt x="23099" y="103187"/>
                      <a:pt x="0" y="80088"/>
                      <a:pt x="0" y="51594"/>
                    </a:cubicBezTo>
                    <a:lnTo>
                      <a:pt x="52" y="49354"/>
                    </a:lnTo>
                    <a:cubicBezTo>
                      <a:pt x="1250" y="21758"/>
                      <a:pt x="23971" y="2"/>
                      <a:pt x="51594" y="0"/>
                    </a:cubicBezTo>
                    <a:close/>
                  </a:path>
                </a:pathLst>
              </a:custGeom>
              <a:solidFill>
                <a:schemeClr val="accent1"/>
              </a:solidFill>
              <a:ln>
                <a:noFill/>
              </a:ln>
            </p:spPr>
          </p:sp>
          <p:sp>
            <p:nvSpPr>
              <p:cNvPr id="22" name="Freeform 22"/>
              <p:cNvSpPr/>
              <p:nvPr/>
            </p:nvSpPr>
            <p:spPr>
              <a:xfrm>
                <a:off x="8357394" y="1897062"/>
                <a:ext cx="144462" cy="82550"/>
              </a:xfrm>
              <a:custGeom>
                <a:avLst/>
                <a:gdLst/>
                <a:ahLst/>
                <a:cxnLst/>
                <a:rect l="l" t="t" r="r" b="b"/>
                <a:pathLst>
                  <a:path w="144462" h="82550">
                    <a:moveTo>
                      <a:pt x="92868" y="0"/>
                    </a:moveTo>
                    <a:cubicBezTo>
                      <a:pt x="121363" y="0"/>
                      <a:pt x="144462" y="23099"/>
                      <a:pt x="144462" y="51594"/>
                    </a:cubicBezTo>
                    <a:lnTo>
                      <a:pt x="144462" y="61912"/>
                    </a:lnTo>
                    <a:cubicBezTo>
                      <a:pt x="144462" y="73310"/>
                      <a:pt x="135222" y="82550"/>
                      <a:pt x="123825" y="82550"/>
                    </a:cubicBezTo>
                    <a:lnTo>
                      <a:pt x="20637" y="82550"/>
                    </a:lnTo>
                    <a:cubicBezTo>
                      <a:pt x="9240" y="82550"/>
                      <a:pt x="0" y="73310"/>
                      <a:pt x="0" y="61912"/>
                    </a:cubicBezTo>
                    <a:lnTo>
                      <a:pt x="0" y="51594"/>
                    </a:lnTo>
                    <a:cubicBezTo>
                      <a:pt x="0" y="23099"/>
                      <a:pt x="23099" y="0"/>
                      <a:pt x="51594" y="0"/>
                    </a:cubicBezTo>
                    <a:lnTo>
                      <a:pt x="92868" y="0"/>
                    </a:lnTo>
                    <a:close/>
                  </a:path>
                </a:pathLst>
              </a:custGeom>
              <a:solidFill>
                <a:schemeClr val="accent1"/>
              </a:solidFill>
              <a:ln>
                <a:noFill/>
              </a:ln>
            </p:spPr>
          </p:sp>
        </p:grpSp>
        <p:sp>
          <p:nvSpPr>
            <p:cNvPr id="24" name="TextBox 24"/>
            <p:cNvSpPr txBox="1"/>
            <p:nvPr/>
          </p:nvSpPr>
          <p:spPr>
            <a:xfrm>
              <a:off x="8639556" y="17678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学生</a:t>
              </a:r>
            </a:p>
          </p:txBody>
        </p:sp>
        <p:sp>
          <p:nvSpPr>
            <p:cNvPr id="25" name="TextBox 25"/>
            <p:cNvSpPr txBox="1"/>
            <p:nvPr/>
          </p:nvSpPr>
          <p:spPr>
            <a:xfrm>
              <a:off x="8298942" y="2102168"/>
              <a:ext cx="188560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答题 · 查分 · 错题重练</a:t>
              </a:r>
            </a:p>
          </p:txBody>
        </p:sp>
      </p:grpSp>
      <p:grpSp>
        <p:nvGrpSpPr>
          <p:cNvPr id="70" name="Group 70"/>
          <p:cNvGrpSpPr/>
          <p:nvPr/>
        </p:nvGrpSpPr>
        <p:grpSpPr>
          <a:xfrm>
            <a:off x="609600" y="2743200"/>
            <a:ext cx="10972800" cy="2686050"/>
            <a:chOff x="609600" y="2743200"/>
            <a:chExt cx="10972800" cy="2686050"/>
          </a:xfrm>
        </p:grpSpPr>
        <p:grpSp>
          <p:nvGrpSpPr>
            <p:cNvPr id="33" name="Group 33"/>
            <p:cNvGrpSpPr/>
            <p:nvPr/>
          </p:nvGrpSpPr>
          <p:grpSpPr>
            <a:xfrm>
              <a:off x="609600" y="2743200"/>
              <a:ext cx="10972800" cy="476250"/>
              <a:chOff x="609600" y="2743200"/>
              <a:chExt cx="10972800" cy="476250"/>
            </a:xfrm>
          </p:grpSpPr>
          <p:sp>
            <p:nvSpPr>
              <p:cNvPr id="27" name="Rectangle 27"/>
              <p:cNvSpPr/>
              <p:nvPr/>
            </p:nvSpPr>
            <p:spPr>
              <a:xfrm>
                <a:off x="609600" y="2743200"/>
                <a:ext cx="10972800" cy="476250"/>
              </a:xfrm>
              <a:prstGeom prst="roundRect">
                <a:avLst>
                  <a:gd name="adj" fmla="val 28000"/>
                </a:avLst>
              </a:prstGeom>
              <a:solidFill>
                <a:schemeClr val="lt2"/>
              </a:solidFill>
              <a:ln>
                <a:noFill/>
              </a:ln>
            </p:spPr>
          </p:sp>
          <p:sp>
            <p:nvSpPr>
              <p:cNvPr id="28" name="TextBox 28"/>
              <p:cNvSpPr txBox="1"/>
              <p:nvPr/>
            </p:nvSpPr>
            <p:spPr>
              <a:xfrm>
                <a:off x="831342" y="2902268"/>
                <a:ext cx="92240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认证与用户</a:t>
                </a:r>
              </a:p>
            </p:txBody>
          </p:sp>
          <p:sp>
            <p:nvSpPr>
              <p:cNvPr id="29" name="Rectangle 29"/>
              <p:cNvSpPr/>
              <p:nvPr/>
            </p:nvSpPr>
            <p:spPr>
              <a:xfrm>
                <a:off x="2095500" y="2819400"/>
                <a:ext cx="1219200" cy="323850"/>
              </a:xfrm>
              <a:prstGeom prst="roundRect">
                <a:avLst>
                  <a:gd name="adj" fmla="val 50000"/>
                </a:avLst>
              </a:prstGeom>
              <a:solidFill>
                <a:schemeClr val="lt1"/>
              </a:solidFill>
              <a:ln>
                <a:noFill/>
              </a:ln>
            </p:spPr>
          </p:sp>
          <p:sp>
            <p:nvSpPr>
              <p:cNvPr id="30" name="TextBox 30"/>
              <p:cNvSpPr txBox="1"/>
              <p:nvPr/>
            </p:nvSpPr>
            <p:spPr>
              <a:xfrm>
                <a:off x="2243900" y="2892742"/>
                <a:ext cx="922401"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认证与权限</a:t>
                </a:r>
              </a:p>
            </p:txBody>
          </p:sp>
          <p:sp>
            <p:nvSpPr>
              <p:cNvPr id="31" name="Rectangle 31"/>
              <p:cNvSpPr/>
              <p:nvPr/>
            </p:nvSpPr>
            <p:spPr>
              <a:xfrm>
                <a:off x="3429000" y="2819400"/>
                <a:ext cx="1038225" cy="323850"/>
              </a:xfrm>
              <a:prstGeom prst="roundRect">
                <a:avLst>
                  <a:gd name="adj" fmla="val 50000"/>
                </a:avLst>
              </a:prstGeom>
              <a:solidFill>
                <a:schemeClr val="lt1"/>
              </a:solidFill>
              <a:ln>
                <a:noFill/>
              </a:ln>
            </p:spPr>
          </p:sp>
          <p:sp>
            <p:nvSpPr>
              <p:cNvPr id="32" name="TextBox 32"/>
              <p:cNvSpPr txBox="1"/>
              <p:nvPr/>
            </p:nvSpPr>
            <p:spPr>
              <a:xfrm>
                <a:off x="3573018" y="2892742"/>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用户管理</a:t>
                </a:r>
              </a:p>
            </p:txBody>
          </p:sp>
        </p:grpSp>
        <p:grpSp>
          <p:nvGrpSpPr>
            <p:cNvPr id="40" name="Group 40"/>
            <p:cNvGrpSpPr/>
            <p:nvPr/>
          </p:nvGrpSpPr>
          <p:grpSpPr>
            <a:xfrm>
              <a:off x="609600" y="3295650"/>
              <a:ext cx="10972800" cy="476250"/>
              <a:chOff x="609600" y="3295650"/>
              <a:chExt cx="10972800" cy="476250"/>
            </a:xfrm>
          </p:grpSpPr>
          <p:sp>
            <p:nvSpPr>
              <p:cNvPr id="34" name="Rectangle 34"/>
              <p:cNvSpPr/>
              <p:nvPr/>
            </p:nvSpPr>
            <p:spPr>
              <a:xfrm>
                <a:off x="609600" y="3295650"/>
                <a:ext cx="10972800" cy="476250"/>
              </a:xfrm>
              <a:prstGeom prst="roundRect">
                <a:avLst>
                  <a:gd name="adj" fmla="val 28000"/>
                </a:avLst>
              </a:prstGeom>
              <a:solidFill>
                <a:schemeClr val="lt2"/>
              </a:solidFill>
              <a:ln>
                <a:noFill/>
              </a:ln>
            </p:spPr>
          </p:sp>
          <p:sp>
            <p:nvSpPr>
              <p:cNvPr id="35" name="TextBox 35"/>
              <p:cNvSpPr txBox="1"/>
              <p:nvPr/>
            </p:nvSpPr>
            <p:spPr>
              <a:xfrm>
                <a:off x="831342" y="3454718"/>
                <a:ext cx="92240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题库与试卷</a:t>
                </a:r>
              </a:p>
            </p:txBody>
          </p:sp>
          <p:sp>
            <p:nvSpPr>
              <p:cNvPr id="36" name="Rectangle 36"/>
              <p:cNvSpPr/>
              <p:nvPr/>
            </p:nvSpPr>
            <p:spPr>
              <a:xfrm>
                <a:off x="2095500" y="3371850"/>
                <a:ext cx="2305050" cy="323850"/>
              </a:xfrm>
              <a:prstGeom prst="roundRect">
                <a:avLst>
                  <a:gd name="adj" fmla="val 50000"/>
                </a:avLst>
              </a:prstGeom>
              <a:solidFill>
                <a:schemeClr val="lt1"/>
              </a:solidFill>
              <a:ln>
                <a:noFill/>
              </a:ln>
            </p:spPr>
          </p:sp>
          <p:sp>
            <p:nvSpPr>
              <p:cNvPr id="37" name="TextBox 37"/>
              <p:cNvSpPr txBox="1"/>
              <p:nvPr/>
            </p:nvSpPr>
            <p:spPr>
              <a:xfrm>
                <a:off x="2332482" y="3445192"/>
                <a:ext cx="1831086"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题库：5 题型 + 知识点</a:t>
                </a:r>
              </a:p>
            </p:txBody>
          </p:sp>
          <p:sp>
            <p:nvSpPr>
              <p:cNvPr id="38" name="Rectangle 38"/>
              <p:cNvSpPr/>
              <p:nvPr/>
            </p:nvSpPr>
            <p:spPr>
              <a:xfrm>
                <a:off x="4514850" y="3371850"/>
                <a:ext cx="3114675" cy="323850"/>
              </a:xfrm>
              <a:prstGeom prst="roundRect">
                <a:avLst>
                  <a:gd name="adj" fmla="val 50000"/>
                </a:avLst>
              </a:prstGeom>
              <a:solidFill>
                <a:schemeClr val="lt1"/>
              </a:solidFill>
              <a:ln>
                <a:noFill/>
              </a:ln>
            </p:spPr>
          </p:sp>
          <p:sp>
            <p:nvSpPr>
              <p:cNvPr id="39" name="TextBox 39"/>
              <p:cNvSpPr txBox="1"/>
              <p:nvPr/>
            </p:nvSpPr>
            <p:spPr>
              <a:xfrm>
                <a:off x="4747517" y="3445192"/>
                <a:ext cx="2639816"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试卷：选题 · 分值 · 预览 · 发布</a:t>
                </a:r>
              </a:p>
            </p:txBody>
          </p:sp>
        </p:grpSp>
        <p:grpSp>
          <p:nvGrpSpPr>
            <p:cNvPr id="49" name="Group 49"/>
            <p:cNvGrpSpPr/>
            <p:nvPr/>
          </p:nvGrpSpPr>
          <p:grpSpPr>
            <a:xfrm>
              <a:off x="609600" y="3848100"/>
              <a:ext cx="10972800" cy="476250"/>
              <a:chOff x="609600" y="3848100"/>
              <a:chExt cx="10972800" cy="476250"/>
            </a:xfrm>
          </p:grpSpPr>
          <p:sp>
            <p:nvSpPr>
              <p:cNvPr id="41" name="Rectangle 41"/>
              <p:cNvSpPr/>
              <p:nvPr/>
            </p:nvSpPr>
            <p:spPr>
              <a:xfrm>
                <a:off x="609600" y="3848100"/>
                <a:ext cx="10972800" cy="476250"/>
              </a:xfrm>
              <a:prstGeom prst="roundRect">
                <a:avLst>
                  <a:gd name="adj" fmla="val 28000"/>
                </a:avLst>
              </a:prstGeom>
              <a:solidFill>
                <a:schemeClr val="lt2"/>
              </a:solidFill>
              <a:ln>
                <a:noFill/>
              </a:ln>
            </p:spPr>
          </p:sp>
          <p:sp>
            <p:nvSpPr>
              <p:cNvPr id="42" name="TextBox 42"/>
              <p:cNvSpPr txBox="1"/>
              <p:nvPr/>
            </p:nvSpPr>
            <p:spPr>
              <a:xfrm>
                <a:off x="831342" y="4007168"/>
                <a:ext cx="922401"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考试与评分</a:t>
                </a:r>
              </a:p>
            </p:txBody>
          </p:sp>
          <p:sp>
            <p:nvSpPr>
              <p:cNvPr id="43" name="Rectangle 43"/>
              <p:cNvSpPr/>
              <p:nvPr/>
            </p:nvSpPr>
            <p:spPr>
              <a:xfrm>
                <a:off x="2095500" y="3924300"/>
                <a:ext cx="3038475" cy="323850"/>
              </a:xfrm>
              <a:prstGeom prst="roundRect">
                <a:avLst>
                  <a:gd name="adj" fmla="val 50000"/>
                </a:avLst>
              </a:prstGeom>
              <a:solidFill>
                <a:schemeClr val="lt1"/>
              </a:solidFill>
              <a:ln>
                <a:noFill/>
              </a:ln>
            </p:spPr>
          </p:sp>
          <p:sp>
            <p:nvSpPr>
              <p:cNvPr id="44" name="TextBox 44"/>
              <p:cNvSpPr txBox="1"/>
              <p:nvPr/>
            </p:nvSpPr>
            <p:spPr>
              <a:xfrm>
                <a:off x="2303697" y="3997642"/>
                <a:ext cx="2612555"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考试：开放时间 · 倒计时 · 交卷</a:t>
                </a:r>
              </a:p>
            </p:txBody>
          </p:sp>
          <p:sp>
            <p:nvSpPr>
              <p:cNvPr id="45" name="Rectangle 45"/>
              <p:cNvSpPr/>
              <p:nvPr/>
            </p:nvSpPr>
            <p:spPr>
              <a:xfrm>
                <a:off x="5248275" y="3924300"/>
                <a:ext cx="2590800" cy="323850"/>
              </a:xfrm>
              <a:prstGeom prst="roundRect">
                <a:avLst>
                  <a:gd name="adj" fmla="val 50000"/>
                </a:avLst>
              </a:prstGeom>
              <a:solidFill>
                <a:schemeClr val="lt1"/>
              </a:solidFill>
              <a:ln>
                <a:noFill/>
              </a:ln>
            </p:spPr>
          </p:sp>
          <p:sp>
            <p:nvSpPr>
              <p:cNvPr id="46" name="TextBox 46"/>
              <p:cNvSpPr txBox="1"/>
              <p:nvPr/>
            </p:nvSpPr>
            <p:spPr>
              <a:xfrm>
                <a:off x="5432765" y="3997642"/>
                <a:ext cx="2221821"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评分：客观自动 + 主观人工</a:t>
                </a:r>
              </a:p>
            </p:txBody>
          </p:sp>
          <p:sp>
            <p:nvSpPr>
              <p:cNvPr id="47" name="Rectangle 47"/>
              <p:cNvSpPr/>
              <p:nvPr/>
            </p:nvSpPr>
            <p:spPr>
              <a:xfrm>
                <a:off x="7953375" y="3924300"/>
                <a:ext cx="2486025" cy="323850"/>
              </a:xfrm>
              <a:prstGeom prst="roundRect">
                <a:avLst>
                  <a:gd name="adj" fmla="val 50000"/>
                </a:avLst>
              </a:prstGeom>
              <a:solidFill>
                <a:schemeClr val="lt1"/>
              </a:solidFill>
              <a:ln>
                <a:noFill/>
              </a:ln>
            </p:spPr>
          </p:sp>
          <p:sp>
            <p:nvSpPr>
              <p:cNvPr id="48" name="TextBox 48"/>
              <p:cNvSpPr txBox="1"/>
              <p:nvPr/>
            </p:nvSpPr>
            <p:spPr>
              <a:xfrm>
                <a:off x="8157953" y="3997642"/>
                <a:ext cx="206734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成绩：统计 · 排名 · 公布</a:t>
                </a:r>
              </a:p>
            </p:txBody>
          </p:sp>
        </p:grpSp>
        <p:grpSp>
          <p:nvGrpSpPr>
            <p:cNvPr id="64" name="Group 64"/>
            <p:cNvGrpSpPr/>
            <p:nvPr/>
          </p:nvGrpSpPr>
          <p:grpSpPr>
            <a:xfrm>
              <a:off x="609600" y="4400550"/>
              <a:ext cx="10972800" cy="476250"/>
              <a:chOff x="609600" y="4400550"/>
              <a:chExt cx="10972800" cy="476250"/>
            </a:xfrm>
          </p:grpSpPr>
          <p:sp>
            <p:nvSpPr>
              <p:cNvPr id="50" name="Rectangle 50"/>
              <p:cNvSpPr/>
              <p:nvPr/>
            </p:nvSpPr>
            <p:spPr>
              <a:xfrm>
                <a:off x="609600" y="4400550"/>
                <a:ext cx="10972800" cy="476250"/>
              </a:xfrm>
              <a:prstGeom prst="roundRect">
                <a:avLst>
                  <a:gd name="adj" fmla="val 28000"/>
                </a:avLst>
              </a:prstGeom>
              <a:solidFill>
                <a:schemeClr val="lt2"/>
              </a:solidFill>
              <a:ln>
                <a:noFill/>
              </a:ln>
            </p:spPr>
          </p:sp>
          <p:sp>
            <p:nvSpPr>
              <p:cNvPr id="51" name="TextBox 51"/>
              <p:cNvSpPr txBox="1"/>
              <p:nvPr/>
            </p:nvSpPr>
            <p:spPr>
              <a:xfrm>
                <a:off x="831342" y="4559618"/>
                <a:ext cx="7406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增强功能</a:t>
                </a:r>
              </a:p>
            </p:txBody>
          </p:sp>
          <p:sp>
            <p:nvSpPr>
              <p:cNvPr id="52" name="Rectangle 52"/>
              <p:cNvSpPr/>
              <p:nvPr/>
            </p:nvSpPr>
            <p:spPr>
              <a:xfrm>
                <a:off x="2095500" y="4476750"/>
                <a:ext cx="1314450" cy="323850"/>
              </a:xfrm>
              <a:prstGeom prst="roundRect">
                <a:avLst>
                  <a:gd name="adj" fmla="val 50000"/>
                </a:avLst>
              </a:prstGeom>
              <a:solidFill>
                <a:schemeClr val="lt1"/>
              </a:solidFill>
              <a:ln>
                <a:noFill/>
              </a:ln>
            </p:spPr>
          </p:sp>
          <p:sp>
            <p:nvSpPr>
              <p:cNvPr id="53" name="TextBox 53"/>
              <p:cNvSpPr txBox="1"/>
              <p:nvPr/>
            </p:nvSpPr>
            <p:spPr>
              <a:xfrm>
                <a:off x="2251405" y="4550092"/>
                <a:ext cx="1002640"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AI 辅助出题</a:t>
                </a:r>
              </a:p>
            </p:txBody>
          </p:sp>
          <p:sp>
            <p:nvSpPr>
              <p:cNvPr id="54" name="Rectangle 54"/>
              <p:cNvSpPr/>
              <p:nvPr/>
            </p:nvSpPr>
            <p:spPr>
              <a:xfrm>
                <a:off x="3524250" y="4476750"/>
                <a:ext cx="1038225" cy="323850"/>
              </a:xfrm>
              <a:prstGeom prst="roundRect">
                <a:avLst>
                  <a:gd name="adj" fmla="val 50000"/>
                </a:avLst>
              </a:prstGeom>
              <a:solidFill>
                <a:schemeClr val="lt1"/>
              </a:solidFill>
              <a:ln>
                <a:noFill/>
              </a:ln>
            </p:spPr>
          </p:sp>
          <p:sp>
            <p:nvSpPr>
              <p:cNvPr id="55" name="TextBox 55"/>
              <p:cNvSpPr txBox="1"/>
              <p:nvPr/>
            </p:nvSpPr>
            <p:spPr>
              <a:xfrm>
                <a:off x="3668268" y="4550092"/>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批量导入</a:t>
                </a:r>
              </a:p>
            </p:txBody>
          </p:sp>
          <p:sp>
            <p:nvSpPr>
              <p:cNvPr id="56" name="Rectangle 56"/>
              <p:cNvSpPr/>
              <p:nvPr/>
            </p:nvSpPr>
            <p:spPr>
              <a:xfrm>
                <a:off x="4676775" y="4476750"/>
                <a:ext cx="1400175" cy="323850"/>
              </a:xfrm>
              <a:prstGeom prst="roundRect">
                <a:avLst>
                  <a:gd name="adj" fmla="val 50000"/>
                </a:avLst>
              </a:prstGeom>
              <a:solidFill>
                <a:schemeClr val="lt1"/>
              </a:solidFill>
              <a:ln>
                <a:noFill/>
              </a:ln>
            </p:spPr>
          </p:sp>
          <p:sp>
            <p:nvSpPr>
              <p:cNvPr id="57" name="TextBox 57"/>
              <p:cNvSpPr txBox="1"/>
              <p:nvPr/>
            </p:nvSpPr>
            <p:spPr>
              <a:xfrm>
                <a:off x="4820031" y="4550092"/>
                <a:ext cx="110413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规则自动组卷</a:t>
                </a:r>
              </a:p>
            </p:txBody>
          </p:sp>
          <p:sp>
            <p:nvSpPr>
              <p:cNvPr id="58" name="Rectangle 58"/>
              <p:cNvSpPr/>
              <p:nvPr/>
            </p:nvSpPr>
            <p:spPr>
              <a:xfrm>
                <a:off x="6191250" y="4476750"/>
                <a:ext cx="1038225" cy="323850"/>
              </a:xfrm>
              <a:prstGeom prst="roundRect">
                <a:avLst>
                  <a:gd name="adj" fmla="val 50000"/>
                </a:avLst>
              </a:prstGeom>
              <a:solidFill>
                <a:schemeClr val="lt1"/>
              </a:solidFill>
              <a:ln>
                <a:noFill/>
              </a:ln>
            </p:spPr>
          </p:sp>
          <p:sp>
            <p:nvSpPr>
              <p:cNvPr id="59" name="TextBox 59"/>
              <p:cNvSpPr txBox="1"/>
              <p:nvPr/>
            </p:nvSpPr>
            <p:spPr>
              <a:xfrm>
                <a:off x="6335268" y="4550092"/>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试卷导出</a:t>
                </a:r>
              </a:p>
            </p:txBody>
          </p:sp>
          <p:sp>
            <p:nvSpPr>
              <p:cNvPr id="60" name="Rectangle 60"/>
              <p:cNvSpPr/>
              <p:nvPr/>
            </p:nvSpPr>
            <p:spPr>
              <a:xfrm>
                <a:off x="7343775" y="4476750"/>
                <a:ext cx="1400175" cy="323850"/>
              </a:xfrm>
              <a:prstGeom prst="roundRect">
                <a:avLst>
                  <a:gd name="adj" fmla="val 50000"/>
                </a:avLst>
              </a:prstGeom>
              <a:solidFill>
                <a:schemeClr val="lt1"/>
              </a:solidFill>
              <a:ln>
                <a:noFill/>
              </a:ln>
            </p:spPr>
          </p:sp>
          <p:sp>
            <p:nvSpPr>
              <p:cNvPr id="61" name="TextBox 61"/>
              <p:cNvSpPr txBox="1"/>
              <p:nvPr/>
            </p:nvSpPr>
            <p:spPr>
              <a:xfrm>
                <a:off x="7487031" y="4550092"/>
                <a:ext cx="110413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错题本与重练</a:t>
                </a:r>
              </a:p>
            </p:txBody>
          </p:sp>
          <p:sp>
            <p:nvSpPr>
              <p:cNvPr id="62" name="Rectangle 62"/>
              <p:cNvSpPr/>
              <p:nvPr/>
            </p:nvSpPr>
            <p:spPr>
              <a:xfrm>
                <a:off x="8858250" y="4476750"/>
                <a:ext cx="1038225" cy="323850"/>
              </a:xfrm>
              <a:prstGeom prst="roundRect">
                <a:avLst>
                  <a:gd name="adj" fmla="val 50000"/>
                </a:avLst>
              </a:prstGeom>
              <a:solidFill>
                <a:schemeClr val="lt1"/>
              </a:solidFill>
              <a:ln>
                <a:noFill/>
              </a:ln>
            </p:spPr>
          </p:sp>
          <p:sp>
            <p:nvSpPr>
              <p:cNvPr id="63" name="TextBox 63"/>
              <p:cNvSpPr txBox="1"/>
              <p:nvPr/>
            </p:nvSpPr>
            <p:spPr>
              <a:xfrm>
                <a:off x="9002268" y="4550092"/>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统计分析</a:t>
                </a:r>
              </a:p>
            </p:txBody>
          </p:sp>
        </p:grpSp>
        <p:grpSp>
          <p:nvGrpSpPr>
            <p:cNvPr id="69" name="Group 69"/>
            <p:cNvGrpSpPr/>
            <p:nvPr/>
          </p:nvGrpSpPr>
          <p:grpSpPr>
            <a:xfrm>
              <a:off x="609600" y="4953000"/>
              <a:ext cx="10972800" cy="476250"/>
              <a:chOff x="609600" y="4953000"/>
              <a:chExt cx="10972800" cy="476250"/>
            </a:xfrm>
          </p:grpSpPr>
          <p:sp>
            <p:nvSpPr>
              <p:cNvPr id="65" name="Rectangle 65"/>
              <p:cNvSpPr/>
              <p:nvPr/>
            </p:nvSpPr>
            <p:spPr>
              <a:xfrm>
                <a:off x="609600" y="4953000"/>
                <a:ext cx="10972800" cy="476250"/>
              </a:xfrm>
              <a:prstGeom prst="roundRect">
                <a:avLst>
                  <a:gd name="adj" fmla="val 28000"/>
                </a:avLst>
              </a:prstGeom>
              <a:solidFill>
                <a:schemeClr val="lt2"/>
              </a:solidFill>
              <a:ln>
                <a:noFill/>
              </a:ln>
            </p:spPr>
          </p:sp>
          <p:sp>
            <p:nvSpPr>
              <p:cNvPr id="66" name="TextBox 66"/>
              <p:cNvSpPr txBox="1"/>
              <p:nvPr/>
            </p:nvSpPr>
            <p:spPr>
              <a:xfrm>
                <a:off x="831342" y="5112068"/>
                <a:ext cx="7406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系统设置</a:t>
                </a:r>
              </a:p>
            </p:txBody>
          </p:sp>
          <p:sp>
            <p:nvSpPr>
              <p:cNvPr id="67" name="Rectangle 67"/>
              <p:cNvSpPr/>
              <p:nvPr/>
            </p:nvSpPr>
            <p:spPr>
              <a:xfrm>
                <a:off x="2095500" y="5029200"/>
                <a:ext cx="2314575" cy="323850"/>
              </a:xfrm>
              <a:prstGeom prst="roundRect">
                <a:avLst>
                  <a:gd name="adj" fmla="val 50000"/>
                </a:avLst>
              </a:prstGeom>
              <a:solidFill>
                <a:schemeClr val="lt1"/>
              </a:solidFill>
              <a:ln>
                <a:noFill/>
              </a:ln>
            </p:spPr>
          </p:sp>
          <p:sp>
            <p:nvSpPr>
              <p:cNvPr id="68" name="TextBox 68"/>
              <p:cNvSpPr txBox="1"/>
              <p:nvPr/>
            </p:nvSpPr>
            <p:spPr>
              <a:xfrm>
                <a:off x="2241614" y="5102542"/>
                <a:ext cx="2012823"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六项白名单参数在线可改</a:t>
                </a:r>
              </a:p>
            </p:txBody>
          </p:sp>
        </p:grpSp>
      </p:grpSp>
      <p:grpSp>
        <p:nvGrpSpPr>
          <p:cNvPr id="72" name="Group 72"/>
          <p:cNvGrpSpPr/>
          <p:nvPr/>
        </p:nvGrpSpPr>
        <p:grpSpPr>
          <a:xfrm>
            <a:off x="600456" y="5711190"/>
            <a:ext cx="7084771" cy="352044"/>
            <a:chOff x="600456" y="5711190"/>
            <a:chExt cx="7084771" cy="352044"/>
          </a:xfrm>
        </p:grpSpPr>
        <p:sp>
          <p:nvSpPr>
            <p:cNvPr id="71" name="TextBox 71"/>
            <p:cNvSpPr txBox="1"/>
            <p:nvPr/>
          </p:nvSpPr>
          <p:spPr>
            <a:xfrm>
              <a:off x="600456" y="5711190"/>
              <a:ext cx="7084771" cy="352044"/>
            </a:xfrm>
            <a:prstGeom prst="rect">
              <a:avLst/>
            </a:prstGeom>
            <a:noFill/>
            <a:ln>
              <a:noFill/>
            </a:ln>
          </p:spPr>
          <p:txBody>
            <a:bodyPr wrap="none" lIns="0" tIns="0" rIns="0" bIns="0" anchor="t" anchorCtr="0">
              <a:spAutoFit/>
            </a:bodyPr>
            <a:lstStyle/>
            <a:p>
              <a:pPr algn="l"/>
              <a:r>
                <a:rPr lang="zh-CN" sz="1800" dirty="0">
                  <a:solidFill>
                    <a:srgbClr val="C62828"/>
                  </a:solidFill>
                  <a:latin typeface="+mn-lt"/>
                  <a:ea typeface="+mn-ea"/>
                  <a:cs typeface="+mn-cs"/>
                </a:rPr>
                <a:t>明确排除：在线监考 · AI 主观题评分 · 支付 · 第三方教务集成</a:t>
              </a:r>
            </a:p>
          </p:txBody>
        </p:sp>
      </p:grpSp>
      <p:grpSp>
        <p:nvGrpSpPr>
          <p:cNvPr id="76" name="Group 76"/>
          <p:cNvGrpSpPr/>
          <p:nvPr/>
        </p:nvGrpSpPr>
        <p:grpSpPr>
          <a:xfrm>
            <a:off x="603885" y="6172200"/>
            <a:ext cx="10984230" cy="308134"/>
            <a:chOff x="603885" y="6172200"/>
            <a:chExt cx="10984230" cy="308134"/>
          </a:xfrm>
        </p:grpSpPr>
        <p:sp>
          <p:nvSpPr>
            <p:cNvPr id="73" name="Line 73"/>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74" name="TextBox 74"/>
            <p:cNvSpPr txBox="1"/>
            <p:nvPr/>
          </p:nvSpPr>
          <p:spPr>
            <a:xfrm>
              <a:off x="603885" y="6260306"/>
              <a:ext cx="6042406"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来源：docs/project-report.md 第 2.2 节功能需求表（14 个模块，逐项列可验收结果）</a:t>
              </a:r>
            </a:p>
          </p:txBody>
        </p:sp>
        <p:sp>
          <p:nvSpPr>
            <p:cNvPr id="75" name="TextBox 75"/>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06 / 21</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2"/>
            </a:solidFill>
            <a:ln>
              <a:noFill/>
            </a:ln>
          </p:spPr>
        </p:sp>
        <p:sp>
          <p:nvSpPr>
            <p:cNvPr id="3" name="Rectangle 3"/>
            <p:cNvSpPr/>
            <p:nvPr/>
          </p:nvSpPr>
          <p:spPr>
            <a:xfrm>
              <a:off x="914400" y="342900"/>
              <a:ext cx="247650" cy="76200"/>
            </a:xfrm>
            <a:prstGeom prst="roundRect">
              <a:avLst>
                <a:gd name="adj" fmla="val 50000"/>
              </a:avLst>
            </a:prstGeom>
            <a:solidFill>
              <a:schemeClr val="accent2"/>
            </a:solidFill>
            <a:ln>
              <a:noFill/>
            </a:ln>
          </p:spPr>
        </p:sp>
        <p:sp>
          <p:nvSpPr>
            <p:cNvPr id="4" name="Rectangle 4"/>
            <p:cNvSpPr/>
            <p:nvPr/>
          </p:nvSpPr>
          <p:spPr>
            <a:xfrm>
              <a:off x="1219200" y="342900"/>
              <a:ext cx="247650" cy="76200"/>
            </a:xfrm>
            <a:prstGeom prst="roundRect">
              <a:avLst>
                <a:gd name="adj" fmla="val 50000"/>
              </a:avLst>
            </a:prstGeom>
            <a:solidFill>
              <a:schemeClr val="accent2"/>
            </a:solidFill>
            <a:ln>
              <a:noFill/>
            </a:ln>
          </p:spPr>
        </p:sp>
        <p:sp>
          <p:nvSpPr>
            <p:cNvPr id="5" name="Rectangle 5"/>
            <p:cNvSpPr/>
            <p:nvPr/>
          </p:nvSpPr>
          <p:spPr>
            <a:xfrm>
              <a:off x="1524000" y="342900"/>
              <a:ext cx="247650" cy="76200"/>
            </a:xfrm>
            <a:prstGeom prst="roundRect">
              <a:avLst>
                <a:gd name="adj" fmla="val 50000"/>
              </a:avLst>
            </a:prstGeom>
            <a:solidFill>
              <a:schemeClr val="accent2"/>
            </a:solidFill>
            <a:ln>
              <a:noFill/>
            </a:ln>
          </p:spPr>
        </p:sp>
        <p:sp>
          <p:nvSpPr>
            <p:cNvPr id="6" name="Rectangle 6"/>
            <p:cNvSpPr/>
            <p:nvPr/>
          </p:nvSpPr>
          <p:spPr>
            <a:xfrm>
              <a:off x="1828800" y="342900"/>
              <a:ext cx="247650" cy="76200"/>
            </a:xfrm>
            <a:prstGeom prst="roundRect">
              <a:avLst>
                <a:gd name="adj" fmla="val 50000"/>
              </a:avLst>
            </a:prstGeom>
            <a:solidFill>
              <a:schemeClr val="accent2"/>
            </a:solidFill>
            <a:ln>
              <a:noFill/>
            </a:ln>
          </p:spPr>
        </p:sp>
        <p:sp>
          <p:nvSpPr>
            <p:cNvPr id="7" name="Rectangle 7"/>
            <p:cNvSpPr/>
            <p:nvPr/>
          </p:nvSpPr>
          <p:spPr>
            <a:xfrm>
              <a:off x="2133600" y="342900"/>
              <a:ext cx="247650" cy="76200"/>
            </a:xfrm>
            <a:prstGeom prst="roundRect">
              <a:avLst>
                <a:gd name="adj" fmla="val 50000"/>
              </a:avLst>
            </a:prstGeom>
            <a:solidFill>
              <a:schemeClr val="accent2"/>
            </a:solidFill>
            <a:ln>
              <a:noFill/>
            </a:ln>
          </p:spPr>
        </p:sp>
        <p:sp>
          <p:nvSpPr>
            <p:cNvPr id="8" name="TextBox 8"/>
            <p:cNvSpPr txBox="1"/>
            <p:nvPr/>
          </p:nvSpPr>
          <p:spPr>
            <a:xfrm>
              <a:off x="2507742" y="311468"/>
              <a:ext cx="113139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二 · 需求分析</a:t>
              </a:r>
            </a:p>
          </p:txBody>
        </p:sp>
        <p:sp>
          <p:nvSpPr>
            <p:cNvPr id="9" name="TextBox 9"/>
            <p:cNvSpPr txBox="1"/>
            <p:nvPr/>
          </p:nvSpPr>
          <p:spPr>
            <a:xfrm>
              <a:off x="593598" y="726758"/>
              <a:ext cx="469658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核心业务流程：六步闭环</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43" name="Group 43"/>
          <p:cNvGrpSpPr/>
          <p:nvPr/>
        </p:nvGrpSpPr>
        <p:grpSpPr>
          <a:xfrm>
            <a:off x="609600" y="2095500"/>
            <a:ext cx="10963275" cy="1181100"/>
            <a:chOff x="609600" y="2095500"/>
            <a:chExt cx="10963275" cy="1181100"/>
          </a:xfrm>
        </p:grpSpPr>
        <p:sp>
          <p:nvSpPr>
            <p:cNvPr id="12" name="Rectangle 12"/>
            <p:cNvSpPr/>
            <p:nvPr/>
          </p:nvSpPr>
          <p:spPr>
            <a:xfrm>
              <a:off x="609600" y="2095500"/>
              <a:ext cx="1676400" cy="838200"/>
            </a:xfrm>
            <a:prstGeom prst="roundRect">
              <a:avLst>
                <a:gd name="adj" fmla="val 27273"/>
              </a:avLst>
            </a:prstGeom>
            <a:solidFill>
              <a:srgbClr val="E7EDF4"/>
            </a:solidFill>
            <a:ln>
              <a:noFill/>
            </a:ln>
          </p:spPr>
        </p:sp>
        <p:sp>
          <p:nvSpPr>
            <p:cNvPr id="13" name="Freeform 13"/>
            <p:cNvSpPr/>
            <p:nvPr/>
          </p:nvSpPr>
          <p:spPr>
            <a:xfrm>
              <a:off x="820748" y="2268537"/>
              <a:ext cx="206364" cy="206374"/>
            </a:xfrm>
            <a:custGeom>
              <a:avLst/>
              <a:gdLst/>
              <a:ahLst/>
              <a:cxnLst/>
              <a:rect l="l" t="t" r="r" b="b"/>
              <a:pathLst>
                <a:path w="206364" h="206374">
                  <a:moveTo>
                    <a:pt x="103177" y="0"/>
                  </a:moveTo>
                  <a:lnTo>
                    <a:pt x="109801" y="52"/>
                  </a:lnTo>
                  <a:lnTo>
                    <a:pt x="116158" y="227"/>
                  </a:lnTo>
                  <a:lnTo>
                    <a:pt x="119243" y="361"/>
                  </a:lnTo>
                  <a:lnTo>
                    <a:pt x="125218" y="712"/>
                  </a:lnTo>
                  <a:lnTo>
                    <a:pt x="130924" y="1187"/>
                  </a:lnTo>
                  <a:cubicBezTo>
                    <a:pt x="179288" y="5882"/>
                    <a:pt x="199543" y="25260"/>
                    <a:pt x="204868" y="72448"/>
                  </a:cubicBezTo>
                  <a:lnTo>
                    <a:pt x="205177" y="75440"/>
                  </a:lnTo>
                  <a:lnTo>
                    <a:pt x="205652" y="81146"/>
                  </a:lnTo>
                  <a:lnTo>
                    <a:pt x="206075" y="88648"/>
                  </a:lnTo>
                  <a:lnTo>
                    <a:pt x="206137" y="90196"/>
                  </a:lnTo>
                  <a:lnTo>
                    <a:pt x="206312" y="96563"/>
                  </a:lnTo>
                  <a:lnTo>
                    <a:pt x="206364" y="103187"/>
                  </a:lnTo>
                  <a:lnTo>
                    <a:pt x="206312" y="109812"/>
                  </a:lnTo>
                  <a:lnTo>
                    <a:pt x="206137" y="116168"/>
                  </a:lnTo>
                  <a:lnTo>
                    <a:pt x="206003" y="119253"/>
                  </a:lnTo>
                  <a:lnTo>
                    <a:pt x="205652" y="125228"/>
                  </a:lnTo>
                  <a:lnTo>
                    <a:pt x="205177" y="130934"/>
                  </a:lnTo>
                  <a:cubicBezTo>
                    <a:pt x="200482" y="179298"/>
                    <a:pt x="181104" y="199554"/>
                    <a:pt x="133916" y="204878"/>
                  </a:cubicBezTo>
                  <a:lnTo>
                    <a:pt x="130924" y="205188"/>
                  </a:lnTo>
                  <a:lnTo>
                    <a:pt x="125218" y="205662"/>
                  </a:lnTo>
                  <a:lnTo>
                    <a:pt x="117716" y="206085"/>
                  </a:lnTo>
                  <a:lnTo>
                    <a:pt x="116168" y="206147"/>
                  </a:lnTo>
                  <a:lnTo>
                    <a:pt x="109801" y="206323"/>
                  </a:lnTo>
                  <a:lnTo>
                    <a:pt x="103177" y="206374"/>
                  </a:lnTo>
                  <a:lnTo>
                    <a:pt x="96552" y="206323"/>
                  </a:lnTo>
                  <a:lnTo>
                    <a:pt x="90196" y="206147"/>
                  </a:lnTo>
                  <a:lnTo>
                    <a:pt x="87111" y="206013"/>
                  </a:lnTo>
                  <a:lnTo>
                    <a:pt x="81136" y="205662"/>
                  </a:lnTo>
                  <a:lnTo>
                    <a:pt x="75430" y="205188"/>
                  </a:lnTo>
                  <a:cubicBezTo>
                    <a:pt x="27066" y="200493"/>
                    <a:pt x="6810" y="181114"/>
                    <a:pt x="1486" y="133927"/>
                  </a:cubicBezTo>
                  <a:lnTo>
                    <a:pt x="1176" y="130934"/>
                  </a:lnTo>
                  <a:lnTo>
                    <a:pt x="702" y="125228"/>
                  </a:lnTo>
                  <a:lnTo>
                    <a:pt x="279" y="117726"/>
                  </a:lnTo>
                  <a:lnTo>
                    <a:pt x="217" y="116178"/>
                  </a:lnTo>
                  <a:lnTo>
                    <a:pt x="41" y="109812"/>
                  </a:lnTo>
                  <a:lnTo>
                    <a:pt x="0" y="106530"/>
                  </a:lnTo>
                  <a:lnTo>
                    <a:pt x="0" y="99844"/>
                  </a:lnTo>
                  <a:lnTo>
                    <a:pt x="41" y="96563"/>
                  </a:lnTo>
                  <a:lnTo>
                    <a:pt x="217" y="90206"/>
                  </a:lnTo>
                  <a:lnTo>
                    <a:pt x="351" y="87121"/>
                  </a:lnTo>
                  <a:lnTo>
                    <a:pt x="702" y="81146"/>
                  </a:lnTo>
                  <a:lnTo>
                    <a:pt x="1176" y="75440"/>
                  </a:lnTo>
                  <a:cubicBezTo>
                    <a:pt x="5871" y="27076"/>
                    <a:pt x="25250" y="6821"/>
                    <a:pt x="72437" y="1496"/>
                  </a:cubicBezTo>
                  <a:lnTo>
                    <a:pt x="75430" y="1187"/>
                  </a:lnTo>
                  <a:lnTo>
                    <a:pt x="81136" y="712"/>
                  </a:lnTo>
                  <a:lnTo>
                    <a:pt x="88638" y="289"/>
                  </a:lnTo>
                  <a:lnTo>
                    <a:pt x="90186" y="227"/>
                  </a:lnTo>
                  <a:lnTo>
                    <a:pt x="96552" y="52"/>
                  </a:lnTo>
                  <a:cubicBezTo>
                    <a:pt x="98719" y="21"/>
                    <a:pt x="100927" y="0"/>
                    <a:pt x="103177" y="0"/>
                  </a:cubicBezTo>
                  <a:close/>
                  <a:moveTo>
                    <a:pt x="113434" y="60736"/>
                  </a:moveTo>
                  <a:cubicBezTo>
                    <a:pt x="112577" y="52718"/>
                    <a:pt x="103032" y="48766"/>
                    <a:pt x="96748" y="53822"/>
                  </a:cubicBezTo>
                  <a:lnTo>
                    <a:pt x="95882" y="54617"/>
                  </a:lnTo>
                  <a:lnTo>
                    <a:pt x="75244" y="75254"/>
                  </a:lnTo>
                  <a:lnTo>
                    <a:pt x="74388" y="76224"/>
                  </a:lnTo>
                  <a:cubicBezTo>
                    <a:pt x="71500" y="79947"/>
                    <a:pt x="71500" y="85153"/>
                    <a:pt x="74388" y="88875"/>
                  </a:cubicBezTo>
                  <a:lnTo>
                    <a:pt x="75244" y="89845"/>
                  </a:lnTo>
                  <a:lnTo>
                    <a:pt x="76214" y="90702"/>
                  </a:lnTo>
                  <a:cubicBezTo>
                    <a:pt x="79936" y="93590"/>
                    <a:pt x="85142" y="93590"/>
                    <a:pt x="88865" y="90702"/>
                  </a:cubicBezTo>
                  <a:lnTo>
                    <a:pt x="89835" y="89845"/>
                  </a:lnTo>
                  <a:lnTo>
                    <a:pt x="92858" y="86822"/>
                  </a:lnTo>
                  <a:lnTo>
                    <a:pt x="92858" y="144462"/>
                  </a:lnTo>
                  <a:lnTo>
                    <a:pt x="92930" y="145669"/>
                  </a:lnTo>
                  <a:cubicBezTo>
                    <a:pt x="93548" y="150860"/>
                    <a:pt x="97949" y="154769"/>
                    <a:pt x="103177" y="154769"/>
                  </a:cubicBezTo>
                  <a:cubicBezTo>
                    <a:pt x="108404" y="154769"/>
                    <a:pt x="112806" y="150860"/>
                    <a:pt x="113423" y="145669"/>
                  </a:cubicBezTo>
                  <a:lnTo>
                    <a:pt x="113496" y="144462"/>
                  </a:lnTo>
                  <a:lnTo>
                    <a:pt x="113496" y="61912"/>
                  </a:lnTo>
                  <a:lnTo>
                    <a:pt x="113434" y="60736"/>
                  </a:lnTo>
                  <a:close/>
                </a:path>
              </a:pathLst>
            </a:custGeom>
            <a:solidFill>
              <a:schemeClr val="accent1"/>
            </a:solidFill>
            <a:ln>
              <a:noFill/>
            </a:ln>
          </p:spPr>
        </p:sp>
        <p:sp>
          <p:nvSpPr>
            <p:cNvPr id="14" name="TextBox 14"/>
            <p:cNvSpPr txBox="1"/>
            <p:nvPr/>
          </p:nvSpPr>
          <p:spPr>
            <a:xfrm>
              <a:off x="1114806" y="22631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题库</a:t>
              </a:r>
            </a:p>
          </p:txBody>
        </p:sp>
        <p:sp>
          <p:nvSpPr>
            <p:cNvPr id="15" name="TextBox 15"/>
            <p:cNvSpPr txBox="1"/>
            <p:nvPr/>
          </p:nvSpPr>
          <p:spPr>
            <a:xfrm>
              <a:off x="793242" y="2616518"/>
              <a:ext cx="110413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教师维护题目</a:t>
              </a:r>
            </a:p>
          </p:txBody>
        </p:sp>
        <p:sp>
          <p:nvSpPr>
            <p:cNvPr id="16" name="Freeform 16"/>
            <p:cNvSpPr/>
            <p:nvPr/>
          </p:nvSpPr>
          <p:spPr>
            <a:xfrm>
              <a:off x="2305050" y="2419350"/>
              <a:ext cx="152400" cy="190500"/>
            </a:xfrm>
            <a:prstGeom prst="chevron">
              <a:avLst/>
            </a:prstGeom>
            <a:solidFill>
              <a:schemeClr val="accent3"/>
            </a:solidFill>
            <a:ln>
              <a:noFill/>
            </a:ln>
          </p:spPr>
        </p:sp>
        <p:sp>
          <p:nvSpPr>
            <p:cNvPr id="17" name="Rectangle 17"/>
            <p:cNvSpPr/>
            <p:nvPr/>
          </p:nvSpPr>
          <p:spPr>
            <a:xfrm>
              <a:off x="2466975" y="2095500"/>
              <a:ext cx="1676400" cy="838200"/>
            </a:xfrm>
            <a:prstGeom prst="roundRect">
              <a:avLst>
                <a:gd name="adj" fmla="val 27273"/>
              </a:avLst>
            </a:prstGeom>
            <a:solidFill>
              <a:srgbClr val="E7EDF4"/>
            </a:solidFill>
            <a:ln>
              <a:noFill/>
            </a:ln>
          </p:spPr>
        </p:sp>
        <p:sp>
          <p:nvSpPr>
            <p:cNvPr id="18" name="Freeform 18"/>
            <p:cNvSpPr/>
            <p:nvPr/>
          </p:nvSpPr>
          <p:spPr>
            <a:xfrm>
              <a:off x="2698749" y="2268537"/>
              <a:ext cx="165101" cy="206375"/>
            </a:xfrm>
            <a:custGeom>
              <a:avLst/>
              <a:gdLst/>
              <a:ahLst/>
              <a:cxnLst/>
              <a:rect l="l" t="t" r="r" b="b"/>
              <a:pathLst>
                <a:path w="165101" h="206375">
                  <a:moveTo>
                    <a:pt x="82551" y="0"/>
                  </a:moveTo>
                  <a:lnTo>
                    <a:pt x="83758" y="72"/>
                  </a:lnTo>
                  <a:cubicBezTo>
                    <a:pt x="88499" y="631"/>
                    <a:pt x="92238" y="4370"/>
                    <a:pt x="92797" y="9111"/>
                  </a:cubicBezTo>
                  <a:lnTo>
                    <a:pt x="92869" y="10319"/>
                  </a:lnTo>
                  <a:lnTo>
                    <a:pt x="92869" y="51594"/>
                  </a:lnTo>
                  <a:lnTo>
                    <a:pt x="92921" y="53141"/>
                  </a:lnTo>
                  <a:cubicBezTo>
                    <a:pt x="93684" y="63294"/>
                    <a:pt x="101737" y="71373"/>
                    <a:pt x="111887" y="72169"/>
                  </a:cubicBezTo>
                  <a:lnTo>
                    <a:pt x="113507" y="72231"/>
                  </a:lnTo>
                  <a:lnTo>
                    <a:pt x="154782" y="72231"/>
                  </a:lnTo>
                  <a:lnTo>
                    <a:pt x="155989" y="72303"/>
                  </a:lnTo>
                  <a:cubicBezTo>
                    <a:pt x="160730" y="72862"/>
                    <a:pt x="164469" y="76601"/>
                    <a:pt x="165028" y="81342"/>
                  </a:cubicBezTo>
                  <a:lnTo>
                    <a:pt x="165100" y="82550"/>
                  </a:lnTo>
                  <a:lnTo>
                    <a:pt x="165100" y="175418"/>
                  </a:lnTo>
                  <a:cubicBezTo>
                    <a:pt x="165101" y="191810"/>
                    <a:pt x="152324" y="205361"/>
                    <a:pt x="135960" y="206323"/>
                  </a:cubicBezTo>
                  <a:lnTo>
                    <a:pt x="134144" y="206374"/>
                  </a:lnTo>
                  <a:lnTo>
                    <a:pt x="30957" y="206374"/>
                  </a:lnTo>
                  <a:cubicBezTo>
                    <a:pt x="14565" y="206375"/>
                    <a:pt x="1014" y="193598"/>
                    <a:pt x="53" y="177234"/>
                  </a:cubicBezTo>
                  <a:lnTo>
                    <a:pt x="1" y="175418"/>
                  </a:lnTo>
                  <a:lnTo>
                    <a:pt x="1" y="30956"/>
                  </a:lnTo>
                  <a:cubicBezTo>
                    <a:pt x="0" y="14564"/>
                    <a:pt x="12777" y="1013"/>
                    <a:pt x="29141" y="52"/>
                  </a:cubicBezTo>
                  <a:lnTo>
                    <a:pt x="30957" y="0"/>
                  </a:lnTo>
                  <a:close/>
                  <a:moveTo>
                    <a:pt x="120802" y="106211"/>
                  </a:moveTo>
                  <a:cubicBezTo>
                    <a:pt x="116773" y="102182"/>
                    <a:pt x="110241" y="102182"/>
                    <a:pt x="106211" y="106211"/>
                  </a:cubicBezTo>
                  <a:lnTo>
                    <a:pt x="72232" y="140180"/>
                  </a:lnTo>
                  <a:lnTo>
                    <a:pt x="58890" y="126848"/>
                  </a:lnTo>
                  <a:cubicBezTo>
                    <a:pt x="56299" y="124166"/>
                    <a:pt x="52463" y="123090"/>
                    <a:pt x="48855" y="124034"/>
                  </a:cubicBezTo>
                  <a:cubicBezTo>
                    <a:pt x="45247" y="124978"/>
                    <a:pt x="42430" y="127796"/>
                    <a:pt x="41485" y="131404"/>
                  </a:cubicBezTo>
                  <a:cubicBezTo>
                    <a:pt x="40541" y="135011"/>
                    <a:pt x="41617" y="138848"/>
                    <a:pt x="44299" y="141439"/>
                  </a:cubicBezTo>
                  <a:lnTo>
                    <a:pt x="64937" y="162076"/>
                  </a:lnTo>
                  <a:cubicBezTo>
                    <a:pt x="68966" y="166104"/>
                    <a:pt x="75498" y="166104"/>
                    <a:pt x="79527" y="162076"/>
                  </a:cubicBezTo>
                  <a:lnTo>
                    <a:pt x="120802" y="120801"/>
                  </a:lnTo>
                  <a:cubicBezTo>
                    <a:pt x="124830" y="116772"/>
                    <a:pt x="124830" y="110240"/>
                    <a:pt x="120802" y="106211"/>
                  </a:cubicBezTo>
                  <a:moveTo>
                    <a:pt x="113507" y="10308"/>
                  </a:moveTo>
                  <a:lnTo>
                    <a:pt x="154782" y="51594"/>
                  </a:lnTo>
                  <a:lnTo>
                    <a:pt x="113507" y="51594"/>
                  </a:lnTo>
                  <a:close/>
                </a:path>
              </a:pathLst>
            </a:custGeom>
            <a:solidFill>
              <a:schemeClr val="accent1"/>
            </a:solidFill>
            <a:ln>
              <a:noFill/>
            </a:ln>
          </p:spPr>
        </p:sp>
        <p:sp>
          <p:nvSpPr>
            <p:cNvPr id="19" name="TextBox 19"/>
            <p:cNvSpPr txBox="1"/>
            <p:nvPr/>
          </p:nvSpPr>
          <p:spPr>
            <a:xfrm>
              <a:off x="2972181" y="22631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组卷</a:t>
              </a:r>
            </a:p>
          </p:txBody>
        </p:sp>
        <p:sp>
          <p:nvSpPr>
            <p:cNvPr id="20" name="TextBox 20"/>
            <p:cNvSpPr txBox="1"/>
            <p:nvPr/>
          </p:nvSpPr>
          <p:spPr>
            <a:xfrm>
              <a:off x="2650617" y="2616518"/>
              <a:ext cx="922401"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组卷并发布</a:t>
              </a:r>
            </a:p>
          </p:txBody>
        </p:sp>
        <p:sp>
          <p:nvSpPr>
            <p:cNvPr id="21" name="Freeform 21"/>
            <p:cNvSpPr/>
            <p:nvPr/>
          </p:nvSpPr>
          <p:spPr>
            <a:xfrm>
              <a:off x="4162425" y="2419350"/>
              <a:ext cx="152400" cy="190500"/>
            </a:xfrm>
            <a:prstGeom prst="chevron">
              <a:avLst/>
            </a:prstGeom>
            <a:solidFill>
              <a:schemeClr val="accent3"/>
            </a:solidFill>
            <a:ln>
              <a:noFill/>
            </a:ln>
          </p:spPr>
        </p:sp>
        <p:sp>
          <p:nvSpPr>
            <p:cNvPr id="22" name="Rectangle 22"/>
            <p:cNvSpPr/>
            <p:nvPr/>
          </p:nvSpPr>
          <p:spPr>
            <a:xfrm>
              <a:off x="4324350" y="2095500"/>
              <a:ext cx="1676400" cy="838200"/>
            </a:xfrm>
            <a:prstGeom prst="roundRect">
              <a:avLst>
                <a:gd name="adj" fmla="val 27273"/>
              </a:avLst>
            </a:prstGeom>
            <a:solidFill>
              <a:srgbClr val="E7EDF4"/>
            </a:solidFill>
            <a:ln>
              <a:noFill/>
            </a:ln>
          </p:spPr>
        </p:sp>
        <p:sp>
          <p:nvSpPr>
            <p:cNvPr id="23" name="Freeform 23"/>
            <p:cNvSpPr/>
            <p:nvPr/>
          </p:nvSpPr>
          <p:spPr>
            <a:xfrm>
              <a:off x="4566432" y="2268534"/>
              <a:ext cx="144485" cy="206381"/>
            </a:xfrm>
            <a:custGeom>
              <a:avLst/>
              <a:gdLst/>
              <a:ahLst/>
              <a:cxnLst/>
              <a:rect l="l" t="t" r="r" b="b"/>
              <a:pathLst>
                <a:path w="144485" h="206381">
                  <a:moveTo>
                    <a:pt x="123836" y="3"/>
                  </a:moveTo>
                  <a:cubicBezTo>
                    <a:pt x="134636" y="0"/>
                    <a:pt x="143612" y="8324"/>
                    <a:pt x="144422" y="19093"/>
                  </a:cubicBezTo>
                  <a:lnTo>
                    <a:pt x="144473" y="20641"/>
                  </a:lnTo>
                  <a:lnTo>
                    <a:pt x="144473" y="41278"/>
                  </a:lnTo>
                  <a:cubicBezTo>
                    <a:pt x="144485" y="66632"/>
                    <a:pt x="131195" y="90133"/>
                    <a:pt x="109462" y="103191"/>
                  </a:cubicBezTo>
                  <a:cubicBezTo>
                    <a:pt x="130343" y="115731"/>
                    <a:pt x="143489" y="137957"/>
                    <a:pt x="144422" y="162296"/>
                  </a:cubicBezTo>
                  <a:lnTo>
                    <a:pt x="144473" y="165103"/>
                  </a:lnTo>
                  <a:lnTo>
                    <a:pt x="144473" y="185740"/>
                  </a:lnTo>
                  <a:cubicBezTo>
                    <a:pt x="144477" y="196540"/>
                    <a:pt x="136153" y="205516"/>
                    <a:pt x="125384" y="206326"/>
                  </a:cubicBezTo>
                  <a:lnTo>
                    <a:pt x="123836" y="206378"/>
                  </a:lnTo>
                  <a:lnTo>
                    <a:pt x="20649" y="206378"/>
                  </a:lnTo>
                  <a:cubicBezTo>
                    <a:pt x="9849" y="206381"/>
                    <a:pt x="873" y="198058"/>
                    <a:pt x="63" y="187288"/>
                  </a:cubicBezTo>
                  <a:lnTo>
                    <a:pt x="11" y="185740"/>
                  </a:lnTo>
                  <a:lnTo>
                    <a:pt x="11" y="165103"/>
                  </a:lnTo>
                  <a:cubicBezTo>
                    <a:pt x="0" y="139749"/>
                    <a:pt x="13290" y="116248"/>
                    <a:pt x="35023" y="103191"/>
                  </a:cubicBezTo>
                  <a:cubicBezTo>
                    <a:pt x="14142" y="90650"/>
                    <a:pt x="996" y="68424"/>
                    <a:pt x="63" y="44085"/>
                  </a:cubicBezTo>
                  <a:lnTo>
                    <a:pt x="11" y="41278"/>
                  </a:lnTo>
                  <a:lnTo>
                    <a:pt x="11" y="20641"/>
                  </a:lnTo>
                  <a:cubicBezTo>
                    <a:pt x="8" y="9841"/>
                    <a:pt x="8332" y="865"/>
                    <a:pt x="19101" y="55"/>
                  </a:cubicBezTo>
                  <a:lnTo>
                    <a:pt x="20649" y="3"/>
                  </a:lnTo>
                  <a:lnTo>
                    <a:pt x="123836" y="3"/>
                  </a:lnTo>
                  <a:close/>
                </a:path>
              </a:pathLst>
            </a:custGeom>
            <a:solidFill>
              <a:schemeClr val="accent1"/>
            </a:solidFill>
            <a:ln>
              <a:noFill/>
            </a:ln>
          </p:spPr>
        </p:sp>
        <p:sp>
          <p:nvSpPr>
            <p:cNvPr id="24" name="TextBox 24"/>
            <p:cNvSpPr txBox="1"/>
            <p:nvPr/>
          </p:nvSpPr>
          <p:spPr>
            <a:xfrm>
              <a:off x="4829556" y="22631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答题</a:t>
              </a:r>
            </a:p>
          </p:txBody>
        </p:sp>
        <p:sp>
          <p:nvSpPr>
            <p:cNvPr id="25" name="TextBox 25"/>
            <p:cNvSpPr txBox="1"/>
            <p:nvPr/>
          </p:nvSpPr>
          <p:spPr>
            <a:xfrm>
              <a:off x="4507992" y="2616518"/>
              <a:ext cx="110413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学生在线作答</a:t>
              </a:r>
            </a:p>
          </p:txBody>
        </p:sp>
        <p:sp>
          <p:nvSpPr>
            <p:cNvPr id="26" name="Freeform 26"/>
            <p:cNvSpPr/>
            <p:nvPr/>
          </p:nvSpPr>
          <p:spPr>
            <a:xfrm>
              <a:off x="6019800" y="2419350"/>
              <a:ext cx="152400" cy="190500"/>
            </a:xfrm>
            <a:prstGeom prst="chevron">
              <a:avLst/>
            </a:prstGeom>
            <a:solidFill>
              <a:schemeClr val="accent3"/>
            </a:solidFill>
            <a:ln>
              <a:noFill/>
            </a:ln>
          </p:spPr>
        </p:sp>
        <p:sp>
          <p:nvSpPr>
            <p:cNvPr id="27" name="Rectangle 27"/>
            <p:cNvSpPr/>
            <p:nvPr/>
          </p:nvSpPr>
          <p:spPr>
            <a:xfrm>
              <a:off x="6181725" y="2095500"/>
              <a:ext cx="1676400" cy="838200"/>
            </a:xfrm>
            <a:prstGeom prst="roundRect">
              <a:avLst>
                <a:gd name="adj" fmla="val 27273"/>
              </a:avLst>
            </a:prstGeom>
            <a:solidFill>
              <a:srgbClr val="E7EDF4"/>
            </a:solidFill>
            <a:ln>
              <a:noFill/>
            </a:ln>
          </p:spPr>
        </p:sp>
        <p:sp>
          <p:nvSpPr>
            <p:cNvPr id="28" name="Freeform 28"/>
            <p:cNvSpPr/>
            <p:nvPr/>
          </p:nvSpPr>
          <p:spPr>
            <a:xfrm>
              <a:off x="6392862" y="2263915"/>
              <a:ext cx="217003" cy="217358"/>
            </a:xfrm>
            <a:custGeom>
              <a:avLst/>
              <a:gdLst/>
              <a:ahLst/>
              <a:cxnLst/>
              <a:rect l="l" t="t" r="r" b="b"/>
              <a:pathLst>
                <a:path w="217003" h="217358">
                  <a:moveTo>
                    <a:pt x="154781" y="18449"/>
                  </a:moveTo>
                  <a:cubicBezTo>
                    <a:pt x="197783" y="43278"/>
                    <a:pt x="217003" y="95214"/>
                    <a:pt x="200524" y="142055"/>
                  </a:cubicBezTo>
                  <a:cubicBezTo>
                    <a:pt x="184044" y="188897"/>
                    <a:pt x="136540" y="217358"/>
                    <a:pt x="87464" y="209793"/>
                  </a:cubicBezTo>
                  <a:cubicBezTo>
                    <a:pt x="38388" y="202228"/>
                    <a:pt x="1660" y="160782"/>
                    <a:pt x="52" y="111153"/>
                  </a:cubicBezTo>
                  <a:lnTo>
                    <a:pt x="0" y="107809"/>
                  </a:lnTo>
                  <a:lnTo>
                    <a:pt x="52" y="104466"/>
                  </a:lnTo>
                  <a:cubicBezTo>
                    <a:pt x="1227" y="68216"/>
                    <a:pt x="21348" y="35245"/>
                    <a:pt x="53047" y="17623"/>
                  </a:cubicBezTo>
                  <a:cubicBezTo>
                    <a:pt x="84747" y="0"/>
                    <a:pt x="123372" y="314"/>
                    <a:pt x="154781" y="18449"/>
                  </a:cubicBezTo>
                  <a:close/>
                  <a:moveTo>
                    <a:pt x="141439" y="79877"/>
                  </a:moveTo>
                  <a:cubicBezTo>
                    <a:pt x="137762" y="76201"/>
                    <a:pt x="131926" y="75834"/>
                    <a:pt x="127818" y="79020"/>
                  </a:cubicBezTo>
                  <a:lnTo>
                    <a:pt x="126848" y="79877"/>
                  </a:lnTo>
                  <a:lnTo>
                    <a:pt x="92868" y="113846"/>
                  </a:lnTo>
                  <a:lnTo>
                    <a:pt x="79526" y="100514"/>
                  </a:lnTo>
                  <a:lnTo>
                    <a:pt x="78556" y="99658"/>
                  </a:lnTo>
                  <a:cubicBezTo>
                    <a:pt x="74448" y="96473"/>
                    <a:pt x="68614" y="96842"/>
                    <a:pt x="64938" y="100517"/>
                  </a:cubicBezTo>
                  <a:cubicBezTo>
                    <a:pt x="61263" y="104192"/>
                    <a:pt x="60895" y="110027"/>
                    <a:pt x="64079" y="114135"/>
                  </a:cubicBezTo>
                  <a:lnTo>
                    <a:pt x="64936" y="115105"/>
                  </a:lnTo>
                  <a:lnTo>
                    <a:pt x="85573" y="135742"/>
                  </a:lnTo>
                  <a:lnTo>
                    <a:pt x="86543" y="136599"/>
                  </a:lnTo>
                  <a:cubicBezTo>
                    <a:pt x="90266" y="139487"/>
                    <a:pt x="95471" y="139487"/>
                    <a:pt x="99194" y="136599"/>
                  </a:cubicBezTo>
                  <a:lnTo>
                    <a:pt x="100164" y="135742"/>
                  </a:lnTo>
                  <a:lnTo>
                    <a:pt x="141439" y="94467"/>
                  </a:lnTo>
                  <a:lnTo>
                    <a:pt x="142295" y="93497"/>
                  </a:lnTo>
                  <a:cubicBezTo>
                    <a:pt x="145482" y="89390"/>
                    <a:pt x="145115" y="83553"/>
                    <a:pt x="141439" y="79877"/>
                  </a:cubicBezTo>
                  <a:close/>
                </a:path>
              </a:pathLst>
            </a:custGeom>
            <a:solidFill>
              <a:schemeClr val="accent1"/>
            </a:solidFill>
            <a:ln>
              <a:noFill/>
            </a:ln>
          </p:spPr>
        </p:sp>
        <p:sp>
          <p:nvSpPr>
            <p:cNvPr id="29" name="TextBox 29"/>
            <p:cNvSpPr txBox="1"/>
            <p:nvPr/>
          </p:nvSpPr>
          <p:spPr>
            <a:xfrm>
              <a:off x="6686931" y="22631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判分</a:t>
              </a:r>
            </a:p>
          </p:txBody>
        </p:sp>
        <p:sp>
          <p:nvSpPr>
            <p:cNvPr id="30" name="TextBox 30"/>
            <p:cNvSpPr txBox="1"/>
            <p:nvPr/>
          </p:nvSpPr>
          <p:spPr>
            <a:xfrm>
              <a:off x="6365367" y="2616518"/>
              <a:ext cx="110413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系统自动判分</a:t>
              </a:r>
            </a:p>
          </p:txBody>
        </p:sp>
        <p:sp>
          <p:nvSpPr>
            <p:cNvPr id="31" name="Freeform 31"/>
            <p:cNvSpPr/>
            <p:nvPr/>
          </p:nvSpPr>
          <p:spPr>
            <a:xfrm>
              <a:off x="7877175" y="2419350"/>
              <a:ext cx="152400" cy="190500"/>
            </a:xfrm>
            <a:prstGeom prst="chevron">
              <a:avLst/>
            </a:prstGeom>
            <a:solidFill>
              <a:schemeClr val="accent3"/>
            </a:solidFill>
            <a:ln>
              <a:noFill/>
            </a:ln>
          </p:spPr>
        </p:sp>
        <p:sp>
          <p:nvSpPr>
            <p:cNvPr id="32" name="Rectangle 32"/>
            <p:cNvSpPr/>
            <p:nvPr/>
          </p:nvSpPr>
          <p:spPr>
            <a:xfrm>
              <a:off x="8039100" y="2095500"/>
              <a:ext cx="1676400" cy="838200"/>
            </a:xfrm>
            <a:prstGeom prst="roundRect">
              <a:avLst>
                <a:gd name="adj" fmla="val 27273"/>
              </a:avLst>
            </a:prstGeom>
            <a:solidFill>
              <a:srgbClr val="E7EDF4"/>
            </a:solidFill>
            <a:ln>
              <a:noFill/>
            </a:ln>
          </p:spPr>
        </p:sp>
        <p:sp>
          <p:nvSpPr>
            <p:cNvPr id="33" name="Freeform 33"/>
            <p:cNvSpPr/>
            <p:nvPr/>
          </p:nvSpPr>
          <p:spPr>
            <a:xfrm>
              <a:off x="8260556" y="2283483"/>
              <a:ext cx="181117" cy="181110"/>
            </a:xfrm>
            <a:custGeom>
              <a:avLst/>
              <a:gdLst/>
              <a:ahLst/>
              <a:cxnLst/>
              <a:rect l="l" t="t" r="r" b="b"/>
              <a:pathLst>
                <a:path w="181117" h="181110">
                  <a:moveTo>
                    <a:pt x="93746" y="31489"/>
                  </a:moveTo>
                  <a:lnTo>
                    <a:pt x="149621" y="87365"/>
                  </a:lnTo>
                  <a:lnTo>
                    <a:pt x="58889" y="178087"/>
                  </a:lnTo>
                  <a:cubicBezTo>
                    <a:pt x="56954" y="180022"/>
                    <a:pt x="54330" y="181110"/>
                    <a:pt x="51594" y="181110"/>
                  </a:cubicBezTo>
                  <a:lnTo>
                    <a:pt x="10319" y="181110"/>
                  </a:lnTo>
                  <a:cubicBezTo>
                    <a:pt x="4620" y="181110"/>
                    <a:pt x="0" y="176491"/>
                    <a:pt x="0" y="170792"/>
                  </a:cubicBezTo>
                  <a:lnTo>
                    <a:pt x="0" y="129517"/>
                  </a:lnTo>
                  <a:cubicBezTo>
                    <a:pt x="1" y="126780"/>
                    <a:pt x="1088" y="124156"/>
                    <a:pt x="3023" y="122222"/>
                  </a:cubicBezTo>
                  <a:close/>
                  <a:moveTo>
                    <a:pt x="149529" y="3649"/>
                  </a:moveTo>
                  <a:cubicBezTo>
                    <a:pt x="163162" y="7300"/>
                    <a:pt x="173812" y="17949"/>
                    <a:pt x="177464" y="31582"/>
                  </a:cubicBezTo>
                  <a:cubicBezTo>
                    <a:pt x="181117" y="45216"/>
                    <a:pt x="177218" y="59762"/>
                    <a:pt x="167235" y="69741"/>
                  </a:cubicBezTo>
                  <a:lnTo>
                    <a:pt x="164222" y="72764"/>
                  </a:lnTo>
                  <a:lnTo>
                    <a:pt x="108347" y="16888"/>
                  </a:lnTo>
                  <a:lnTo>
                    <a:pt x="111370" y="13875"/>
                  </a:lnTo>
                  <a:cubicBezTo>
                    <a:pt x="121351" y="3898"/>
                    <a:pt x="135896" y="0"/>
                    <a:pt x="149529" y="3649"/>
                  </a:cubicBezTo>
                </a:path>
              </a:pathLst>
            </a:custGeom>
            <a:solidFill>
              <a:schemeClr val="accent1"/>
            </a:solidFill>
            <a:ln>
              <a:noFill/>
            </a:ln>
          </p:spPr>
        </p:sp>
        <p:sp>
          <p:nvSpPr>
            <p:cNvPr id="34" name="TextBox 34"/>
            <p:cNvSpPr txBox="1"/>
            <p:nvPr/>
          </p:nvSpPr>
          <p:spPr>
            <a:xfrm>
              <a:off x="8544306" y="2263140"/>
              <a:ext cx="5029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阅卷</a:t>
              </a:r>
            </a:p>
          </p:txBody>
        </p:sp>
        <p:sp>
          <p:nvSpPr>
            <p:cNvPr id="35" name="TextBox 35"/>
            <p:cNvSpPr txBox="1"/>
            <p:nvPr/>
          </p:nvSpPr>
          <p:spPr>
            <a:xfrm>
              <a:off x="8222742" y="2616518"/>
              <a:ext cx="110413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教师批主观题</a:t>
              </a:r>
            </a:p>
          </p:txBody>
        </p:sp>
        <p:sp>
          <p:nvSpPr>
            <p:cNvPr id="36" name="Freeform 36"/>
            <p:cNvSpPr/>
            <p:nvPr/>
          </p:nvSpPr>
          <p:spPr>
            <a:xfrm>
              <a:off x="9734550" y="2419350"/>
              <a:ext cx="152400" cy="190500"/>
            </a:xfrm>
            <a:prstGeom prst="chevron">
              <a:avLst/>
            </a:prstGeom>
            <a:solidFill>
              <a:schemeClr val="accent3"/>
            </a:solidFill>
            <a:ln>
              <a:noFill/>
            </a:ln>
          </p:spPr>
        </p:sp>
        <p:sp>
          <p:nvSpPr>
            <p:cNvPr id="37" name="Rectangle 37"/>
            <p:cNvSpPr/>
            <p:nvPr/>
          </p:nvSpPr>
          <p:spPr>
            <a:xfrm>
              <a:off x="9896475" y="2095500"/>
              <a:ext cx="1676400" cy="838200"/>
            </a:xfrm>
            <a:prstGeom prst="roundRect">
              <a:avLst>
                <a:gd name="adj" fmla="val 27273"/>
              </a:avLst>
            </a:prstGeom>
            <a:solidFill>
              <a:schemeClr val="accent1"/>
            </a:solidFill>
            <a:ln>
              <a:noFill/>
            </a:ln>
          </p:spPr>
        </p:sp>
        <p:sp>
          <p:nvSpPr>
            <p:cNvPr id="38" name="Freeform 38"/>
            <p:cNvSpPr/>
            <p:nvPr/>
          </p:nvSpPr>
          <p:spPr>
            <a:xfrm>
              <a:off x="10107623" y="2278856"/>
              <a:ext cx="208353" cy="196056"/>
            </a:xfrm>
            <a:custGeom>
              <a:avLst/>
              <a:gdLst/>
              <a:ahLst/>
              <a:cxnLst/>
              <a:rect l="l" t="t" r="r" b="b"/>
              <a:pathLst>
                <a:path w="208353" h="196056">
                  <a:moveTo>
                    <a:pt x="154770" y="0"/>
                  </a:moveTo>
                  <a:cubicBezTo>
                    <a:pt x="160002" y="1"/>
                    <a:pt x="164405" y="3916"/>
                    <a:pt x="165017" y="9111"/>
                  </a:cubicBezTo>
                  <a:lnTo>
                    <a:pt x="165089" y="10319"/>
                  </a:lnTo>
                  <a:lnTo>
                    <a:pt x="165089" y="32710"/>
                  </a:lnTo>
                  <a:cubicBezTo>
                    <a:pt x="177915" y="28191"/>
                    <a:pt x="192188" y="32571"/>
                    <a:pt x="200271" y="43507"/>
                  </a:cubicBezTo>
                  <a:cubicBezTo>
                    <a:pt x="208353" y="54442"/>
                    <a:pt x="208353" y="69372"/>
                    <a:pt x="200271" y="80307"/>
                  </a:cubicBezTo>
                  <a:cubicBezTo>
                    <a:pt x="192188" y="91243"/>
                    <a:pt x="177915" y="95623"/>
                    <a:pt x="165089" y="91104"/>
                  </a:cubicBezTo>
                  <a:lnTo>
                    <a:pt x="165089" y="92868"/>
                  </a:lnTo>
                  <a:cubicBezTo>
                    <a:pt x="165085" y="123080"/>
                    <a:pt x="143283" y="148881"/>
                    <a:pt x="113496" y="153924"/>
                  </a:cubicBezTo>
                  <a:lnTo>
                    <a:pt x="113496" y="175418"/>
                  </a:lnTo>
                  <a:lnTo>
                    <a:pt x="144452" y="175418"/>
                  </a:lnTo>
                  <a:cubicBezTo>
                    <a:pt x="149911" y="175424"/>
                    <a:pt x="154421" y="179682"/>
                    <a:pt x="154741" y="185132"/>
                  </a:cubicBezTo>
                  <a:cubicBezTo>
                    <a:pt x="155061" y="190582"/>
                    <a:pt x="151080" y="195339"/>
                    <a:pt x="145659" y="195983"/>
                  </a:cubicBezTo>
                  <a:lnTo>
                    <a:pt x="144452" y="196056"/>
                  </a:lnTo>
                  <a:lnTo>
                    <a:pt x="61902" y="196056"/>
                  </a:lnTo>
                  <a:cubicBezTo>
                    <a:pt x="56442" y="196050"/>
                    <a:pt x="51932" y="191792"/>
                    <a:pt x="51612" y="186342"/>
                  </a:cubicBezTo>
                  <a:cubicBezTo>
                    <a:pt x="51292" y="180891"/>
                    <a:pt x="55273" y="176135"/>
                    <a:pt x="60695" y="175490"/>
                  </a:cubicBezTo>
                  <a:lnTo>
                    <a:pt x="61902" y="175418"/>
                  </a:lnTo>
                  <a:lnTo>
                    <a:pt x="92858" y="175418"/>
                  </a:lnTo>
                  <a:lnTo>
                    <a:pt x="92858" y="153924"/>
                  </a:lnTo>
                  <a:cubicBezTo>
                    <a:pt x="63932" y="149028"/>
                    <a:pt x="42410" y="124507"/>
                    <a:pt x="41306" y="95190"/>
                  </a:cubicBezTo>
                  <a:lnTo>
                    <a:pt x="41265" y="92868"/>
                  </a:lnTo>
                  <a:lnTo>
                    <a:pt x="41265" y="91104"/>
                  </a:lnTo>
                  <a:cubicBezTo>
                    <a:pt x="32089" y="94352"/>
                    <a:pt x="21921" y="93096"/>
                    <a:pt x="13812" y="87712"/>
                  </a:cubicBezTo>
                  <a:cubicBezTo>
                    <a:pt x="5703" y="82329"/>
                    <a:pt x="599" y="73445"/>
                    <a:pt x="31" y="63728"/>
                  </a:cubicBezTo>
                  <a:lnTo>
                    <a:pt x="0" y="61912"/>
                  </a:lnTo>
                  <a:lnTo>
                    <a:pt x="52" y="60096"/>
                  </a:lnTo>
                  <a:cubicBezTo>
                    <a:pt x="617" y="50380"/>
                    <a:pt x="5719" y="41496"/>
                    <a:pt x="13826" y="36111"/>
                  </a:cubicBezTo>
                  <a:cubicBezTo>
                    <a:pt x="21932" y="30726"/>
                    <a:pt x="32099" y="29466"/>
                    <a:pt x="41275" y="32710"/>
                  </a:cubicBezTo>
                  <a:lnTo>
                    <a:pt x="41265" y="10319"/>
                  </a:lnTo>
                  <a:cubicBezTo>
                    <a:pt x="41265" y="4620"/>
                    <a:pt x="45884" y="0"/>
                    <a:pt x="51583" y="0"/>
                  </a:cubicBezTo>
                  <a:lnTo>
                    <a:pt x="154770" y="0"/>
                  </a:lnTo>
                  <a:close/>
                  <a:moveTo>
                    <a:pt x="30946" y="51594"/>
                  </a:moveTo>
                  <a:cubicBezTo>
                    <a:pt x="25247" y="51594"/>
                    <a:pt x="20627" y="56213"/>
                    <a:pt x="20627" y="61912"/>
                  </a:cubicBezTo>
                  <a:cubicBezTo>
                    <a:pt x="20627" y="67611"/>
                    <a:pt x="25247" y="72231"/>
                    <a:pt x="30946" y="72231"/>
                  </a:cubicBezTo>
                  <a:cubicBezTo>
                    <a:pt x="36645" y="72231"/>
                    <a:pt x="41265" y="67611"/>
                    <a:pt x="41265" y="61912"/>
                  </a:cubicBezTo>
                  <a:cubicBezTo>
                    <a:pt x="41265" y="56213"/>
                    <a:pt x="36645" y="51594"/>
                    <a:pt x="30946" y="51594"/>
                  </a:cubicBezTo>
                  <a:moveTo>
                    <a:pt x="175408" y="51594"/>
                  </a:moveTo>
                  <a:cubicBezTo>
                    <a:pt x="169709" y="51594"/>
                    <a:pt x="165089" y="56213"/>
                    <a:pt x="165089" y="61912"/>
                  </a:cubicBezTo>
                  <a:cubicBezTo>
                    <a:pt x="165089" y="67611"/>
                    <a:pt x="169709" y="72231"/>
                    <a:pt x="175408" y="72231"/>
                  </a:cubicBezTo>
                  <a:cubicBezTo>
                    <a:pt x="181107" y="72231"/>
                    <a:pt x="185727" y="67611"/>
                    <a:pt x="185727" y="61912"/>
                  </a:cubicBezTo>
                  <a:cubicBezTo>
                    <a:pt x="185727" y="56213"/>
                    <a:pt x="181107" y="51594"/>
                    <a:pt x="175408" y="51594"/>
                  </a:cubicBezTo>
                </a:path>
              </a:pathLst>
            </a:custGeom>
            <a:solidFill>
              <a:schemeClr val="lt1"/>
            </a:solidFill>
            <a:ln>
              <a:noFill/>
            </a:ln>
          </p:spPr>
        </p:sp>
        <p:sp>
          <p:nvSpPr>
            <p:cNvPr id="39" name="TextBox 39"/>
            <p:cNvSpPr txBox="1"/>
            <p:nvPr/>
          </p:nvSpPr>
          <p:spPr>
            <a:xfrm>
              <a:off x="10401681" y="2263140"/>
              <a:ext cx="5029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公布</a:t>
              </a:r>
            </a:p>
          </p:txBody>
        </p:sp>
        <p:sp>
          <p:nvSpPr>
            <p:cNvPr id="40" name="TextBox 40"/>
            <p:cNvSpPr txBox="1"/>
            <p:nvPr/>
          </p:nvSpPr>
          <p:spPr>
            <a:xfrm>
              <a:off x="10080117" y="2616518"/>
              <a:ext cx="1104138" cy="264033"/>
            </a:xfrm>
            <a:prstGeom prst="rect">
              <a:avLst/>
            </a:prstGeom>
            <a:noFill/>
            <a:ln>
              <a:noFill/>
            </a:ln>
          </p:spPr>
          <p:txBody>
            <a:bodyPr wrap="none" lIns="0" tIns="0" rIns="0" bIns="0" anchor="t" anchorCtr="0">
              <a:spAutoFit/>
            </a:bodyPr>
            <a:lstStyle/>
            <a:p>
              <a:pPr algn="l"/>
              <a:r>
                <a:rPr lang="zh-CN" sz="1350" dirty="0">
                  <a:solidFill>
                    <a:srgbClr val="E7EDF4"/>
                  </a:solidFill>
                  <a:latin typeface="+mn-lt"/>
                  <a:ea typeface="+mn-ea"/>
                  <a:cs typeface="+mn-cs"/>
                </a:rPr>
                <a:t>教师确认公布</a:t>
              </a:r>
            </a:p>
          </p:txBody>
        </p:sp>
        <p:sp>
          <p:nvSpPr>
            <p:cNvPr id="41" name="Line 41"/>
            <p:cNvSpPr/>
            <p:nvPr/>
          </p:nvSpPr>
          <p:spPr>
            <a:xfrm flipV="1">
              <a:off x="3619500" y="2990850"/>
              <a:ext cx="1" cy="285750"/>
            </a:xfrm>
            <a:prstGeom prst="line">
              <a:avLst/>
            </a:prstGeom>
            <a:noFill/>
            <a:ln w="19050">
              <a:solidFill>
                <a:srgbClr val="C62828"/>
              </a:solidFill>
              <a:tailEnd type="triangle" w="lg" len="lg"/>
            </a:ln>
          </p:spPr>
        </p:sp>
        <p:sp>
          <p:nvSpPr>
            <p:cNvPr id="42" name="Line 42"/>
            <p:cNvSpPr/>
            <p:nvPr/>
          </p:nvSpPr>
          <p:spPr>
            <a:xfrm flipV="1">
              <a:off x="9048750" y="2990850"/>
              <a:ext cx="1" cy="285750"/>
            </a:xfrm>
            <a:prstGeom prst="line">
              <a:avLst/>
            </a:prstGeom>
            <a:noFill/>
            <a:ln w="19050">
              <a:solidFill>
                <a:srgbClr val="C62828"/>
              </a:solidFill>
              <a:tailEnd type="triangle" w="lg" len="lg"/>
            </a:ln>
          </p:spPr>
        </p:sp>
      </p:grpSp>
      <p:grpSp>
        <p:nvGrpSpPr>
          <p:cNvPr id="48" name="Group 48"/>
          <p:cNvGrpSpPr/>
          <p:nvPr/>
        </p:nvGrpSpPr>
        <p:grpSpPr>
          <a:xfrm>
            <a:off x="2286000" y="3352800"/>
            <a:ext cx="2857500" cy="723900"/>
            <a:chOff x="2286000" y="3352800"/>
            <a:chExt cx="2857500" cy="723900"/>
          </a:xfrm>
        </p:grpSpPr>
        <p:sp>
          <p:nvSpPr>
            <p:cNvPr id="44" name="Rectangle 44"/>
            <p:cNvSpPr/>
            <p:nvPr/>
          </p:nvSpPr>
          <p:spPr>
            <a:xfrm>
              <a:off x="2286000" y="3352800"/>
              <a:ext cx="2857500" cy="723900"/>
            </a:xfrm>
            <a:prstGeom prst="roundRect">
              <a:avLst>
                <a:gd name="adj" fmla="val 23684"/>
              </a:avLst>
            </a:prstGeom>
            <a:solidFill>
              <a:schemeClr val="lt2"/>
            </a:solidFill>
            <a:ln>
              <a:noFill/>
            </a:ln>
          </p:spPr>
        </p:sp>
        <p:sp>
          <p:nvSpPr>
            <p:cNvPr id="45" name="Rectangle 45"/>
            <p:cNvSpPr/>
            <p:nvPr/>
          </p:nvSpPr>
          <p:spPr>
            <a:xfrm>
              <a:off x="2286000" y="3352800"/>
              <a:ext cx="57150" cy="723900"/>
            </a:xfrm>
            <a:prstGeom prst="roundRect">
              <a:avLst>
                <a:gd name="adj" fmla="val 50000"/>
              </a:avLst>
            </a:prstGeom>
            <a:solidFill>
              <a:srgbClr val="C62828"/>
            </a:solidFill>
            <a:ln>
              <a:noFill/>
            </a:ln>
          </p:spPr>
        </p:sp>
        <p:sp>
          <p:nvSpPr>
            <p:cNvPr id="46" name="TextBox 46"/>
            <p:cNvSpPr txBox="1"/>
            <p:nvPr/>
          </p:nvSpPr>
          <p:spPr>
            <a:xfrm>
              <a:off x="2507742" y="3492818"/>
              <a:ext cx="1467612"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分值与完整性校验</a:t>
              </a:r>
            </a:p>
          </p:txBody>
        </p:sp>
        <p:sp>
          <p:nvSpPr>
            <p:cNvPr id="47" name="TextBox 47"/>
            <p:cNvSpPr txBox="1"/>
            <p:nvPr/>
          </p:nvSpPr>
          <p:spPr>
            <a:xfrm>
              <a:off x="2507742" y="3759518"/>
              <a:ext cx="1494873" cy="264033"/>
            </a:xfrm>
            <a:prstGeom prst="rect">
              <a:avLst/>
            </a:prstGeom>
            <a:noFill/>
            <a:ln>
              <a:noFill/>
            </a:ln>
          </p:spPr>
          <p:txBody>
            <a:bodyPr wrap="none" lIns="0" tIns="0" rIns="0" bIns="0" anchor="t" anchorCtr="0">
              <a:spAutoFit/>
            </a:bodyPr>
            <a:lstStyle/>
            <a:p>
              <a:pPr algn="l"/>
              <a:r>
                <a:rPr lang="zh-CN" sz="1350" dirty="0">
                  <a:solidFill>
                    <a:srgbClr val="C62828"/>
                  </a:solidFill>
                  <a:latin typeface="+mn-lt"/>
                  <a:ea typeface="+mn-ea"/>
                  <a:cs typeface="+mn-cs"/>
                </a:rPr>
                <a:t>不通过 → 退回组卷</a:t>
              </a:r>
            </a:p>
          </p:txBody>
        </p:sp>
      </p:grpSp>
      <p:grpSp>
        <p:nvGrpSpPr>
          <p:cNvPr id="53" name="Group 53"/>
          <p:cNvGrpSpPr/>
          <p:nvPr/>
        </p:nvGrpSpPr>
        <p:grpSpPr>
          <a:xfrm>
            <a:off x="7715250" y="3352800"/>
            <a:ext cx="2857500" cy="723900"/>
            <a:chOff x="7715250" y="3352800"/>
            <a:chExt cx="2857500" cy="723900"/>
          </a:xfrm>
        </p:grpSpPr>
        <p:sp>
          <p:nvSpPr>
            <p:cNvPr id="49" name="Rectangle 49"/>
            <p:cNvSpPr/>
            <p:nvPr/>
          </p:nvSpPr>
          <p:spPr>
            <a:xfrm>
              <a:off x="7715250" y="3352800"/>
              <a:ext cx="2857500" cy="723900"/>
            </a:xfrm>
            <a:prstGeom prst="roundRect">
              <a:avLst>
                <a:gd name="adj" fmla="val 23684"/>
              </a:avLst>
            </a:prstGeom>
            <a:solidFill>
              <a:schemeClr val="lt2"/>
            </a:solidFill>
            <a:ln>
              <a:noFill/>
            </a:ln>
          </p:spPr>
        </p:sp>
        <p:sp>
          <p:nvSpPr>
            <p:cNvPr id="50" name="Rectangle 50"/>
            <p:cNvSpPr/>
            <p:nvPr/>
          </p:nvSpPr>
          <p:spPr>
            <a:xfrm>
              <a:off x="7715250" y="3352800"/>
              <a:ext cx="57150" cy="723900"/>
            </a:xfrm>
            <a:prstGeom prst="roundRect">
              <a:avLst>
                <a:gd name="adj" fmla="val 50000"/>
              </a:avLst>
            </a:prstGeom>
            <a:solidFill>
              <a:srgbClr val="C62828"/>
            </a:solidFill>
            <a:ln>
              <a:noFill/>
            </a:ln>
          </p:spPr>
        </p:sp>
        <p:sp>
          <p:nvSpPr>
            <p:cNvPr id="51" name="TextBox 51"/>
            <p:cNvSpPr txBox="1"/>
            <p:nvPr/>
          </p:nvSpPr>
          <p:spPr>
            <a:xfrm>
              <a:off x="7936992" y="3492818"/>
              <a:ext cx="1104138"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公布前置校验</a:t>
              </a:r>
            </a:p>
          </p:txBody>
        </p:sp>
        <p:sp>
          <p:nvSpPr>
            <p:cNvPr id="52" name="TextBox 52"/>
            <p:cNvSpPr txBox="1"/>
            <p:nvPr/>
          </p:nvSpPr>
          <p:spPr>
            <a:xfrm>
              <a:off x="7936992" y="3759518"/>
              <a:ext cx="1494873" cy="264033"/>
            </a:xfrm>
            <a:prstGeom prst="rect">
              <a:avLst/>
            </a:prstGeom>
            <a:noFill/>
            <a:ln>
              <a:noFill/>
            </a:ln>
          </p:spPr>
          <p:txBody>
            <a:bodyPr wrap="none" lIns="0" tIns="0" rIns="0" bIns="0" anchor="t" anchorCtr="0">
              <a:spAutoFit/>
            </a:bodyPr>
            <a:lstStyle/>
            <a:p>
              <a:pPr algn="l"/>
              <a:r>
                <a:rPr lang="zh-CN" sz="1350" dirty="0">
                  <a:solidFill>
                    <a:srgbClr val="C62828"/>
                  </a:solidFill>
                  <a:latin typeface="+mn-lt"/>
                  <a:ea typeface="+mn-ea"/>
                  <a:cs typeface="+mn-cs"/>
                </a:rPr>
                <a:t>不通过 → 退回阅卷</a:t>
              </a:r>
            </a:p>
          </p:txBody>
        </p:sp>
      </p:grpSp>
      <p:grpSp>
        <p:nvGrpSpPr>
          <p:cNvPr id="70" name="Group 70"/>
          <p:cNvGrpSpPr/>
          <p:nvPr/>
        </p:nvGrpSpPr>
        <p:grpSpPr>
          <a:xfrm>
            <a:off x="609600" y="4381500"/>
            <a:ext cx="5334000" cy="1333500"/>
            <a:chOff x="609600" y="4381500"/>
            <a:chExt cx="5334000" cy="1333500"/>
          </a:xfrm>
        </p:grpSpPr>
        <p:sp>
          <p:nvSpPr>
            <p:cNvPr id="54" name="Rectangle 54"/>
            <p:cNvSpPr/>
            <p:nvPr/>
          </p:nvSpPr>
          <p:spPr>
            <a:xfrm>
              <a:off x="609600" y="4381500"/>
              <a:ext cx="5334000" cy="1333500"/>
            </a:xfrm>
            <a:prstGeom prst="roundRect">
              <a:avLst>
                <a:gd name="adj" fmla="val 12857"/>
              </a:avLst>
            </a:prstGeom>
            <a:solidFill>
              <a:srgbClr val="E7EDF4"/>
            </a:solidFill>
            <a:ln>
              <a:noFill/>
            </a:ln>
          </p:spPr>
        </p:sp>
        <p:grpSp>
          <p:nvGrpSpPr>
            <p:cNvPr id="61" name="Group 61"/>
            <p:cNvGrpSpPr/>
            <p:nvPr/>
          </p:nvGrpSpPr>
          <p:grpSpPr>
            <a:xfrm>
              <a:off x="863110" y="4645211"/>
              <a:ext cx="191783" cy="172268"/>
              <a:chOff x="863110" y="4645211"/>
              <a:chExt cx="191783" cy="172268"/>
            </a:xfrm>
          </p:grpSpPr>
          <p:sp>
            <p:nvSpPr>
              <p:cNvPr id="55" name="Freeform 55"/>
              <p:cNvSpPr/>
              <p:nvPr/>
            </p:nvSpPr>
            <p:spPr>
              <a:xfrm>
                <a:off x="863110" y="4645211"/>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2"/>
              </a:solidFill>
              <a:ln>
                <a:noFill/>
              </a:ln>
            </p:spPr>
          </p:sp>
          <p:sp>
            <p:nvSpPr>
              <p:cNvPr id="56" name="Freeform 56"/>
              <p:cNvSpPr/>
              <p:nvPr/>
            </p:nvSpPr>
            <p:spPr>
              <a:xfrm>
                <a:off x="863110" y="4707123"/>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2"/>
              </a:solidFill>
              <a:ln>
                <a:noFill/>
              </a:ln>
            </p:spPr>
          </p:sp>
          <p:sp>
            <p:nvSpPr>
              <p:cNvPr id="57" name="Freeform 57"/>
              <p:cNvSpPr/>
              <p:nvPr/>
            </p:nvSpPr>
            <p:spPr>
              <a:xfrm>
                <a:off x="863110" y="4769035"/>
                <a:ext cx="63804" cy="48444"/>
              </a:xfrm>
              <a:custGeom>
                <a:avLst/>
                <a:gdLst/>
                <a:ahLst/>
                <a:cxnLst/>
                <a:rect l="l" t="t" r="r" b="b"/>
                <a:pathLst>
                  <a:path w="63804" h="48444">
                    <a:moveTo>
                      <a:pt x="59776" y="4028"/>
                    </a:moveTo>
                    <a:cubicBezTo>
                      <a:pt x="63804" y="8058"/>
                      <a:pt x="63804" y="14589"/>
                      <a:pt x="59776" y="18619"/>
                    </a:cubicBezTo>
                    <a:lnTo>
                      <a:pt x="33979" y="44416"/>
                    </a:lnTo>
                    <a:cubicBezTo>
                      <a:pt x="29950" y="48444"/>
                      <a:pt x="23418" y="48444"/>
                      <a:pt x="19389" y="44416"/>
                    </a:cubicBezTo>
                    <a:lnTo>
                      <a:pt x="3911" y="28938"/>
                    </a:lnTo>
                    <a:cubicBezTo>
                      <a:pt x="0" y="24889"/>
                      <a:pt x="56" y="18453"/>
                      <a:pt x="4036" y="14473"/>
                    </a:cubicBezTo>
                    <a:cubicBezTo>
                      <a:pt x="8016" y="10492"/>
                      <a:pt x="14452" y="10436"/>
                      <a:pt x="18501" y="14347"/>
                    </a:cubicBezTo>
                    <a:lnTo>
                      <a:pt x="26684" y="22530"/>
                    </a:lnTo>
                    <a:lnTo>
                      <a:pt x="45185" y="4028"/>
                    </a:lnTo>
                    <a:cubicBezTo>
                      <a:pt x="49215" y="0"/>
                      <a:pt x="55747" y="0"/>
                      <a:pt x="59776" y="4028"/>
                    </a:cubicBezTo>
                  </a:path>
                </a:pathLst>
              </a:custGeom>
              <a:solidFill>
                <a:schemeClr val="accent2"/>
              </a:solidFill>
              <a:ln>
                <a:noFill/>
              </a:ln>
            </p:spPr>
          </p:sp>
          <p:sp>
            <p:nvSpPr>
              <p:cNvPr id="58" name="Freeform 58"/>
              <p:cNvSpPr/>
              <p:nvPr/>
            </p:nvSpPr>
            <p:spPr>
              <a:xfrm>
                <a:off x="941387" y="4661694"/>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2"/>
              </a:solidFill>
              <a:ln>
                <a:noFill/>
              </a:ln>
            </p:spPr>
          </p:sp>
          <p:sp>
            <p:nvSpPr>
              <p:cNvPr id="59" name="Freeform 59"/>
              <p:cNvSpPr/>
              <p:nvPr/>
            </p:nvSpPr>
            <p:spPr>
              <a:xfrm>
                <a:off x="941387" y="4723606"/>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2"/>
              </a:solidFill>
              <a:ln>
                <a:noFill/>
              </a:ln>
            </p:spPr>
          </p:sp>
          <p:sp>
            <p:nvSpPr>
              <p:cNvPr id="60" name="Freeform 60"/>
              <p:cNvSpPr/>
              <p:nvPr/>
            </p:nvSpPr>
            <p:spPr>
              <a:xfrm>
                <a:off x="941387" y="4785518"/>
                <a:ext cx="113506" cy="20637"/>
              </a:xfrm>
              <a:custGeom>
                <a:avLst/>
                <a:gdLst/>
                <a:ahLst/>
                <a:cxnLst/>
                <a:rect l="l" t="t" r="r" b="b"/>
                <a:pathLst>
                  <a:path w="113506" h="20637">
                    <a:moveTo>
                      <a:pt x="113506" y="10319"/>
                    </a:moveTo>
                    <a:cubicBezTo>
                      <a:pt x="113506" y="16018"/>
                      <a:pt x="108886" y="20637"/>
                      <a:pt x="103187" y="20637"/>
                    </a:cubicBezTo>
                    <a:lnTo>
                      <a:pt x="10319" y="20637"/>
                    </a:lnTo>
                    <a:cubicBezTo>
                      <a:pt x="4620" y="20637"/>
                      <a:pt x="0" y="16018"/>
                      <a:pt x="0" y="10319"/>
                    </a:cubicBezTo>
                    <a:cubicBezTo>
                      <a:pt x="0" y="4620"/>
                      <a:pt x="4620" y="0"/>
                      <a:pt x="10319" y="0"/>
                    </a:cubicBezTo>
                    <a:lnTo>
                      <a:pt x="103187" y="0"/>
                    </a:lnTo>
                    <a:cubicBezTo>
                      <a:pt x="108886" y="0"/>
                      <a:pt x="113506" y="4620"/>
                      <a:pt x="113506" y="10319"/>
                    </a:cubicBezTo>
                  </a:path>
                </a:pathLst>
              </a:custGeom>
              <a:solidFill>
                <a:schemeClr val="accent2"/>
              </a:solidFill>
              <a:ln>
                <a:noFill/>
              </a:ln>
            </p:spPr>
          </p:sp>
        </p:grpSp>
        <p:sp>
          <p:nvSpPr>
            <p:cNvPr id="62" name="TextBox 62"/>
            <p:cNvSpPr txBox="1"/>
            <p:nvPr/>
          </p:nvSpPr>
          <p:spPr>
            <a:xfrm>
              <a:off x="1171956" y="4625340"/>
              <a:ext cx="268376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公布成绩的三个前置条件</a:t>
              </a:r>
            </a:p>
          </p:txBody>
        </p:sp>
        <p:sp>
          <p:nvSpPr>
            <p:cNvPr id="63" name="TextBox 63"/>
            <p:cNvSpPr txBox="1"/>
            <p:nvPr/>
          </p:nvSpPr>
          <p:spPr>
            <a:xfrm>
              <a:off x="831342" y="4959668"/>
              <a:ext cx="183108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缺任何一条都会被拒绝</a:t>
              </a:r>
            </a:p>
          </p:txBody>
        </p:sp>
        <p:sp>
          <p:nvSpPr>
            <p:cNvPr id="64" name="Rectangle 64"/>
            <p:cNvSpPr/>
            <p:nvPr/>
          </p:nvSpPr>
          <p:spPr>
            <a:xfrm>
              <a:off x="838200" y="5238750"/>
              <a:ext cx="1400175" cy="323850"/>
            </a:xfrm>
            <a:prstGeom prst="roundRect">
              <a:avLst>
                <a:gd name="adj" fmla="val 50000"/>
              </a:avLst>
            </a:prstGeom>
            <a:solidFill>
              <a:schemeClr val="lt1"/>
            </a:solidFill>
            <a:ln>
              <a:noFill/>
            </a:ln>
          </p:spPr>
        </p:sp>
        <p:sp>
          <p:nvSpPr>
            <p:cNvPr id="65" name="TextBox 65"/>
            <p:cNvSpPr txBox="1"/>
            <p:nvPr/>
          </p:nvSpPr>
          <p:spPr>
            <a:xfrm>
              <a:off x="981456" y="5312092"/>
              <a:ext cx="110413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至少一份答卷</a:t>
              </a:r>
            </a:p>
          </p:txBody>
        </p:sp>
        <p:sp>
          <p:nvSpPr>
            <p:cNvPr id="66" name="Rectangle 66"/>
            <p:cNvSpPr/>
            <p:nvPr/>
          </p:nvSpPr>
          <p:spPr>
            <a:xfrm>
              <a:off x="2352675" y="5238750"/>
              <a:ext cx="1400175" cy="323850"/>
            </a:xfrm>
            <a:prstGeom prst="roundRect">
              <a:avLst>
                <a:gd name="adj" fmla="val 50000"/>
              </a:avLst>
            </a:prstGeom>
            <a:solidFill>
              <a:schemeClr val="lt1"/>
            </a:solidFill>
            <a:ln>
              <a:noFill/>
            </a:ln>
          </p:spPr>
        </p:sp>
        <p:sp>
          <p:nvSpPr>
            <p:cNvPr id="67" name="TextBox 67"/>
            <p:cNvSpPr txBox="1"/>
            <p:nvPr/>
          </p:nvSpPr>
          <p:spPr>
            <a:xfrm>
              <a:off x="2495931" y="5312092"/>
              <a:ext cx="110413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无人仍在作答</a:t>
              </a:r>
            </a:p>
          </p:txBody>
        </p:sp>
        <p:sp>
          <p:nvSpPr>
            <p:cNvPr id="68" name="Rectangle 68"/>
            <p:cNvSpPr/>
            <p:nvPr/>
          </p:nvSpPr>
          <p:spPr>
            <a:xfrm>
              <a:off x="3867150" y="5238750"/>
              <a:ext cx="1400175" cy="323850"/>
            </a:xfrm>
            <a:prstGeom prst="roundRect">
              <a:avLst>
                <a:gd name="adj" fmla="val 50000"/>
              </a:avLst>
            </a:prstGeom>
            <a:solidFill>
              <a:schemeClr val="lt1"/>
            </a:solidFill>
            <a:ln>
              <a:noFill/>
            </a:ln>
          </p:spPr>
        </p:sp>
        <p:sp>
          <p:nvSpPr>
            <p:cNvPr id="69" name="TextBox 69"/>
            <p:cNvSpPr txBox="1"/>
            <p:nvPr/>
          </p:nvSpPr>
          <p:spPr>
            <a:xfrm>
              <a:off x="4010406" y="5312092"/>
              <a:ext cx="110413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主观题已批完</a:t>
              </a:r>
            </a:p>
          </p:txBody>
        </p:sp>
      </p:grpSp>
      <p:grpSp>
        <p:nvGrpSpPr>
          <p:cNvPr id="83" name="Group 83"/>
          <p:cNvGrpSpPr/>
          <p:nvPr/>
        </p:nvGrpSpPr>
        <p:grpSpPr>
          <a:xfrm>
            <a:off x="6248400" y="4381500"/>
            <a:ext cx="5334000" cy="1333500"/>
            <a:chOff x="6248400" y="4381500"/>
            <a:chExt cx="5334000" cy="1333500"/>
          </a:xfrm>
        </p:grpSpPr>
        <p:sp>
          <p:nvSpPr>
            <p:cNvPr id="71" name="Rectangle 71"/>
            <p:cNvSpPr/>
            <p:nvPr/>
          </p:nvSpPr>
          <p:spPr>
            <a:xfrm>
              <a:off x="6248400" y="4381500"/>
              <a:ext cx="5334000" cy="1333500"/>
            </a:xfrm>
            <a:prstGeom prst="roundRect">
              <a:avLst>
                <a:gd name="adj" fmla="val 12857"/>
              </a:avLst>
            </a:prstGeom>
            <a:solidFill>
              <a:srgbClr val="E7EDF4"/>
            </a:solidFill>
            <a:ln>
              <a:noFill/>
            </a:ln>
          </p:spPr>
        </p:sp>
        <p:sp>
          <p:nvSpPr>
            <p:cNvPr id="72" name="Freeform 72"/>
            <p:cNvSpPr/>
            <p:nvPr/>
          </p:nvSpPr>
          <p:spPr>
            <a:xfrm>
              <a:off x="6486869" y="4651375"/>
              <a:ext cx="227451" cy="165099"/>
            </a:xfrm>
            <a:custGeom>
              <a:avLst/>
              <a:gdLst/>
              <a:ahLst/>
              <a:cxnLst/>
              <a:rect l="l" t="t" r="r" b="b"/>
              <a:pathLst>
                <a:path w="227451" h="165099">
                  <a:moveTo>
                    <a:pt x="113955" y="0"/>
                  </a:moveTo>
                  <a:cubicBezTo>
                    <a:pt x="158223" y="0"/>
                    <a:pt x="195092" y="25064"/>
                    <a:pt x="224005" y="73820"/>
                  </a:cubicBezTo>
                  <a:lnTo>
                    <a:pt x="226275" y="77731"/>
                  </a:lnTo>
                  <a:lnTo>
                    <a:pt x="226739" y="78763"/>
                  </a:lnTo>
                  <a:lnTo>
                    <a:pt x="227049" y="79619"/>
                  </a:lnTo>
                  <a:lnTo>
                    <a:pt x="227193" y="80187"/>
                  </a:lnTo>
                  <a:lnTo>
                    <a:pt x="227338" y="81033"/>
                  </a:lnTo>
                  <a:lnTo>
                    <a:pt x="227451" y="82065"/>
                  </a:lnTo>
                  <a:lnTo>
                    <a:pt x="227451" y="83200"/>
                  </a:lnTo>
                  <a:lnTo>
                    <a:pt x="227307" y="84345"/>
                  </a:lnTo>
                  <a:cubicBezTo>
                    <a:pt x="227239" y="84728"/>
                    <a:pt x="227149" y="85107"/>
                    <a:pt x="227038" y="85480"/>
                  </a:cubicBezTo>
                  <a:lnTo>
                    <a:pt x="226636" y="86595"/>
                  </a:lnTo>
                  <a:lnTo>
                    <a:pt x="226264" y="87369"/>
                  </a:lnTo>
                  <a:lnTo>
                    <a:pt x="226099" y="87678"/>
                  </a:lnTo>
                  <a:cubicBezTo>
                    <a:pt x="197578" y="137579"/>
                    <a:pt x="161091" y="163830"/>
                    <a:pt x="117185" y="165058"/>
                  </a:cubicBezTo>
                  <a:lnTo>
                    <a:pt x="113955" y="165099"/>
                  </a:lnTo>
                  <a:cubicBezTo>
                    <a:pt x="68594" y="165099"/>
                    <a:pt x="31024" y="138797"/>
                    <a:pt x="1812" y="87668"/>
                  </a:cubicBezTo>
                  <a:cubicBezTo>
                    <a:pt x="0" y="84496"/>
                    <a:pt x="0" y="80603"/>
                    <a:pt x="1812" y="77432"/>
                  </a:cubicBezTo>
                  <a:cubicBezTo>
                    <a:pt x="31024" y="26302"/>
                    <a:pt x="68594" y="0"/>
                    <a:pt x="113955" y="0"/>
                  </a:cubicBezTo>
                  <a:close/>
                  <a:moveTo>
                    <a:pt x="113955" y="51594"/>
                  </a:moveTo>
                  <a:cubicBezTo>
                    <a:pt x="96859" y="51594"/>
                    <a:pt x="82999" y="65453"/>
                    <a:pt x="82999" y="82550"/>
                  </a:cubicBezTo>
                  <a:cubicBezTo>
                    <a:pt x="82999" y="99646"/>
                    <a:pt x="96859" y="113506"/>
                    <a:pt x="113955" y="113506"/>
                  </a:cubicBezTo>
                  <a:cubicBezTo>
                    <a:pt x="131052" y="113506"/>
                    <a:pt x="144912" y="99646"/>
                    <a:pt x="144912" y="82550"/>
                  </a:cubicBezTo>
                  <a:cubicBezTo>
                    <a:pt x="144912" y="65453"/>
                    <a:pt x="131052" y="51594"/>
                    <a:pt x="113955" y="51594"/>
                  </a:cubicBezTo>
                </a:path>
              </a:pathLst>
            </a:custGeom>
            <a:solidFill>
              <a:schemeClr val="accent2"/>
            </a:solidFill>
            <a:ln>
              <a:noFill/>
            </a:ln>
          </p:spPr>
        </p:sp>
        <p:sp>
          <p:nvSpPr>
            <p:cNvPr id="73" name="TextBox 73"/>
            <p:cNvSpPr txBox="1"/>
            <p:nvPr/>
          </p:nvSpPr>
          <p:spPr>
            <a:xfrm>
              <a:off x="6810756" y="462534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考试状态流转</a:t>
              </a:r>
            </a:p>
          </p:txBody>
        </p:sp>
        <p:sp>
          <p:nvSpPr>
            <p:cNvPr id="74" name="Rectangle 74"/>
            <p:cNvSpPr/>
            <p:nvPr/>
          </p:nvSpPr>
          <p:spPr>
            <a:xfrm>
              <a:off x="6477000" y="4991100"/>
              <a:ext cx="666750" cy="323850"/>
            </a:xfrm>
            <a:prstGeom prst="roundRect">
              <a:avLst>
                <a:gd name="adj" fmla="val 50000"/>
              </a:avLst>
            </a:prstGeom>
            <a:solidFill>
              <a:schemeClr val="lt1"/>
            </a:solidFill>
            <a:ln>
              <a:noFill/>
            </a:ln>
          </p:spPr>
        </p:sp>
        <p:sp>
          <p:nvSpPr>
            <p:cNvPr id="75" name="TextBox 75"/>
            <p:cNvSpPr txBox="1"/>
            <p:nvPr/>
          </p:nvSpPr>
          <p:spPr>
            <a:xfrm>
              <a:off x="6621780" y="5064442"/>
              <a:ext cx="377190"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草稿</a:t>
              </a:r>
            </a:p>
          </p:txBody>
        </p:sp>
        <p:sp>
          <p:nvSpPr>
            <p:cNvPr id="76" name="TextBox 76"/>
            <p:cNvSpPr txBox="1"/>
            <p:nvPr/>
          </p:nvSpPr>
          <p:spPr>
            <a:xfrm>
              <a:off x="7232142" y="5064442"/>
              <a:ext cx="113671"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a:t>
              </a:r>
            </a:p>
          </p:txBody>
        </p:sp>
        <p:sp>
          <p:nvSpPr>
            <p:cNvPr id="77" name="Rectangle 77"/>
            <p:cNvSpPr/>
            <p:nvPr/>
          </p:nvSpPr>
          <p:spPr>
            <a:xfrm>
              <a:off x="7524750" y="4991100"/>
              <a:ext cx="857250" cy="323850"/>
            </a:xfrm>
            <a:prstGeom prst="roundRect">
              <a:avLst>
                <a:gd name="adj" fmla="val 50000"/>
              </a:avLst>
            </a:prstGeom>
            <a:solidFill>
              <a:schemeClr val="lt1"/>
            </a:solidFill>
            <a:ln>
              <a:noFill/>
            </a:ln>
          </p:spPr>
        </p:sp>
        <p:sp>
          <p:nvSpPr>
            <p:cNvPr id="78" name="TextBox 78"/>
            <p:cNvSpPr txBox="1"/>
            <p:nvPr/>
          </p:nvSpPr>
          <p:spPr>
            <a:xfrm>
              <a:off x="7673912" y="5064442"/>
              <a:ext cx="558927"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已发布</a:t>
              </a:r>
            </a:p>
          </p:txBody>
        </p:sp>
        <p:sp>
          <p:nvSpPr>
            <p:cNvPr id="79" name="TextBox 79"/>
            <p:cNvSpPr txBox="1"/>
            <p:nvPr/>
          </p:nvSpPr>
          <p:spPr>
            <a:xfrm>
              <a:off x="8470392" y="5064442"/>
              <a:ext cx="113671" cy="264033"/>
            </a:xfrm>
            <a:prstGeom prst="rect">
              <a:avLst/>
            </a:prstGeom>
            <a:noFill/>
            <a:ln>
              <a:noFill/>
            </a:ln>
          </p:spPr>
          <p:txBody>
            <a:bodyPr wrap="none" lIns="0" tIns="0" rIns="0" bIns="0" anchor="t" anchorCtr="0">
              <a:spAutoFit/>
            </a:bodyPr>
            <a:lstStyle/>
            <a:p>
              <a:pPr algn="l"/>
              <a:r>
                <a:rPr lang="zh-CN" sz="1350" dirty="0">
                  <a:solidFill>
                    <a:schemeClr val="accent3"/>
                  </a:solidFill>
                  <a:latin typeface="+mn-lt"/>
                  <a:ea typeface="+mn-ea"/>
                  <a:cs typeface="+mn-cs"/>
                </a:rPr>
                <a:t>→</a:t>
              </a:r>
            </a:p>
          </p:txBody>
        </p:sp>
        <p:sp>
          <p:nvSpPr>
            <p:cNvPr id="80" name="Rectangle 80"/>
            <p:cNvSpPr/>
            <p:nvPr/>
          </p:nvSpPr>
          <p:spPr>
            <a:xfrm>
              <a:off x="8763000" y="4991100"/>
              <a:ext cx="1219200" cy="323850"/>
            </a:xfrm>
            <a:prstGeom prst="roundRect">
              <a:avLst>
                <a:gd name="adj" fmla="val 50000"/>
              </a:avLst>
            </a:prstGeom>
            <a:solidFill>
              <a:schemeClr val="accent1"/>
            </a:solidFill>
            <a:ln>
              <a:noFill/>
            </a:ln>
          </p:spPr>
        </p:sp>
        <p:sp>
          <p:nvSpPr>
            <p:cNvPr id="81" name="TextBox 81"/>
            <p:cNvSpPr txBox="1"/>
            <p:nvPr/>
          </p:nvSpPr>
          <p:spPr>
            <a:xfrm>
              <a:off x="8911400" y="5064442"/>
              <a:ext cx="92240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已公布成绩</a:t>
              </a:r>
            </a:p>
          </p:txBody>
        </p:sp>
        <p:sp>
          <p:nvSpPr>
            <p:cNvPr id="82" name="TextBox 82"/>
            <p:cNvSpPr txBox="1"/>
            <p:nvPr/>
          </p:nvSpPr>
          <p:spPr>
            <a:xfrm>
              <a:off x="6470142" y="5435918"/>
              <a:ext cx="3702977"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数据库另预留：进行中 / 已结束 / 已完成阅卷</a:t>
              </a:r>
            </a:p>
          </p:txBody>
        </p:sp>
      </p:grpSp>
      <p:grpSp>
        <p:nvGrpSpPr>
          <p:cNvPr id="87" name="Group 87"/>
          <p:cNvGrpSpPr/>
          <p:nvPr/>
        </p:nvGrpSpPr>
        <p:grpSpPr>
          <a:xfrm>
            <a:off x="603885" y="6172200"/>
            <a:ext cx="10984230" cy="308134"/>
            <a:chOff x="603885" y="6172200"/>
            <a:chExt cx="10984230" cy="308134"/>
          </a:xfrm>
        </p:grpSpPr>
        <p:sp>
          <p:nvSpPr>
            <p:cNvPr id="84" name="Line 84"/>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85" name="TextBox 85"/>
            <p:cNvSpPr txBox="1"/>
            <p:nvPr/>
          </p:nvSpPr>
          <p:spPr>
            <a:xfrm>
              <a:off x="603885" y="6260306"/>
              <a:ext cx="6826433"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来源：docs/project-report.md 第 2.3 节核心业务流程（含 mermaid 流程图与三个公布前置条件）</a:t>
              </a:r>
            </a:p>
          </p:txBody>
        </p:sp>
        <p:sp>
          <p:nvSpPr>
            <p:cNvPr id="86" name="TextBox 86"/>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07 / 21</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6"/>
            </a:solidFill>
            <a:ln>
              <a:noFill/>
            </a:ln>
          </p:spPr>
        </p:sp>
        <p:sp>
          <p:nvSpPr>
            <p:cNvPr id="3" name="Rectangle 3"/>
            <p:cNvSpPr/>
            <p:nvPr/>
          </p:nvSpPr>
          <p:spPr>
            <a:xfrm>
              <a:off x="914400" y="342900"/>
              <a:ext cx="247650" cy="76200"/>
            </a:xfrm>
            <a:prstGeom prst="roundRect">
              <a:avLst>
                <a:gd name="adj" fmla="val 50000"/>
              </a:avLst>
            </a:prstGeom>
            <a:solidFill>
              <a:schemeClr val="accent6"/>
            </a:solidFill>
            <a:ln>
              <a:noFill/>
            </a:ln>
          </p:spPr>
        </p:sp>
        <p:sp>
          <p:nvSpPr>
            <p:cNvPr id="4" name="Rectangle 4"/>
            <p:cNvSpPr/>
            <p:nvPr/>
          </p:nvSpPr>
          <p:spPr>
            <a:xfrm>
              <a:off x="1219200" y="342900"/>
              <a:ext cx="247650" cy="76200"/>
            </a:xfrm>
            <a:prstGeom prst="roundRect">
              <a:avLst>
                <a:gd name="adj" fmla="val 50000"/>
              </a:avLst>
            </a:prstGeom>
            <a:solidFill>
              <a:schemeClr val="accent6"/>
            </a:solidFill>
            <a:ln>
              <a:noFill/>
            </a:ln>
          </p:spPr>
        </p:sp>
        <p:sp>
          <p:nvSpPr>
            <p:cNvPr id="5" name="Rectangle 5"/>
            <p:cNvSpPr/>
            <p:nvPr/>
          </p:nvSpPr>
          <p:spPr>
            <a:xfrm>
              <a:off x="1524000" y="342900"/>
              <a:ext cx="247650" cy="76200"/>
            </a:xfrm>
            <a:prstGeom prst="roundRect">
              <a:avLst>
                <a:gd name="adj" fmla="val 50000"/>
              </a:avLst>
            </a:prstGeom>
            <a:solidFill>
              <a:schemeClr val="accent6"/>
            </a:solidFill>
            <a:ln>
              <a:noFill/>
            </a:ln>
          </p:spPr>
        </p:sp>
        <p:sp>
          <p:nvSpPr>
            <p:cNvPr id="6" name="Rectangle 6"/>
            <p:cNvSpPr/>
            <p:nvPr/>
          </p:nvSpPr>
          <p:spPr>
            <a:xfrm>
              <a:off x="1828800" y="342900"/>
              <a:ext cx="247650" cy="76200"/>
            </a:xfrm>
            <a:prstGeom prst="roundRect">
              <a:avLst>
                <a:gd name="adj" fmla="val 50000"/>
              </a:avLst>
            </a:prstGeom>
            <a:solidFill>
              <a:schemeClr val="accent6"/>
            </a:solidFill>
            <a:ln>
              <a:noFill/>
            </a:ln>
          </p:spPr>
        </p:sp>
        <p:sp>
          <p:nvSpPr>
            <p:cNvPr id="7" name="Rectangle 7"/>
            <p:cNvSpPr/>
            <p:nvPr/>
          </p:nvSpPr>
          <p:spPr>
            <a:xfrm>
              <a:off x="2133600" y="342900"/>
              <a:ext cx="247650" cy="76200"/>
            </a:xfrm>
            <a:prstGeom prst="roundRect">
              <a:avLst>
                <a:gd name="adj" fmla="val 50000"/>
              </a:avLst>
            </a:prstGeom>
            <a:solidFill>
              <a:schemeClr val="accent6"/>
            </a:solidFill>
            <a:ln>
              <a:noFill/>
            </a:ln>
          </p:spPr>
        </p:sp>
        <p:sp>
          <p:nvSpPr>
            <p:cNvPr id="8" name="TextBox 8"/>
            <p:cNvSpPr txBox="1"/>
            <p:nvPr/>
          </p:nvSpPr>
          <p:spPr>
            <a:xfrm>
              <a:off x="2507742" y="311468"/>
              <a:ext cx="113139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三 · 设计文档</a:t>
              </a:r>
            </a:p>
          </p:txBody>
        </p:sp>
        <p:sp>
          <p:nvSpPr>
            <p:cNvPr id="9" name="TextBox 9"/>
            <p:cNvSpPr txBox="1"/>
            <p:nvPr/>
          </p:nvSpPr>
          <p:spPr>
            <a:xfrm>
              <a:off x="593598" y="726758"/>
              <a:ext cx="384848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技术选型与系统架构</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40" name="Group 40"/>
          <p:cNvGrpSpPr/>
          <p:nvPr/>
        </p:nvGrpSpPr>
        <p:grpSpPr>
          <a:xfrm>
            <a:off x="609600" y="1676400"/>
            <a:ext cx="6629400" cy="3966401"/>
            <a:chOff x="609600" y="1676400"/>
            <a:chExt cx="6629400" cy="3966401"/>
          </a:xfrm>
        </p:grpSpPr>
        <p:sp>
          <p:nvSpPr>
            <p:cNvPr id="12" name="Rectangle 12"/>
            <p:cNvSpPr/>
            <p:nvPr/>
          </p:nvSpPr>
          <p:spPr>
            <a:xfrm>
              <a:off x="609600" y="1676400"/>
              <a:ext cx="6629400" cy="419100"/>
            </a:xfrm>
            <a:prstGeom prst="roundRect">
              <a:avLst>
                <a:gd name="adj" fmla="val 31818"/>
              </a:avLst>
            </a:prstGeom>
            <a:solidFill>
              <a:schemeClr val="accent1"/>
            </a:solidFill>
            <a:ln>
              <a:noFill/>
            </a:ln>
          </p:spPr>
        </p:sp>
        <p:sp>
          <p:nvSpPr>
            <p:cNvPr id="13" name="Rectangle 13"/>
            <p:cNvSpPr/>
            <p:nvPr/>
          </p:nvSpPr>
          <p:spPr>
            <a:xfrm>
              <a:off x="609600" y="2171700"/>
              <a:ext cx="1143000" cy="3467100"/>
            </a:xfrm>
            <a:prstGeom prst="roundRect">
              <a:avLst>
                <a:gd name="adj" fmla="val 11667"/>
              </a:avLst>
            </a:prstGeom>
            <a:solidFill>
              <a:schemeClr val="lt2"/>
            </a:solidFill>
            <a:ln>
              <a:noFill/>
            </a:ln>
          </p:spPr>
        </p:sp>
        <p:sp>
          <p:nvSpPr>
            <p:cNvPr id="14" name="TextBox 14"/>
            <p:cNvSpPr txBox="1"/>
            <p:nvPr/>
          </p:nvSpPr>
          <p:spPr>
            <a:xfrm>
              <a:off x="717042" y="1806892"/>
              <a:ext cx="37719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层次</a:t>
              </a:r>
            </a:p>
          </p:txBody>
        </p:sp>
        <p:sp>
          <p:nvSpPr>
            <p:cNvPr id="15" name="TextBox 15"/>
            <p:cNvSpPr txBox="1"/>
            <p:nvPr/>
          </p:nvSpPr>
          <p:spPr>
            <a:xfrm>
              <a:off x="1860042" y="1806892"/>
              <a:ext cx="37719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选型</a:t>
              </a:r>
            </a:p>
          </p:txBody>
        </p:sp>
        <p:sp>
          <p:nvSpPr>
            <p:cNvPr id="16" name="TextBox 16"/>
            <p:cNvSpPr txBox="1"/>
            <p:nvPr/>
          </p:nvSpPr>
          <p:spPr>
            <a:xfrm>
              <a:off x="4717542" y="1806892"/>
              <a:ext cx="922401"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为什么选它</a:t>
              </a:r>
            </a:p>
          </p:txBody>
        </p:sp>
        <p:sp>
          <p:nvSpPr>
            <p:cNvPr id="17" name="Line 17"/>
            <p:cNvSpPr/>
            <p:nvPr/>
          </p:nvSpPr>
          <p:spPr>
            <a:xfrm>
              <a:off x="609600" y="2686050"/>
              <a:ext cx="6629400" cy="9525"/>
            </a:xfrm>
            <a:custGeom>
              <a:avLst/>
              <a:gdLst/>
              <a:ahLst/>
              <a:cxnLst/>
              <a:rect l="l" t="t" r="r" b="b"/>
              <a:pathLst>
                <a:path w="6629400" h="9525">
                  <a:moveTo>
                    <a:pt x="0" y="0"/>
                  </a:moveTo>
                  <a:lnTo>
                    <a:pt x="6629400" y="0"/>
                  </a:lnTo>
                </a:path>
              </a:pathLst>
            </a:custGeom>
            <a:noFill/>
            <a:ln w="9525">
              <a:solidFill>
                <a:schemeClr val="accent6"/>
              </a:solidFill>
            </a:ln>
          </p:spPr>
        </p:sp>
        <p:sp>
          <p:nvSpPr>
            <p:cNvPr id="18" name="Line 18"/>
            <p:cNvSpPr/>
            <p:nvPr/>
          </p:nvSpPr>
          <p:spPr>
            <a:xfrm>
              <a:off x="609600" y="3276600"/>
              <a:ext cx="6629400" cy="9525"/>
            </a:xfrm>
            <a:custGeom>
              <a:avLst/>
              <a:gdLst/>
              <a:ahLst/>
              <a:cxnLst/>
              <a:rect l="l" t="t" r="r" b="b"/>
              <a:pathLst>
                <a:path w="6629400" h="9525">
                  <a:moveTo>
                    <a:pt x="0" y="0"/>
                  </a:moveTo>
                  <a:lnTo>
                    <a:pt x="6629400" y="0"/>
                  </a:lnTo>
                </a:path>
              </a:pathLst>
            </a:custGeom>
            <a:noFill/>
            <a:ln w="9525">
              <a:solidFill>
                <a:schemeClr val="accent6"/>
              </a:solidFill>
            </a:ln>
          </p:spPr>
        </p:sp>
        <p:sp>
          <p:nvSpPr>
            <p:cNvPr id="19" name="Line 19"/>
            <p:cNvSpPr/>
            <p:nvPr/>
          </p:nvSpPr>
          <p:spPr>
            <a:xfrm>
              <a:off x="609600" y="3867150"/>
              <a:ext cx="6629400" cy="9525"/>
            </a:xfrm>
            <a:custGeom>
              <a:avLst/>
              <a:gdLst/>
              <a:ahLst/>
              <a:cxnLst/>
              <a:rect l="l" t="t" r="r" b="b"/>
              <a:pathLst>
                <a:path w="6629400" h="9525">
                  <a:moveTo>
                    <a:pt x="0" y="0"/>
                  </a:moveTo>
                  <a:lnTo>
                    <a:pt x="6629400" y="0"/>
                  </a:lnTo>
                </a:path>
              </a:pathLst>
            </a:custGeom>
            <a:noFill/>
            <a:ln w="9525">
              <a:solidFill>
                <a:schemeClr val="accent6"/>
              </a:solidFill>
            </a:ln>
          </p:spPr>
        </p:sp>
        <p:sp>
          <p:nvSpPr>
            <p:cNvPr id="20" name="Line 20"/>
            <p:cNvSpPr/>
            <p:nvPr/>
          </p:nvSpPr>
          <p:spPr>
            <a:xfrm>
              <a:off x="609600" y="4457700"/>
              <a:ext cx="6629400" cy="9525"/>
            </a:xfrm>
            <a:custGeom>
              <a:avLst/>
              <a:gdLst/>
              <a:ahLst/>
              <a:cxnLst/>
              <a:rect l="l" t="t" r="r" b="b"/>
              <a:pathLst>
                <a:path w="6629400" h="9525">
                  <a:moveTo>
                    <a:pt x="0" y="0"/>
                  </a:moveTo>
                  <a:lnTo>
                    <a:pt x="6629400" y="0"/>
                  </a:lnTo>
                </a:path>
              </a:pathLst>
            </a:custGeom>
            <a:noFill/>
            <a:ln w="9525">
              <a:solidFill>
                <a:schemeClr val="accent6"/>
              </a:solidFill>
            </a:ln>
          </p:spPr>
        </p:sp>
        <p:sp>
          <p:nvSpPr>
            <p:cNvPr id="21" name="Line 21"/>
            <p:cNvSpPr/>
            <p:nvPr/>
          </p:nvSpPr>
          <p:spPr>
            <a:xfrm>
              <a:off x="609600" y="5048250"/>
              <a:ext cx="6629400" cy="9525"/>
            </a:xfrm>
            <a:custGeom>
              <a:avLst/>
              <a:gdLst/>
              <a:ahLst/>
              <a:cxnLst/>
              <a:rect l="l" t="t" r="r" b="b"/>
              <a:pathLst>
                <a:path w="6629400" h="9525">
                  <a:moveTo>
                    <a:pt x="0" y="0"/>
                  </a:moveTo>
                  <a:lnTo>
                    <a:pt x="6629400" y="0"/>
                  </a:lnTo>
                </a:path>
              </a:pathLst>
            </a:custGeom>
            <a:noFill/>
            <a:ln w="9525">
              <a:solidFill>
                <a:schemeClr val="accent6"/>
              </a:solidFill>
            </a:ln>
          </p:spPr>
        </p:sp>
        <p:sp>
          <p:nvSpPr>
            <p:cNvPr id="22" name="TextBox 22"/>
            <p:cNvSpPr txBox="1"/>
            <p:nvPr/>
          </p:nvSpPr>
          <p:spPr>
            <a:xfrm>
              <a:off x="717042" y="2197418"/>
              <a:ext cx="377190"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前端</a:t>
              </a:r>
            </a:p>
          </p:txBody>
        </p:sp>
        <p:sp>
          <p:nvSpPr>
            <p:cNvPr id="23" name="TextBox 23"/>
            <p:cNvSpPr txBox="1"/>
            <p:nvPr/>
          </p:nvSpPr>
          <p:spPr>
            <a:xfrm>
              <a:off x="1860042" y="2197418"/>
              <a:ext cx="172821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Vue 3.5 + TypeScript</a:t>
              </a:r>
              <a:br/>
              <a:r>
                <a:rPr lang="zh-CN" sz="1350" dirty="0">
                  <a:solidFill>
                    <a:schemeClr val="dk1"/>
                  </a:solidFill>
                  <a:latin typeface="+mn-lt"/>
                  <a:ea typeface="+mn-ea"/>
                  <a:cs typeface="+mn-cs"/>
                </a:rPr>
                <a:t>+ Vite 8</a:t>
              </a:r>
            </a:p>
          </p:txBody>
        </p:sp>
        <p:sp>
          <p:nvSpPr>
            <p:cNvPr id="24" name="TextBox 24"/>
            <p:cNvSpPr txBox="1"/>
            <p:nvPr/>
          </p:nvSpPr>
          <p:spPr>
            <a:xfrm>
              <a:off x="4717542" y="2197418"/>
              <a:ext cx="1993964"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课程指定；TypeScript 让</a:t>
              </a:r>
              <a:br/>
              <a:r>
                <a:rPr lang="zh-CN" sz="1350" dirty="0">
                  <a:solidFill>
                    <a:schemeClr val="dk1"/>
                  </a:solidFill>
                  <a:latin typeface="+mn-lt"/>
                  <a:ea typeface="+mn-ea"/>
                  <a:cs typeface="+mn-cs"/>
                </a:rPr>
                <a:t>接口在编译期对齐</a:t>
              </a:r>
            </a:p>
          </p:txBody>
        </p:sp>
        <p:sp>
          <p:nvSpPr>
            <p:cNvPr id="25" name="TextBox 25"/>
            <p:cNvSpPr txBox="1"/>
            <p:nvPr/>
          </p:nvSpPr>
          <p:spPr>
            <a:xfrm>
              <a:off x="717042" y="2787968"/>
              <a:ext cx="377190"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后端</a:t>
              </a:r>
            </a:p>
          </p:txBody>
        </p:sp>
        <p:sp>
          <p:nvSpPr>
            <p:cNvPr id="26" name="TextBox 26"/>
            <p:cNvSpPr txBox="1"/>
            <p:nvPr/>
          </p:nvSpPr>
          <p:spPr>
            <a:xfrm>
              <a:off x="1860042" y="2787968"/>
              <a:ext cx="1582484"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Spring Boot 3.5.16</a:t>
              </a:r>
              <a:br/>
              <a:r>
                <a:rPr lang="zh-CN" sz="1350" dirty="0">
                  <a:solidFill>
                    <a:schemeClr val="dk1"/>
                  </a:solidFill>
                  <a:latin typeface="+mn-lt"/>
                  <a:ea typeface="+mn-ea"/>
                  <a:cs typeface="+mn-cs"/>
                </a:rPr>
                <a:t>+ Spring Security</a:t>
              </a:r>
            </a:p>
          </p:txBody>
        </p:sp>
        <p:sp>
          <p:nvSpPr>
            <p:cNvPr id="27" name="TextBox 27"/>
            <p:cNvSpPr txBox="1"/>
            <p:nvPr/>
          </p:nvSpPr>
          <p:spPr>
            <a:xfrm>
              <a:off x="4717542" y="2787968"/>
              <a:ext cx="1976818"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课程指定；Security 提供</a:t>
              </a:r>
              <a:br/>
              <a:r>
                <a:rPr lang="zh-CN" sz="1350" dirty="0">
                  <a:solidFill>
                    <a:schemeClr val="dk1"/>
                  </a:solidFill>
                  <a:latin typeface="+mn-lt"/>
                  <a:ea typeface="+mn-ea"/>
                  <a:cs typeface="+mn-cs"/>
                </a:rPr>
                <a:t>成熟的 JWT 与方法级鉴权</a:t>
              </a:r>
            </a:p>
          </p:txBody>
        </p:sp>
        <p:sp>
          <p:nvSpPr>
            <p:cNvPr id="28" name="TextBox 28"/>
            <p:cNvSpPr txBox="1"/>
            <p:nvPr/>
          </p:nvSpPr>
          <p:spPr>
            <a:xfrm>
              <a:off x="717042" y="3378518"/>
              <a:ext cx="558927"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持久层</a:t>
              </a:r>
            </a:p>
          </p:txBody>
        </p:sp>
        <p:sp>
          <p:nvSpPr>
            <p:cNvPr id="29" name="TextBox 29"/>
            <p:cNvSpPr txBox="1"/>
            <p:nvPr/>
          </p:nvSpPr>
          <p:spPr>
            <a:xfrm>
              <a:off x="1860042" y="3378518"/>
              <a:ext cx="202462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Spring JDBC JdbcClient</a:t>
              </a:r>
            </a:p>
          </p:txBody>
        </p:sp>
        <p:sp>
          <p:nvSpPr>
            <p:cNvPr id="30" name="TextBox 30"/>
            <p:cNvSpPr txBox="1"/>
            <p:nvPr/>
          </p:nvSpPr>
          <p:spPr>
            <a:xfrm>
              <a:off x="4717542" y="3378518"/>
              <a:ext cx="1771078"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SQL 全部显式可见，</a:t>
              </a:r>
              <a:br/>
              <a:r>
                <a:rPr lang="zh-CN" sz="1350" dirty="0">
                  <a:solidFill>
                    <a:schemeClr val="dk1"/>
                  </a:solidFill>
                  <a:latin typeface="+mn-lt"/>
                  <a:ea typeface="+mn-ea"/>
                  <a:cs typeface="+mn-cs"/>
                </a:rPr>
                <a:t>避免 N+1 之类隐式行为</a:t>
              </a:r>
            </a:p>
          </p:txBody>
        </p:sp>
        <p:sp>
          <p:nvSpPr>
            <p:cNvPr id="31" name="TextBox 31"/>
            <p:cNvSpPr txBox="1"/>
            <p:nvPr/>
          </p:nvSpPr>
          <p:spPr>
            <a:xfrm>
              <a:off x="717042" y="3969068"/>
              <a:ext cx="558927"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数据库</a:t>
              </a:r>
            </a:p>
          </p:txBody>
        </p:sp>
        <p:sp>
          <p:nvSpPr>
            <p:cNvPr id="32" name="TextBox 32"/>
            <p:cNvSpPr txBox="1"/>
            <p:nvPr/>
          </p:nvSpPr>
          <p:spPr>
            <a:xfrm>
              <a:off x="1860042" y="3969068"/>
              <a:ext cx="242457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MySQL 8.4 LTS + Flyway 11</a:t>
              </a:r>
            </a:p>
          </p:txBody>
        </p:sp>
        <p:sp>
          <p:nvSpPr>
            <p:cNvPr id="33" name="TextBox 33"/>
            <p:cNvSpPr txBox="1"/>
            <p:nvPr/>
          </p:nvSpPr>
          <p:spPr>
            <a:xfrm>
              <a:off x="4717542" y="3969068"/>
              <a:ext cx="172821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结构变更一律版本化，</a:t>
              </a:r>
              <a:br/>
              <a:r>
                <a:rPr lang="zh-CN" sz="1350" dirty="0">
                  <a:solidFill>
                    <a:schemeClr val="dk1"/>
                  </a:solidFill>
                  <a:latin typeface="+mn-lt"/>
                  <a:ea typeface="+mn-ea"/>
                  <a:cs typeface="+mn-cs"/>
                </a:rPr>
                <a:t>可从空库重建</a:t>
              </a:r>
            </a:p>
          </p:txBody>
        </p:sp>
        <p:sp>
          <p:nvSpPr>
            <p:cNvPr id="34" name="TextBox 34"/>
            <p:cNvSpPr txBox="1"/>
            <p:nvPr/>
          </p:nvSpPr>
          <p:spPr>
            <a:xfrm>
              <a:off x="717042" y="4559618"/>
              <a:ext cx="377190"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鉴权</a:t>
              </a:r>
            </a:p>
          </p:txBody>
        </p:sp>
        <p:sp>
          <p:nvSpPr>
            <p:cNvPr id="35" name="TextBox 35"/>
            <p:cNvSpPr txBox="1"/>
            <p:nvPr/>
          </p:nvSpPr>
          <p:spPr>
            <a:xfrm>
              <a:off x="1860042" y="4559618"/>
              <a:ext cx="191475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无状态 JWT（HS256）</a:t>
              </a:r>
            </a:p>
          </p:txBody>
        </p:sp>
        <p:sp>
          <p:nvSpPr>
            <p:cNvPr id="36" name="TextBox 36"/>
            <p:cNvSpPr txBox="1"/>
            <p:nvPr/>
          </p:nvSpPr>
          <p:spPr>
            <a:xfrm>
              <a:off x="4717542" y="4559618"/>
              <a:ext cx="207111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有效期 60 分钟；每次请求</a:t>
              </a:r>
              <a:br/>
              <a:r>
                <a:rPr lang="zh-CN" sz="1350" dirty="0">
                  <a:solidFill>
                    <a:schemeClr val="dk1"/>
                  </a:solidFill>
                  <a:latin typeface="+mn-lt"/>
                  <a:ea typeface="+mn-ea"/>
                  <a:cs typeface="+mn-cs"/>
                </a:rPr>
                <a:t>回查用户状态，停用即生效</a:t>
              </a:r>
            </a:p>
          </p:txBody>
        </p:sp>
        <p:sp>
          <p:nvSpPr>
            <p:cNvPr id="37" name="TextBox 37"/>
            <p:cNvSpPr txBox="1"/>
            <p:nvPr/>
          </p:nvSpPr>
          <p:spPr>
            <a:xfrm>
              <a:off x="717042" y="5150168"/>
              <a:ext cx="7406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前端依赖</a:t>
              </a:r>
            </a:p>
          </p:txBody>
        </p:sp>
        <p:sp>
          <p:nvSpPr>
            <p:cNvPr id="38" name="TextBox 38"/>
            <p:cNvSpPr txBox="1"/>
            <p:nvPr/>
          </p:nvSpPr>
          <p:spPr>
            <a:xfrm>
              <a:off x="1860042" y="5150168"/>
              <a:ext cx="2251138"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未引入 Pinia / vue-router /</a:t>
              </a:r>
              <a:br/>
              <a:r>
                <a:rPr lang="zh-CN" sz="1350" dirty="0">
                  <a:solidFill>
                    <a:schemeClr val="dk1"/>
                  </a:solidFill>
                  <a:latin typeface="+mn-lt"/>
                  <a:ea typeface="+mn-ea"/>
                  <a:cs typeface="+mn-cs"/>
                </a:rPr>
                <a:t>ECharts / JPA</a:t>
              </a:r>
            </a:p>
          </p:txBody>
        </p:sp>
        <p:sp>
          <p:nvSpPr>
            <p:cNvPr id="39" name="TextBox 39"/>
            <p:cNvSpPr txBox="1"/>
            <p:nvPr/>
          </p:nvSpPr>
          <p:spPr>
            <a:xfrm>
              <a:off x="4717542" y="5150168"/>
              <a:ext cx="2113978"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运行时依赖只有 Vue 一个，</a:t>
              </a:r>
              <a:br/>
              <a:r>
                <a:rPr lang="zh-CN" sz="1350" dirty="0">
                  <a:solidFill>
                    <a:schemeClr val="dk1"/>
                  </a:solidFill>
                  <a:latin typeface="+mn-lt"/>
                  <a:ea typeface="+mn-ea"/>
                  <a:cs typeface="+mn-cs"/>
                </a:rPr>
                <a:t>构建产物 193.96 KB</a:t>
              </a:r>
            </a:p>
          </p:txBody>
        </p:sp>
      </p:grpSp>
      <p:grpSp>
        <p:nvGrpSpPr>
          <p:cNvPr id="71" name="Group 71"/>
          <p:cNvGrpSpPr/>
          <p:nvPr/>
        </p:nvGrpSpPr>
        <p:grpSpPr>
          <a:xfrm>
            <a:off x="7536942" y="1683068"/>
            <a:ext cx="4045458" cy="4016216"/>
            <a:chOff x="7536942" y="1683068"/>
            <a:chExt cx="4045458" cy="4016216"/>
          </a:xfrm>
        </p:grpSpPr>
        <p:sp>
          <p:nvSpPr>
            <p:cNvPr id="41" name="TextBox 41"/>
            <p:cNvSpPr txBox="1"/>
            <p:nvPr/>
          </p:nvSpPr>
          <p:spPr>
            <a:xfrm>
              <a:off x="7536942" y="1683068"/>
              <a:ext cx="2175023"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系统架构（9 个后端模块）</a:t>
              </a:r>
            </a:p>
          </p:txBody>
        </p:sp>
        <p:sp>
          <p:nvSpPr>
            <p:cNvPr id="42" name="Rectangle 42"/>
            <p:cNvSpPr/>
            <p:nvPr/>
          </p:nvSpPr>
          <p:spPr>
            <a:xfrm>
              <a:off x="7543800" y="1962150"/>
              <a:ext cx="4038600" cy="419100"/>
            </a:xfrm>
            <a:prstGeom prst="roundRect">
              <a:avLst>
                <a:gd name="adj" fmla="val 31818"/>
              </a:avLst>
            </a:prstGeom>
            <a:solidFill>
              <a:srgbClr val="E7EDF4"/>
            </a:solidFill>
            <a:ln>
              <a:noFill/>
            </a:ln>
          </p:spPr>
        </p:sp>
        <p:sp>
          <p:nvSpPr>
            <p:cNvPr id="43" name="TextBox 43"/>
            <p:cNvSpPr txBox="1"/>
            <p:nvPr/>
          </p:nvSpPr>
          <p:spPr>
            <a:xfrm>
              <a:off x="8731139" y="2083118"/>
              <a:ext cx="1663922"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Vue SPA · 浏览器端</a:t>
              </a:r>
            </a:p>
          </p:txBody>
        </p:sp>
        <p:sp>
          <p:nvSpPr>
            <p:cNvPr id="44" name="Line 44"/>
            <p:cNvSpPr/>
            <p:nvPr/>
          </p:nvSpPr>
          <p:spPr>
            <a:xfrm>
              <a:off x="9563100" y="2381250"/>
              <a:ext cx="1" cy="266700"/>
            </a:xfrm>
            <a:prstGeom prst="line">
              <a:avLst/>
            </a:prstGeom>
            <a:noFill/>
            <a:ln w="19050">
              <a:solidFill>
                <a:schemeClr val="accent3"/>
              </a:solidFill>
              <a:tailEnd type="triangle" w="lg" len="lg"/>
            </a:ln>
          </p:spPr>
        </p:sp>
        <p:sp>
          <p:nvSpPr>
            <p:cNvPr id="45" name="TextBox 45"/>
            <p:cNvSpPr txBox="1"/>
            <p:nvPr/>
          </p:nvSpPr>
          <p:spPr>
            <a:xfrm>
              <a:off x="9671685" y="2450306"/>
              <a:ext cx="1015075"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HTTPS / JSON</a:t>
              </a:r>
            </a:p>
          </p:txBody>
        </p:sp>
        <p:sp>
          <p:nvSpPr>
            <p:cNvPr id="46" name="Rectangle 46"/>
            <p:cNvSpPr/>
            <p:nvPr/>
          </p:nvSpPr>
          <p:spPr>
            <a:xfrm>
              <a:off x="7543800" y="2705100"/>
              <a:ext cx="4038600" cy="419100"/>
            </a:xfrm>
            <a:prstGeom prst="roundRect">
              <a:avLst>
                <a:gd name="adj" fmla="val 31818"/>
              </a:avLst>
            </a:prstGeom>
            <a:solidFill>
              <a:schemeClr val="accent1"/>
            </a:solidFill>
            <a:ln>
              <a:noFill/>
            </a:ln>
          </p:spPr>
        </p:sp>
        <p:sp>
          <p:nvSpPr>
            <p:cNvPr id="47" name="TextBox 47"/>
            <p:cNvSpPr txBox="1"/>
            <p:nvPr/>
          </p:nvSpPr>
          <p:spPr>
            <a:xfrm>
              <a:off x="8643725" y="2826068"/>
              <a:ext cx="183875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Spring Boot REST API</a:t>
              </a:r>
            </a:p>
          </p:txBody>
        </p:sp>
        <p:sp>
          <p:nvSpPr>
            <p:cNvPr id="48" name="Rectangle 48"/>
            <p:cNvSpPr/>
            <p:nvPr/>
          </p:nvSpPr>
          <p:spPr>
            <a:xfrm>
              <a:off x="7543800" y="3238500"/>
              <a:ext cx="1276350" cy="323850"/>
            </a:xfrm>
            <a:prstGeom prst="roundRect">
              <a:avLst>
                <a:gd name="adj" fmla="val 35294"/>
              </a:avLst>
            </a:prstGeom>
            <a:solidFill>
              <a:schemeClr val="lt2"/>
            </a:solidFill>
            <a:ln>
              <a:noFill/>
            </a:ln>
          </p:spPr>
        </p:sp>
        <p:sp>
          <p:nvSpPr>
            <p:cNvPr id="49" name="TextBox 49"/>
            <p:cNvSpPr txBox="1"/>
            <p:nvPr/>
          </p:nvSpPr>
          <p:spPr>
            <a:xfrm>
              <a:off x="7975206" y="3311842"/>
              <a:ext cx="413537"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auth</a:t>
              </a:r>
            </a:p>
          </p:txBody>
        </p:sp>
        <p:sp>
          <p:nvSpPr>
            <p:cNvPr id="50" name="Rectangle 50"/>
            <p:cNvSpPr/>
            <p:nvPr/>
          </p:nvSpPr>
          <p:spPr>
            <a:xfrm>
              <a:off x="8924925" y="3238500"/>
              <a:ext cx="1276350" cy="323850"/>
            </a:xfrm>
            <a:prstGeom prst="roundRect">
              <a:avLst>
                <a:gd name="adj" fmla="val 35294"/>
              </a:avLst>
            </a:prstGeom>
            <a:solidFill>
              <a:schemeClr val="lt2"/>
            </a:solidFill>
            <a:ln>
              <a:noFill/>
            </a:ln>
          </p:spPr>
        </p:sp>
        <p:sp>
          <p:nvSpPr>
            <p:cNvPr id="51" name="TextBox 51"/>
            <p:cNvSpPr txBox="1"/>
            <p:nvPr/>
          </p:nvSpPr>
          <p:spPr>
            <a:xfrm>
              <a:off x="9356331" y="3311842"/>
              <a:ext cx="413537"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user</a:t>
              </a:r>
            </a:p>
          </p:txBody>
        </p:sp>
        <p:sp>
          <p:nvSpPr>
            <p:cNvPr id="52" name="Rectangle 52"/>
            <p:cNvSpPr/>
            <p:nvPr/>
          </p:nvSpPr>
          <p:spPr>
            <a:xfrm>
              <a:off x="10306050" y="3238500"/>
              <a:ext cx="1276350" cy="323850"/>
            </a:xfrm>
            <a:prstGeom prst="roundRect">
              <a:avLst>
                <a:gd name="adj" fmla="val 35294"/>
              </a:avLst>
            </a:prstGeom>
            <a:solidFill>
              <a:schemeClr val="lt2"/>
            </a:solidFill>
            <a:ln>
              <a:noFill/>
            </a:ln>
          </p:spPr>
        </p:sp>
        <p:sp>
          <p:nvSpPr>
            <p:cNvPr id="53" name="TextBox 53"/>
            <p:cNvSpPr txBox="1"/>
            <p:nvPr/>
          </p:nvSpPr>
          <p:spPr>
            <a:xfrm>
              <a:off x="10560263" y="3311842"/>
              <a:ext cx="767925"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question</a:t>
              </a:r>
            </a:p>
          </p:txBody>
        </p:sp>
        <p:sp>
          <p:nvSpPr>
            <p:cNvPr id="54" name="Rectangle 54"/>
            <p:cNvSpPr/>
            <p:nvPr/>
          </p:nvSpPr>
          <p:spPr>
            <a:xfrm>
              <a:off x="7543800" y="3638550"/>
              <a:ext cx="1276350" cy="323850"/>
            </a:xfrm>
            <a:prstGeom prst="roundRect">
              <a:avLst>
                <a:gd name="adj" fmla="val 35294"/>
              </a:avLst>
            </a:prstGeom>
            <a:solidFill>
              <a:schemeClr val="lt2"/>
            </a:solidFill>
            <a:ln>
              <a:noFill/>
            </a:ln>
          </p:spPr>
        </p:sp>
        <p:sp>
          <p:nvSpPr>
            <p:cNvPr id="55" name="TextBox 55"/>
            <p:cNvSpPr txBox="1"/>
            <p:nvPr/>
          </p:nvSpPr>
          <p:spPr>
            <a:xfrm>
              <a:off x="7957033" y="3711892"/>
              <a:ext cx="449885"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exam</a:t>
              </a:r>
            </a:p>
          </p:txBody>
        </p:sp>
        <p:sp>
          <p:nvSpPr>
            <p:cNvPr id="56" name="Rectangle 56"/>
            <p:cNvSpPr/>
            <p:nvPr/>
          </p:nvSpPr>
          <p:spPr>
            <a:xfrm>
              <a:off x="8924925" y="3638550"/>
              <a:ext cx="1276350" cy="323850"/>
            </a:xfrm>
            <a:prstGeom prst="roundRect">
              <a:avLst>
                <a:gd name="adj" fmla="val 35294"/>
              </a:avLst>
            </a:prstGeom>
            <a:solidFill>
              <a:schemeClr val="lt2"/>
            </a:solidFill>
            <a:ln>
              <a:noFill/>
            </a:ln>
          </p:spPr>
        </p:sp>
        <p:sp>
          <p:nvSpPr>
            <p:cNvPr id="57" name="TextBox 57"/>
            <p:cNvSpPr txBox="1"/>
            <p:nvPr/>
          </p:nvSpPr>
          <p:spPr>
            <a:xfrm>
              <a:off x="9179138" y="3711892"/>
              <a:ext cx="767925"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practice</a:t>
              </a:r>
            </a:p>
          </p:txBody>
        </p:sp>
        <p:sp>
          <p:nvSpPr>
            <p:cNvPr id="58" name="Rectangle 58"/>
            <p:cNvSpPr/>
            <p:nvPr/>
          </p:nvSpPr>
          <p:spPr>
            <a:xfrm>
              <a:off x="10306050" y="3638550"/>
              <a:ext cx="1276350" cy="323850"/>
            </a:xfrm>
            <a:prstGeom prst="roundRect">
              <a:avLst>
                <a:gd name="adj" fmla="val 35294"/>
              </a:avLst>
            </a:prstGeom>
            <a:solidFill>
              <a:srgbClr val="E7EDF4"/>
            </a:solidFill>
            <a:ln>
              <a:noFill/>
            </a:ln>
          </p:spPr>
        </p:sp>
        <p:sp>
          <p:nvSpPr>
            <p:cNvPr id="59" name="TextBox 59"/>
            <p:cNvSpPr txBox="1"/>
            <p:nvPr/>
          </p:nvSpPr>
          <p:spPr>
            <a:xfrm>
              <a:off x="10860129" y="3711892"/>
              <a:ext cx="168192" cy="264033"/>
            </a:xfrm>
            <a:prstGeom prst="rect">
              <a:avLst/>
            </a:prstGeom>
            <a:noFill/>
            <a:ln>
              <a:noFill/>
            </a:ln>
          </p:spPr>
          <p:txBody>
            <a:bodyPr wrap="none" lIns="0" tIns="0" rIns="0" bIns="0" anchor="t" anchorCtr="0">
              <a:spAutoFit/>
            </a:bodyPr>
            <a:lstStyle/>
            <a:p>
              <a:pPr algn="ctr"/>
              <a:r>
                <a:rPr lang="zh-CN" sz="1350" dirty="0">
                  <a:solidFill>
                    <a:schemeClr val="accent2"/>
                  </a:solidFill>
                  <a:latin typeface="+mn-lt"/>
                  <a:ea typeface="+mn-ea"/>
                  <a:cs typeface="+mn-cs"/>
                </a:rPr>
                <a:t>ai</a:t>
              </a:r>
            </a:p>
          </p:txBody>
        </p:sp>
        <p:sp>
          <p:nvSpPr>
            <p:cNvPr id="60" name="Rectangle 60"/>
            <p:cNvSpPr/>
            <p:nvPr/>
          </p:nvSpPr>
          <p:spPr>
            <a:xfrm>
              <a:off x="7543800" y="4038600"/>
              <a:ext cx="1276350" cy="323850"/>
            </a:xfrm>
            <a:prstGeom prst="roundRect">
              <a:avLst>
                <a:gd name="adj" fmla="val 35294"/>
              </a:avLst>
            </a:prstGeom>
            <a:solidFill>
              <a:schemeClr val="lt2"/>
            </a:solidFill>
            <a:ln>
              <a:noFill/>
            </a:ln>
          </p:spPr>
        </p:sp>
        <p:sp>
          <p:nvSpPr>
            <p:cNvPr id="61" name="TextBox 61"/>
            <p:cNvSpPr txBox="1"/>
            <p:nvPr/>
          </p:nvSpPr>
          <p:spPr>
            <a:xfrm>
              <a:off x="7925229" y="4111942"/>
              <a:ext cx="513493"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stats</a:t>
              </a:r>
            </a:p>
          </p:txBody>
        </p:sp>
        <p:sp>
          <p:nvSpPr>
            <p:cNvPr id="62" name="Rectangle 62"/>
            <p:cNvSpPr/>
            <p:nvPr/>
          </p:nvSpPr>
          <p:spPr>
            <a:xfrm>
              <a:off x="8924925" y="4038600"/>
              <a:ext cx="1276350" cy="323850"/>
            </a:xfrm>
            <a:prstGeom prst="roundRect">
              <a:avLst>
                <a:gd name="adj" fmla="val 35294"/>
              </a:avLst>
            </a:prstGeom>
            <a:solidFill>
              <a:schemeClr val="lt2"/>
            </a:solidFill>
            <a:ln>
              <a:noFill/>
            </a:ln>
          </p:spPr>
        </p:sp>
        <p:sp>
          <p:nvSpPr>
            <p:cNvPr id="63" name="TextBox 63"/>
            <p:cNvSpPr txBox="1"/>
            <p:nvPr/>
          </p:nvSpPr>
          <p:spPr>
            <a:xfrm>
              <a:off x="9238202" y="4111942"/>
              <a:ext cx="649796"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system</a:t>
              </a:r>
            </a:p>
          </p:txBody>
        </p:sp>
        <p:sp>
          <p:nvSpPr>
            <p:cNvPr id="64" name="Rectangle 64"/>
            <p:cNvSpPr/>
            <p:nvPr/>
          </p:nvSpPr>
          <p:spPr>
            <a:xfrm>
              <a:off x="10306050" y="4038600"/>
              <a:ext cx="1276350" cy="323850"/>
            </a:xfrm>
            <a:prstGeom prst="roundRect">
              <a:avLst>
                <a:gd name="adj" fmla="val 35294"/>
              </a:avLst>
            </a:prstGeom>
            <a:solidFill>
              <a:schemeClr val="lt2"/>
            </a:solidFill>
            <a:ln>
              <a:noFill/>
            </a:ln>
          </p:spPr>
        </p:sp>
        <p:sp>
          <p:nvSpPr>
            <p:cNvPr id="65" name="TextBox 65"/>
            <p:cNvSpPr txBox="1"/>
            <p:nvPr/>
          </p:nvSpPr>
          <p:spPr>
            <a:xfrm>
              <a:off x="10601154" y="4111942"/>
              <a:ext cx="686143"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common</a:t>
              </a:r>
            </a:p>
          </p:txBody>
        </p:sp>
        <p:sp>
          <p:nvSpPr>
            <p:cNvPr id="66" name="Line 66"/>
            <p:cNvSpPr/>
            <p:nvPr/>
          </p:nvSpPr>
          <p:spPr>
            <a:xfrm>
              <a:off x="9563100" y="4362450"/>
              <a:ext cx="1" cy="266700"/>
            </a:xfrm>
            <a:prstGeom prst="line">
              <a:avLst/>
            </a:prstGeom>
            <a:noFill/>
            <a:ln w="19050">
              <a:solidFill>
                <a:schemeClr val="accent3"/>
              </a:solidFill>
              <a:tailEnd type="triangle" w="lg" len="lg"/>
            </a:ln>
          </p:spPr>
        </p:sp>
        <p:sp>
          <p:nvSpPr>
            <p:cNvPr id="67" name="Rectangle 67"/>
            <p:cNvSpPr/>
            <p:nvPr/>
          </p:nvSpPr>
          <p:spPr>
            <a:xfrm>
              <a:off x="7543800" y="4686300"/>
              <a:ext cx="4038600" cy="419100"/>
            </a:xfrm>
            <a:prstGeom prst="roundRect">
              <a:avLst>
                <a:gd name="adj" fmla="val 31818"/>
              </a:avLst>
            </a:prstGeom>
            <a:solidFill>
              <a:srgbClr val="E7EDF4"/>
            </a:solidFill>
            <a:ln>
              <a:noFill/>
            </a:ln>
          </p:spPr>
        </p:sp>
        <p:sp>
          <p:nvSpPr>
            <p:cNvPr id="68" name="TextBox 68"/>
            <p:cNvSpPr txBox="1"/>
            <p:nvPr/>
          </p:nvSpPr>
          <p:spPr>
            <a:xfrm>
              <a:off x="8540292" y="4807268"/>
              <a:ext cx="2045617" cy="264033"/>
            </a:xfrm>
            <a:prstGeom prst="rect">
              <a:avLst/>
            </a:prstGeom>
            <a:noFill/>
            <a:ln>
              <a:noFill/>
            </a:ln>
          </p:spPr>
          <p:txBody>
            <a:bodyPr wrap="none" lIns="0" tIns="0" rIns="0" bIns="0" anchor="t" anchorCtr="0">
              <a:spAutoFit/>
            </a:bodyPr>
            <a:lstStyle/>
            <a:p>
              <a:pPr algn="ctr"/>
              <a:r>
                <a:rPr lang="zh-CN" sz="1350" dirty="0">
                  <a:solidFill>
                    <a:schemeClr val="accent1"/>
                  </a:solidFill>
                  <a:latin typeface="+mn-lt"/>
                  <a:ea typeface="+mn-ea"/>
                  <a:cs typeface="+mn-cs"/>
                </a:rPr>
                <a:t>MySQL 8.4 + Flyway 11</a:t>
              </a:r>
            </a:p>
          </p:txBody>
        </p:sp>
        <p:sp>
          <p:nvSpPr>
            <p:cNvPr id="69" name="Rectangle 69"/>
            <p:cNvSpPr/>
            <p:nvPr/>
          </p:nvSpPr>
          <p:spPr>
            <a:xfrm>
              <a:off x="7543800" y="5219700"/>
              <a:ext cx="4038600" cy="419100"/>
            </a:xfrm>
            <a:prstGeom prst="roundRect">
              <a:avLst>
                <a:gd name="adj" fmla="val 31818"/>
              </a:avLst>
            </a:prstGeom>
            <a:solidFill>
              <a:schemeClr val="lt1"/>
            </a:solidFill>
            <a:ln w="9525">
              <a:solidFill>
                <a:schemeClr val="accent2"/>
              </a:solidFill>
              <a:prstDash val="dash"/>
            </a:ln>
          </p:spPr>
        </p:sp>
        <p:sp>
          <p:nvSpPr>
            <p:cNvPr id="70" name="TextBox 70"/>
            <p:cNvSpPr txBox="1"/>
            <p:nvPr/>
          </p:nvSpPr>
          <p:spPr>
            <a:xfrm>
              <a:off x="8266557" y="5307806"/>
              <a:ext cx="2593086" cy="391478"/>
            </a:xfrm>
            <a:prstGeom prst="rect">
              <a:avLst/>
            </a:prstGeom>
            <a:noFill/>
            <a:ln>
              <a:noFill/>
            </a:ln>
          </p:spPr>
          <p:txBody>
            <a:bodyPr wrap="none" lIns="0" tIns="0" rIns="0" bIns="0" anchor="t" anchorCtr="0">
              <a:spAutoFit/>
            </a:bodyPr>
            <a:lstStyle/>
            <a:p>
              <a:pPr algn="ctr">
                <a:lnSpc>
                  <a:spcPts val="1350"/>
                </a:lnSpc>
              </a:pPr>
              <a:r>
                <a:rPr lang="zh-CN" sz="1120" dirty="0">
                  <a:solidFill>
                    <a:schemeClr val="accent2"/>
                  </a:solidFill>
                  <a:latin typeface="+mn-lt"/>
                  <a:ea typeface="+mn-ea"/>
                  <a:cs typeface="+mn-cs"/>
                </a:rPr>
                <a:t>ai 模块只经协议适配层对接外部大模型，</a:t>
              </a:r>
              <a:br/>
              <a:r>
                <a:rPr lang="zh-CN" sz="1120" dirty="0">
                  <a:solidFill>
                    <a:schemeClr val="accent2"/>
                  </a:solidFill>
                  <a:latin typeface="+mn-lt"/>
                  <a:ea typeface="+mn-ea"/>
                  <a:cs typeface="+mn-cs"/>
                </a:rPr>
                <a:t>本身不直连数据库</a:t>
              </a:r>
            </a:p>
          </p:txBody>
        </p:sp>
      </p:grpSp>
      <p:grpSp>
        <p:nvGrpSpPr>
          <p:cNvPr id="75" name="Group 75"/>
          <p:cNvGrpSpPr/>
          <p:nvPr/>
        </p:nvGrpSpPr>
        <p:grpSpPr>
          <a:xfrm>
            <a:off x="603885" y="6172200"/>
            <a:ext cx="10984230" cy="308134"/>
            <a:chOff x="603885" y="6172200"/>
            <a:chExt cx="10984230" cy="308134"/>
          </a:xfrm>
        </p:grpSpPr>
        <p:sp>
          <p:nvSpPr>
            <p:cNvPr id="72" name="Line 72"/>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73" name="TextBox 73"/>
            <p:cNvSpPr txBox="1"/>
            <p:nvPr/>
          </p:nvSpPr>
          <p:spPr>
            <a:xfrm>
              <a:off x="603885" y="6260306"/>
              <a:ext cx="5378999"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来源：docs/project-report.md 第 3.1—3.2 节 · docs/technical-design.md</a:t>
              </a:r>
            </a:p>
          </p:txBody>
        </p:sp>
        <p:sp>
          <p:nvSpPr>
            <p:cNvPr id="74" name="TextBox 74"/>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08 / 21</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6"/>
            </a:solidFill>
            <a:ln>
              <a:noFill/>
            </a:ln>
          </p:spPr>
        </p:sp>
        <p:sp>
          <p:nvSpPr>
            <p:cNvPr id="3" name="Rectangle 3"/>
            <p:cNvSpPr/>
            <p:nvPr/>
          </p:nvSpPr>
          <p:spPr>
            <a:xfrm>
              <a:off x="914400" y="342900"/>
              <a:ext cx="247650" cy="76200"/>
            </a:xfrm>
            <a:prstGeom prst="roundRect">
              <a:avLst>
                <a:gd name="adj" fmla="val 50000"/>
              </a:avLst>
            </a:prstGeom>
            <a:solidFill>
              <a:schemeClr val="accent6"/>
            </a:solidFill>
            <a:ln>
              <a:noFill/>
            </a:ln>
          </p:spPr>
        </p:sp>
        <p:sp>
          <p:nvSpPr>
            <p:cNvPr id="4" name="Rectangle 4"/>
            <p:cNvSpPr/>
            <p:nvPr/>
          </p:nvSpPr>
          <p:spPr>
            <a:xfrm>
              <a:off x="1219200" y="342900"/>
              <a:ext cx="247650" cy="76200"/>
            </a:xfrm>
            <a:prstGeom prst="roundRect">
              <a:avLst>
                <a:gd name="adj" fmla="val 50000"/>
              </a:avLst>
            </a:prstGeom>
            <a:solidFill>
              <a:schemeClr val="accent6"/>
            </a:solidFill>
            <a:ln>
              <a:noFill/>
            </a:ln>
          </p:spPr>
        </p:sp>
        <p:sp>
          <p:nvSpPr>
            <p:cNvPr id="5" name="Rectangle 5"/>
            <p:cNvSpPr/>
            <p:nvPr/>
          </p:nvSpPr>
          <p:spPr>
            <a:xfrm>
              <a:off x="1524000" y="342900"/>
              <a:ext cx="247650" cy="76200"/>
            </a:xfrm>
            <a:prstGeom prst="roundRect">
              <a:avLst>
                <a:gd name="adj" fmla="val 50000"/>
              </a:avLst>
            </a:prstGeom>
            <a:solidFill>
              <a:schemeClr val="accent6"/>
            </a:solidFill>
            <a:ln>
              <a:noFill/>
            </a:ln>
          </p:spPr>
        </p:sp>
        <p:sp>
          <p:nvSpPr>
            <p:cNvPr id="6" name="Rectangle 6"/>
            <p:cNvSpPr/>
            <p:nvPr/>
          </p:nvSpPr>
          <p:spPr>
            <a:xfrm>
              <a:off x="1828800" y="342900"/>
              <a:ext cx="247650" cy="76200"/>
            </a:xfrm>
            <a:prstGeom prst="roundRect">
              <a:avLst>
                <a:gd name="adj" fmla="val 50000"/>
              </a:avLst>
            </a:prstGeom>
            <a:solidFill>
              <a:schemeClr val="accent6"/>
            </a:solidFill>
            <a:ln>
              <a:noFill/>
            </a:ln>
          </p:spPr>
        </p:sp>
        <p:sp>
          <p:nvSpPr>
            <p:cNvPr id="7" name="Rectangle 7"/>
            <p:cNvSpPr/>
            <p:nvPr/>
          </p:nvSpPr>
          <p:spPr>
            <a:xfrm>
              <a:off x="2133600" y="342900"/>
              <a:ext cx="247650" cy="76200"/>
            </a:xfrm>
            <a:prstGeom prst="roundRect">
              <a:avLst>
                <a:gd name="adj" fmla="val 50000"/>
              </a:avLst>
            </a:prstGeom>
            <a:solidFill>
              <a:schemeClr val="accent6"/>
            </a:solidFill>
            <a:ln>
              <a:noFill/>
            </a:ln>
          </p:spPr>
        </p:sp>
        <p:sp>
          <p:nvSpPr>
            <p:cNvPr id="8" name="TextBox 8"/>
            <p:cNvSpPr txBox="1"/>
            <p:nvPr/>
          </p:nvSpPr>
          <p:spPr>
            <a:xfrm>
              <a:off x="2507742" y="311468"/>
              <a:ext cx="113139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三 · 设计文档</a:t>
              </a:r>
            </a:p>
          </p:txBody>
        </p:sp>
        <p:sp>
          <p:nvSpPr>
            <p:cNvPr id="9" name="TextBox 9"/>
            <p:cNvSpPr txBox="1"/>
            <p:nvPr/>
          </p:nvSpPr>
          <p:spPr>
            <a:xfrm>
              <a:off x="593598" y="726758"/>
              <a:ext cx="384848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原型设计与落地界面</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7" name="Group 17"/>
          <p:cNvGrpSpPr/>
          <p:nvPr/>
        </p:nvGrpSpPr>
        <p:grpSpPr>
          <a:xfrm>
            <a:off x="600456" y="1577340"/>
            <a:ext cx="5343144" cy="3874294"/>
            <a:chOff x="600456" y="1577340"/>
            <a:chExt cx="5343144" cy="3874294"/>
          </a:xfrm>
        </p:grpSpPr>
        <p:sp>
          <p:nvSpPr>
            <p:cNvPr id="12" name="TextBox 12"/>
            <p:cNvSpPr txBox="1"/>
            <p:nvPr/>
          </p:nvSpPr>
          <p:spPr>
            <a:xfrm>
              <a:off x="600456" y="157734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原型设计</a:t>
              </a:r>
            </a:p>
          </p:txBody>
        </p:sp>
        <p:sp>
          <p:nvSpPr>
            <p:cNvPr id="13" name="Rectangle 13"/>
            <p:cNvSpPr/>
            <p:nvPr/>
          </p:nvSpPr>
          <p:spPr>
            <a:xfrm>
              <a:off x="609600" y="1905000"/>
              <a:ext cx="5334000" cy="2952750"/>
            </a:xfrm>
            <a:prstGeom prst="roundRect">
              <a:avLst>
                <a:gd name="adj" fmla="val 5806"/>
              </a:avLst>
            </a:prstGeom>
            <a:solidFill>
              <a:schemeClr val="lt2"/>
            </a:solidFill>
            <a:ln w="9525">
              <a:solidFill>
                <a:schemeClr val="accent6"/>
              </a:solidFill>
            </a:ln>
          </p:spPr>
        </p:sp>
        <p:pic>
          <p:nvPicPr>
            <p:cNvPr id="14" name="Image 14"/>
            <p:cNvPicPr>
              <a:picLocks noChangeAspect="1"/>
            </p:cNvPicPr>
            <p:nvPr/>
          </p:nvPicPr>
          <p:blipFill>
            <a:blip r:embed="rId2"/>
            <a:stretch>
              <a:fillRect/>
            </a:stretch>
          </p:blipFill>
          <p:spPr>
            <a:xfrm>
              <a:off x="653328" y="1905000"/>
              <a:ext cx="5246544" cy="2952750"/>
            </a:xfrm>
            <a:prstGeom prst="rect">
              <a:avLst/>
            </a:prstGeom>
          </p:spPr>
        </p:pic>
        <p:sp>
          <p:nvSpPr>
            <p:cNvPr id="15" name="TextBox 15"/>
            <p:cNvSpPr txBox="1"/>
            <p:nvPr/>
          </p:nvSpPr>
          <p:spPr>
            <a:xfrm>
              <a:off x="602742" y="4978718"/>
              <a:ext cx="419366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四个关键页面的原型：登录、题库、组卷、学生答题</a:t>
              </a:r>
            </a:p>
          </p:txBody>
        </p:sp>
        <p:sp>
          <p:nvSpPr>
            <p:cNvPr id="16" name="TextBox 16"/>
            <p:cNvSpPr txBox="1"/>
            <p:nvPr/>
          </p:nvSpPr>
          <p:spPr>
            <a:xfrm>
              <a:off x="603885" y="5231606"/>
              <a:ext cx="2235352"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docs/images/界面原型设计.png</a:t>
              </a:r>
            </a:p>
          </p:txBody>
        </p:sp>
      </p:grpSp>
      <p:grpSp>
        <p:nvGrpSpPr>
          <p:cNvPr id="23" name="Group 23"/>
          <p:cNvGrpSpPr/>
          <p:nvPr/>
        </p:nvGrpSpPr>
        <p:grpSpPr>
          <a:xfrm>
            <a:off x="6239256" y="1577340"/>
            <a:ext cx="5343144" cy="3874294"/>
            <a:chOff x="6239256" y="1577340"/>
            <a:chExt cx="5343144" cy="3874294"/>
          </a:xfrm>
        </p:grpSpPr>
        <p:sp>
          <p:nvSpPr>
            <p:cNvPr id="18" name="TextBox 18"/>
            <p:cNvSpPr txBox="1"/>
            <p:nvPr/>
          </p:nvSpPr>
          <p:spPr>
            <a:xfrm>
              <a:off x="6239256" y="157734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落地界面</a:t>
              </a:r>
            </a:p>
          </p:txBody>
        </p:sp>
        <p:sp>
          <p:nvSpPr>
            <p:cNvPr id="19" name="Rectangle 19"/>
            <p:cNvSpPr/>
            <p:nvPr/>
          </p:nvSpPr>
          <p:spPr>
            <a:xfrm>
              <a:off x="6248400" y="1905000"/>
              <a:ext cx="5334000" cy="2952750"/>
            </a:xfrm>
            <a:prstGeom prst="roundRect">
              <a:avLst>
                <a:gd name="adj" fmla="val 5806"/>
              </a:avLst>
            </a:prstGeom>
            <a:solidFill>
              <a:schemeClr val="lt2"/>
            </a:solidFill>
            <a:ln w="9525">
              <a:solidFill>
                <a:schemeClr val="accent6"/>
              </a:solidFill>
            </a:ln>
          </p:spPr>
        </p:sp>
        <p:pic>
          <p:nvPicPr>
            <p:cNvPr id="20" name="Image 20"/>
            <p:cNvPicPr>
              <a:picLocks noChangeAspect="1"/>
            </p:cNvPicPr>
            <p:nvPr/>
          </p:nvPicPr>
          <p:blipFill>
            <a:blip r:embed="rId3"/>
            <a:stretch>
              <a:fillRect/>
            </a:stretch>
          </p:blipFill>
          <p:spPr>
            <a:xfrm>
              <a:off x="6553200" y="1905000"/>
              <a:ext cx="4724400" cy="2952750"/>
            </a:xfrm>
            <a:prstGeom prst="rect">
              <a:avLst/>
            </a:prstGeom>
          </p:spPr>
        </p:pic>
        <p:sp>
          <p:nvSpPr>
            <p:cNvPr id="21" name="TextBox 21"/>
            <p:cNvSpPr txBox="1"/>
            <p:nvPr/>
          </p:nvSpPr>
          <p:spPr>
            <a:xfrm>
              <a:off x="6241542" y="4978718"/>
              <a:ext cx="419366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题库管理：五种题型、关键词标签、五维筛选与分页</a:t>
              </a:r>
            </a:p>
          </p:txBody>
        </p:sp>
        <p:sp>
          <p:nvSpPr>
            <p:cNvPr id="22" name="TextBox 22"/>
            <p:cNvSpPr txBox="1"/>
            <p:nvPr/>
          </p:nvSpPr>
          <p:spPr>
            <a:xfrm>
              <a:off x="6242685" y="5231606"/>
              <a:ext cx="3614938"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docs/images/screenshots/05-question-bank.png</a:t>
              </a:r>
            </a:p>
          </p:txBody>
        </p:sp>
      </p:grpSp>
      <p:grpSp>
        <p:nvGrpSpPr>
          <p:cNvPr id="26" name="Group 26"/>
          <p:cNvGrpSpPr/>
          <p:nvPr/>
        </p:nvGrpSpPr>
        <p:grpSpPr>
          <a:xfrm>
            <a:off x="609600" y="5524500"/>
            <a:ext cx="10972800" cy="501967"/>
            <a:chOff x="609600" y="5524500"/>
            <a:chExt cx="10972800" cy="501967"/>
          </a:xfrm>
        </p:grpSpPr>
        <p:sp>
          <p:nvSpPr>
            <p:cNvPr id="24" name="Rectangle 24"/>
            <p:cNvSpPr/>
            <p:nvPr/>
          </p:nvSpPr>
          <p:spPr>
            <a:xfrm>
              <a:off x="609600" y="5524500"/>
              <a:ext cx="10972800" cy="457200"/>
            </a:xfrm>
            <a:prstGeom prst="roundRect">
              <a:avLst>
                <a:gd name="adj" fmla="val 37500"/>
              </a:avLst>
            </a:prstGeom>
            <a:solidFill>
              <a:srgbClr val="E7EDF4"/>
            </a:solidFill>
            <a:ln>
              <a:noFill/>
            </a:ln>
          </p:spPr>
        </p:sp>
        <p:sp>
          <p:nvSpPr>
            <p:cNvPr id="25" name="TextBox 25"/>
            <p:cNvSpPr txBox="1"/>
            <p:nvPr/>
          </p:nvSpPr>
          <p:spPr>
            <a:xfrm>
              <a:off x="826770" y="5586412"/>
              <a:ext cx="9442894"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刻意的差异：学生用整页答题界面、没有侧栏——考试期间只需做一件事</a:t>
              </a:r>
            </a:p>
          </p:txBody>
        </p:sp>
      </p:grpSp>
      <p:grpSp>
        <p:nvGrpSpPr>
          <p:cNvPr id="30" name="Group 30"/>
          <p:cNvGrpSpPr/>
          <p:nvPr/>
        </p:nvGrpSpPr>
        <p:grpSpPr>
          <a:xfrm>
            <a:off x="603885" y="6172200"/>
            <a:ext cx="10984230" cy="308134"/>
            <a:chOff x="603885" y="6172200"/>
            <a:chExt cx="10984230" cy="308134"/>
          </a:xfrm>
        </p:grpSpPr>
        <p:sp>
          <p:nvSpPr>
            <p:cNvPr id="27" name="Line 27"/>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8" name="TextBox 28"/>
            <p:cNvSpPr txBox="1"/>
            <p:nvPr/>
          </p:nvSpPr>
          <p:spPr>
            <a:xfrm>
              <a:off x="603885" y="6260306"/>
              <a:ext cx="4579894"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来源：docs/prototype.md · docs/project-report.md 第 3.3 节</a:t>
              </a:r>
            </a:p>
          </p:txBody>
        </p:sp>
        <p:sp>
          <p:nvSpPr>
            <p:cNvPr id="29" name="TextBox 29"/>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09 / 21</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6"/>
            </a:solidFill>
            <a:ln>
              <a:noFill/>
            </a:ln>
          </p:spPr>
        </p:sp>
        <p:sp>
          <p:nvSpPr>
            <p:cNvPr id="3" name="Rectangle 3"/>
            <p:cNvSpPr/>
            <p:nvPr/>
          </p:nvSpPr>
          <p:spPr>
            <a:xfrm>
              <a:off x="914400" y="342900"/>
              <a:ext cx="247650" cy="76200"/>
            </a:xfrm>
            <a:prstGeom prst="roundRect">
              <a:avLst>
                <a:gd name="adj" fmla="val 50000"/>
              </a:avLst>
            </a:prstGeom>
            <a:solidFill>
              <a:schemeClr val="accent6"/>
            </a:solidFill>
            <a:ln>
              <a:noFill/>
            </a:ln>
          </p:spPr>
        </p:sp>
        <p:sp>
          <p:nvSpPr>
            <p:cNvPr id="4" name="Rectangle 4"/>
            <p:cNvSpPr/>
            <p:nvPr/>
          </p:nvSpPr>
          <p:spPr>
            <a:xfrm>
              <a:off x="1219200" y="342900"/>
              <a:ext cx="247650" cy="76200"/>
            </a:xfrm>
            <a:prstGeom prst="roundRect">
              <a:avLst>
                <a:gd name="adj" fmla="val 50000"/>
              </a:avLst>
            </a:prstGeom>
            <a:solidFill>
              <a:schemeClr val="accent6"/>
            </a:solidFill>
            <a:ln>
              <a:noFill/>
            </a:ln>
          </p:spPr>
        </p:sp>
        <p:sp>
          <p:nvSpPr>
            <p:cNvPr id="5" name="Rectangle 5"/>
            <p:cNvSpPr/>
            <p:nvPr/>
          </p:nvSpPr>
          <p:spPr>
            <a:xfrm>
              <a:off x="1524000" y="342900"/>
              <a:ext cx="247650" cy="76200"/>
            </a:xfrm>
            <a:prstGeom prst="roundRect">
              <a:avLst>
                <a:gd name="adj" fmla="val 50000"/>
              </a:avLst>
            </a:prstGeom>
            <a:solidFill>
              <a:schemeClr val="accent6"/>
            </a:solidFill>
            <a:ln>
              <a:noFill/>
            </a:ln>
          </p:spPr>
        </p:sp>
        <p:sp>
          <p:nvSpPr>
            <p:cNvPr id="6" name="Rectangle 6"/>
            <p:cNvSpPr/>
            <p:nvPr/>
          </p:nvSpPr>
          <p:spPr>
            <a:xfrm>
              <a:off x="1828800" y="342900"/>
              <a:ext cx="247650" cy="76200"/>
            </a:xfrm>
            <a:prstGeom prst="roundRect">
              <a:avLst>
                <a:gd name="adj" fmla="val 50000"/>
              </a:avLst>
            </a:prstGeom>
            <a:solidFill>
              <a:schemeClr val="accent6"/>
            </a:solidFill>
            <a:ln>
              <a:noFill/>
            </a:ln>
          </p:spPr>
        </p:sp>
        <p:sp>
          <p:nvSpPr>
            <p:cNvPr id="7" name="Rectangle 7"/>
            <p:cNvSpPr/>
            <p:nvPr/>
          </p:nvSpPr>
          <p:spPr>
            <a:xfrm>
              <a:off x="2133600" y="342900"/>
              <a:ext cx="247650" cy="76200"/>
            </a:xfrm>
            <a:prstGeom prst="roundRect">
              <a:avLst>
                <a:gd name="adj" fmla="val 50000"/>
              </a:avLst>
            </a:prstGeom>
            <a:solidFill>
              <a:schemeClr val="accent6"/>
            </a:solidFill>
            <a:ln>
              <a:noFill/>
            </a:ln>
          </p:spPr>
        </p:sp>
        <p:sp>
          <p:nvSpPr>
            <p:cNvPr id="8" name="TextBox 8"/>
            <p:cNvSpPr txBox="1"/>
            <p:nvPr/>
          </p:nvSpPr>
          <p:spPr>
            <a:xfrm>
              <a:off x="2507742" y="311468"/>
              <a:ext cx="113139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三 · 设计文档</a:t>
              </a:r>
            </a:p>
          </p:txBody>
        </p:sp>
        <p:sp>
          <p:nvSpPr>
            <p:cNvPr id="9" name="TextBox 9"/>
            <p:cNvSpPr txBox="1"/>
            <p:nvPr/>
          </p:nvSpPr>
          <p:spPr>
            <a:xfrm>
              <a:off x="593598" y="726758"/>
              <a:ext cx="656018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API 设计：统一响应与 47 个端点</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3" name="Group 13"/>
          <p:cNvGrpSpPr/>
          <p:nvPr/>
        </p:nvGrpSpPr>
        <p:grpSpPr>
          <a:xfrm>
            <a:off x="598170" y="1624012"/>
            <a:ext cx="8727948" cy="440055"/>
            <a:chOff x="598170" y="1624012"/>
            <a:chExt cx="8727948" cy="440055"/>
          </a:xfrm>
        </p:grpSpPr>
        <p:sp>
          <p:nvSpPr>
            <p:cNvPr id="12" name="TextBox 12"/>
            <p:cNvSpPr txBox="1"/>
            <p:nvPr/>
          </p:nvSpPr>
          <p:spPr>
            <a:xfrm>
              <a:off x="598170" y="1624012"/>
              <a:ext cx="8727948" cy="440055"/>
            </a:xfrm>
            <a:prstGeom prst="rect">
              <a:avLst/>
            </a:prstGeom>
            <a:noFill/>
            <a:ln>
              <a:noFill/>
            </a:ln>
          </p:spPr>
          <p:txBody>
            <a:bodyPr wrap="none" lIns="0" tIns="0" rIns="0" bIns="0" anchor="t" anchorCtr="0">
              <a:spAutoFit/>
            </a:bodyPr>
            <a:lstStyle/>
            <a:p>
              <a:pPr algn="l"/>
              <a:r>
                <a:rPr lang="zh-CN" sz="2250" dirty="0">
                  <a:solidFill>
                    <a:schemeClr val="dk1"/>
                  </a:solidFill>
                  <a:latin typeface="+mn-lt"/>
                  <a:ea typeface="+mn-ea"/>
                  <a:cs typeface="+mn-cs"/>
                </a:rPr>
                <a:t>47 个 REST 端点，成功与失败共用同一层信封，前端集中处理</a:t>
              </a:r>
            </a:p>
          </p:txBody>
        </p:sp>
      </p:grpSp>
      <p:grpSp>
        <p:nvGrpSpPr>
          <p:cNvPr id="18" name="Group 18"/>
          <p:cNvGrpSpPr/>
          <p:nvPr/>
        </p:nvGrpSpPr>
        <p:grpSpPr>
          <a:xfrm>
            <a:off x="600456" y="2034540"/>
            <a:ext cx="5343144" cy="1718310"/>
            <a:chOff x="600456" y="2034540"/>
            <a:chExt cx="5343144" cy="1718310"/>
          </a:xfrm>
        </p:grpSpPr>
        <p:sp>
          <p:nvSpPr>
            <p:cNvPr id="14" name="TextBox 14"/>
            <p:cNvSpPr txBox="1"/>
            <p:nvPr/>
          </p:nvSpPr>
          <p:spPr>
            <a:xfrm>
              <a:off x="600456" y="2034540"/>
              <a:ext cx="987552" cy="352044"/>
            </a:xfrm>
            <a:prstGeom prst="rect">
              <a:avLst/>
            </a:prstGeom>
            <a:noFill/>
            <a:ln>
              <a:noFill/>
            </a:ln>
          </p:spPr>
          <p:txBody>
            <a:bodyPr wrap="none" lIns="0" tIns="0" rIns="0" bIns="0" anchor="t" anchorCtr="0">
              <a:spAutoFit/>
            </a:bodyPr>
            <a:lstStyle/>
            <a:p>
              <a:pPr algn="l"/>
              <a:r>
                <a:rPr lang="zh-CN" sz="1800" b="1" dirty="0">
                  <a:solidFill>
                    <a:srgbClr val="2E7D32"/>
                  </a:solidFill>
                  <a:latin typeface="+mn-lt"/>
                  <a:ea typeface="+mn-ea"/>
                  <a:cs typeface="+mn-cs"/>
                </a:rPr>
                <a:t>成功响应</a:t>
              </a:r>
            </a:p>
          </p:txBody>
        </p:sp>
        <p:sp>
          <p:nvSpPr>
            <p:cNvPr id="15" name="Rectangle 15"/>
            <p:cNvSpPr/>
            <p:nvPr/>
          </p:nvSpPr>
          <p:spPr>
            <a:xfrm>
              <a:off x="609600" y="2343150"/>
              <a:ext cx="5334000" cy="1409700"/>
            </a:xfrm>
            <a:prstGeom prst="roundRect">
              <a:avLst>
                <a:gd name="adj" fmla="val 12162"/>
              </a:avLst>
            </a:prstGeom>
            <a:solidFill>
              <a:schemeClr val="accent1"/>
            </a:solidFill>
            <a:ln>
              <a:noFill/>
            </a:ln>
          </p:spPr>
        </p:sp>
        <p:sp>
          <p:nvSpPr>
            <p:cNvPr id="16" name="TextBox 16"/>
            <p:cNvSpPr txBox="1"/>
            <p:nvPr/>
          </p:nvSpPr>
          <p:spPr>
            <a:xfrm>
              <a:off x="831342" y="2578418"/>
              <a:ext cx="2619756" cy="511683"/>
            </a:xfrm>
            <a:prstGeom prst="rect">
              <a:avLst/>
            </a:prstGeom>
            <a:noFill/>
            <a:ln>
              <a:noFill/>
            </a:ln>
          </p:spPr>
          <p:txBody>
            <a:bodyPr wrap="none" lIns="0" tIns="0" rIns="0" bIns="0" anchor="t" anchorCtr="0">
              <a:spAutoFit/>
            </a:bodyPr>
            <a:lstStyle/>
            <a:p>
              <a:pPr algn="l">
                <a:lnSpc>
                  <a:spcPts val="1950"/>
                </a:lnSpc>
              </a:pPr>
              <a:r>
                <a:rPr lang="zh-CN" sz="1350" dirty="0">
                  <a:solidFill>
                    <a:srgbClr val="E7EDF4"/>
                  </a:solidFill>
                  <a:latin typeface="+mn-lt"/>
                  <a:ea typeface="+mn-ea"/>
                  <a:cs typeface="+mn-cs"/>
                </a:rPr>
                <a:t>{ "data": { /* 业务数据 */ },</a:t>
              </a:r>
              <a:br/>
              <a:r>
                <a:rPr lang="zh-CN" sz="1350" dirty="0">
                  <a:solidFill>
                    <a:srgbClr val="E7EDF4"/>
                  </a:solidFill>
                  <a:latin typeface="+mn-lt"/>
                  <a:ea typeface="+mn-ea"/>
                  <a:cs typeface="+mn-cs"/>
                </a:rPr>
                <a:t>"requestId": "5f16f2eb-..." }</a:t>
              </a:r>
            </a:p>
          </p:txBody>
        </p:sp>
        <p:sp>
          <p:nvSpPr>
            <p:cNvPr id="17" name="TextBox 17"/>
            <p:cNvSpPr txBox="1"/>
            <p:nvPr/>
          </p:nvSpPr>
          <p:spPr>
            <a:xfrm>
              <a:off x="832485" y="3345656"/>
              <a:ext cx="2812902" cy="220028"/>
            </a:xfrm>
            <a:prstGeom prst="rect">
              <a:avLst/>
            </a:prstGeom>
            <a:noFill/>
            <a:ln>
              <a:noFill/>
            </a:ln>
          </p:spPr>
          <p:txBody>
            <a:bodyPr wrap="none" lIns="0" tIns="0" rIns="0" bIns="0" anchor="t" anchorCtr="0">
              <a:spAutoFit/>
            </a:bodyPr>
            <a:lstStyle/>
            <a:p>
              <a:pPr algn="l"/>
              <a:r>
                <a:rPr lang="zh-CN" sz="1120" dirty="0">
                  <a:solidFill>
                    <a:srgbClr val="7FC4E8"/>
                  </a:solidFill>
                  <a:latin typeface="+mn-lt"/>
                  <a:ea typeface="+mn-ea"/>
                  <a:cs typeface="+mn-cs"/>
                </a:rPr>
                <a:t>前端只看 data，requestId 用于日志串联</a:t>
              </a:r>
            </a:p>
          </p:txBody>
        </p:sp>
      </p:grpSp>
      <p:grpSp>
        <p:nvGrpSpPr>
          <p:cNvPr id="23" name="Group 23"/>
          <p:cNvGrpSpPr/>
          <p:nvPr/>
        </p:nvGrpSpPr>
        <p:grpSpPr>
          <a:xfrm>
            <a:off x="6239256" y="2034540"/>
            <a:ext cx="5343144" cy="1718310"/>
            <a:chOff x="6239256" y="2034540"/>
            <a:chExt cx="5343144" cy="1718310"/>
          </a:xfrm>
        </p:grpSpPr>
        <p:sp>
          <p:nvSpPr>
            <p:cNvPr id="19" name="TextBox 19"/>
            <p:cNvSpPr txBox="1"/>
            <p:nvPr/>
          </p:nvSpPr>
          <p:spPr>
            <a:xfrm>
              <a:off x="6239256" y="2034540"/>
              <a:ext cx="987552" cy="352044"/>
            </a:xfrm>
            <a:prstGeom prst="rect">
              <a:avLst/>
            </a:prstGeom>
            <a:noFill/>
            <a:ln>
              <a:noFill/>
            </a:ln>
          </p:spPr>
          <p:txBody>
            <a:bodyPr wrap="none" lIns="0" tIns="0" rIns="0" bIns="0" anchor="t" anchorCtr="0">
              <a:spAutoFit/>
            </a:bodyPr>
            <a:lstStyle/>
            <a:p>
              <a:pPr algn="l"/>
              <a:r>
                <a:rPr lang="zh-CN" sz="1800" b="1" dirty="0">
                  <a:solidFill>
                    <a:srgbClr val="C62828"/>
                  </a:solidFill>
                  <a:latin typeface="+mn-lt"/>
                  <a:ea typeface="+mn-ea"/>
                  <a:cs typeface="+mn-cs"/>
                </a:rPr>
                <a:t>失败响应</a:t>
              </a:r>
            </a:p>
          </p:txBody>
        </p:sp>
        <p:sp>
          <p:nvSpPr>
            <p:cNvPr id="20" name="Rectangle 20"/>
            <p:cNvSpPr/>
            <p:nvPr/>
          </p:nvSpPr>
          <p:spPr>
            <a:xfrm>
              <a:off x="6248400" y="2343150"/>
              <a:ext cx="5334000" cy="1409700"/>
            </a:xfrm>
            <a:prstGeom prst="roundRect">
              <a:avLst>
                <a:gd name="adj" fmla="val 12162"/>
              </a:avLst>
            </a:prstGeom>
            <a:solidFill>
              <a:schemeClr val="accent1"/>
            </a:solidFill>
            <a:ln>
              <a:noFill/>
            </a:ln>
          </p:spPr>
        </p:sp>
        <p:sp>
          <p:nvSpPr>
            <p:cNvPr id="21" name="TextBox 21"/>
            <p:cNvSpPr txBox="1"/>
            <p:nvPr/>
          </p:nvSpPr>
          <p:spPr>
            <a:xfrm>
              <a:off x="6470142" y="2521268"/>
              <a:ext cx="3391281" cy="759333"/>
            </a:xfrm>
            <a:prstGeom prst="rect">
              <a:avLst/>
            </a:prstGeom>
            <a:noFill/>
            <a:ln>
              <a:noFill/>
            </a:ln>
          </p:spPr>
          <p:txBody>
            <a:bodyPr wrap="none" lIns="0" tIns="0" rIns="0" bIns="0" anchor="t" anchorCtr="0">
              <a:spAutoFit/>
            </a:bodyPr>
            <a:lstStyle/>
            <a:p>
              <a:pPr algn="l">
                <a:lnSpc>
                  <a:spcPts val="1950"/>
                </a:lnSpc>
              </a:pPr>
              <a:r>
                <a:rPr lang="zh-CN" sz="1350" dirty="0">
                  <a:solidFill>
                    <a:srgbClr val="E7EDF4"/>
                  </a:solidFill>
                  <a:latin typeface="+mn-lt"/>
                  <a:ea typeface="+mn-ea"/>
                  <a:cs typeface="+mn-cs"/>
                </a:rPr>
                <a:t>{ "code": "PAPER_SCORE_MISMATCH",</a:t>
              </a:r>
              <a:br/>
              <a:r>
                <a:rPr lang="zh-CN" sz="1350" dirty="0">
                  <a:solidFill>
                    <a:srgbClr val="E7EDF4"/>
                  </a:solidFill>
                  <a:latin typeface="+mn-lt"/>
                  <a:ea typeface="+mn-ea"/>
                  <a:cs typeface="+mn-cs"/>
                </a:rPr>
                <a:t>"message": "题目分值合计与总分不一致",</a:t>
              </a:r>
              <a:br/>
              <a:r>
                <a:rPr lang="zh-CN" sz="1350" dirty="0">
                  <a:solidFill>
                    <a:srgbClr val="E7EDF4"/>
                  </a:solidFill>
                  <a:latin typeface="+mn-lt"/>
                  <a:ea typeface="+mn-ea"/>
                  <a:cs typeface="+mn-cs"/>
                </a:rPr>
                <a:t>"fieldErrors": {}, "requestId": "..." }</a:t>
              </a:r>
            </a:p>
          </p:txBody>
        </p:sp>
        <p:sp>
          <p:nvSpPr>
            <p:cNvPr id="22" name="TextBox 22"/>
            <p:cNvSpPr txBox="1"/>
            <p:nvPr/>
          </p:nvSpPr>
          <p:spPr>
            <a:xfrm>
              <a:off x="6471285" y="3479006"/>
              <a:ext cx="2793218" cy="220028"/>
            </a:xfrm>
            <a:prstGeom prst="rect">
              <a:avLst/>
            </a:prstGeom>
            <a:noFill/>
            <a:ln>
              <a:noFill/>
            </a:ln>
          </p:spPr>
          <p:txBody>
            <a:bodyPr wrap="none" lIns="0" tIns="0" rIns="0" bIns="0" anchor="t" anchorCtr="0">
              <a:spAutoFit/>
            </a:bodyPr>
            <a:lstStyle/>
            <a:p>
              <a:pPr algn="l"/>
              <a:r>
                <a:rPr lang="zh-CN" sz="1120" dirty="0">
                  <a:solidFill>
                    <a:srgbClr val="7FC4E8"/>
                  </a:solidFill>
                  <a:latin typeface="+mn-lt"/>
                  <a:ea typeface="+mn-ea"/>
                  <a:cs typeface="+mn-cs"/>
                </a:rPr>
                <a:t>前端按 code 分支，不匹配 message 文案</a:t>
              </a:r>
            </a:p>
          </p:txBody>
        </p:sp>
      </p:grpSp>
      <p:grpSp>
        <p:nvGrpSpPr>
          <p:cNvPr id="28" name="Group 28"/>
          <p:cNvGrpSpPr/>
          <p:nvPr/>
        </p:nvGrpSpPr>
        <p:grpSpPr>
          <a:xfrm>
            <a:off x="609600" y="4057650"/>
            <a:ext cx="3448050" cy="1657350"/>
            <a:chOff x="609600" y="4057650"/>
            <a:chExt cx="3448050" cy="1657350"/>
          </a:xfrm>
        </p:grpSpPr>
        <p:sp>
          <p:nvSpPr>
            <p:cNvPr id="24" name="Rectangle 24"/>
            <p:cNvSpPr/>
            <p:nvPr/>
          </p:nvSpPr>
          <p:spPr>
            <a:xfrm>
              <a:off x="609600" y="4057650"/>
              <a:ext cx="3448050" cy="1657350"/>
            </a:xfrm>
            <a:prstGeom prst="roundRect">
              <a:avLst>
                <a:gd name="adj" fmla="val 10345"/>
              </a:avLst>
            </a:prstGeom>
            <a:solidFill>
              <a:schemeClr val="lt2"/>
            </a:solidFill>
            <a:ln>
              <a:noFill/>
            </a:ln>
          </p:spPr>
        </p:sp>
        <p:sp>
          <p:nvSpPr>
            <p:cNvPr id="25" name="Freeform 25"/>
            <p:cNvSpPr/>
            <p:nvPr/>
          </p:nvSpPr>
          <p:spPr>
            <a:xfrm>
              <a:off x="892265" y="4325937"/>
              <a:ext cx="215709" cy="206485"/>
            </a:xfrm>
            <a:custGeom>
              <a:avLst/>
              <a:gdLst/>
              <a:ahLst/>
              <a:cxnLst/>
              <a:rect l="l" t="t" r="r" b="b"/>
              <a:pathLst>
                <a:path w="215709" h="206485">
                  <a:moveTo>
                    <a:pt x="107839" y="0"/>
                  </a:moveTo>
                  <a:lnTo>
                    <a:pt x="109056" y="72"/>
                  </a:lnTo>
                  <a:lnTo>
                    <a:pt x="109665" y="155"/>
                  </a:lnTo>
                  <a:lnTo>
                    <a:pt x="110295" y="289"/>
                  </a:lnTo>
                  <a:lnTo>
                    <a:pt x="111440" y="640"/>
                  </a:lnTo>
                  <a:cubicBezTo>
                    <a:pt x="112231" y="931"/>
                    <a:pt x="112983" y="1320"/>
                    <a:pt x="113679" y="1795"/>
                  </a:cubicBezTo>
                  <a:lnTo>
                    <a:pt x="114752" y="2642"/>
                  </a:lnTo>
                  <a:lnTo>
                    <a:pt x="117384" y="4891"/>
                  </a:lnTo>
                  <a:cubicBezTo>
                    <a:pt x="138200" y="22181"/>
                    <a:pt x="164508" y="31465"/>
                    <a:pt x="191565" y="31070"/>
                  </a:cubicBezTo>
                  <a:lnTo>
                    <a:pt x="195094" y="30966"/>
                  </a:lnTo>
                  <a:cubicBezTo>
                    <a:pt x="199842" y="30750"/>
                    <a:pt x="204124" y="33805"/>
                    <a:pt x="205464" y="38365"/>
                  </a:cubicBezTo>
                  <a:cubicBezTo>
                    <a:pt x="215709" y="73214"/>
                    <a:pt x="211383" y="110728"/>
                    <a:pt x="193475" y="142331"/>
                  </a:cubicBezTo>
                  <a:cubicBezTo>
                    <a:pt x="175568" y="173934"/>
                    <a:pt x="145610" y="196923"/>
                    <a:pt x="110449" y="206044"/>
                  </a:cubicBezTo>
                  <a:cubicBezTo>
                    <a:pt x="108751" y="206485"/>
                    <a:pt x="106968" y="206485"/>
                    <a:pt x="105269" y="206044"/>
                  </a:cubicBezTo>
                  <a:cubicBezTo>
                    <a:pt x="70107" y="196926"/>
                    <a:pt x="40147" y="173937"/>
                    <a:pt x="22237" y="142334"/>
                  </a:cubicBezTo>
                  <a:cubicBezTo>
                    <a:pt x="4327" y="110731"/>
                    <a:pt x="0" y="73216"/>
                    <a:pt x="10244" y="38365"/>
                  </a:cubicBezTo>
                  <a:cubicBezTo>
                    <a:pt x="11585" y="33805"/>
                    <a:pt x="15866" y="30750"/>
                    <a:pt x="20615" y="30966"/>
                  </a:cubicBezTo>
                  <a:cubicBezTo>
                    <a:pt x="48862" y="32258"/>
                    <a:pt x="76574" y="22959"/>
                    <a:pt x="98325" y="4891"/>
                  </a:cubicBezTo>
                  <a:lnTo>
                    <a:pt x="101039" y="2569"/>
                  </a:lnTo>
                  <a:lnTo>
                    <a:pt x="102029" y="1795"/>
                  </a:lnTo>
                  <a:cubicBezTo>
                    <a:pt x="102725" y="1320"/>
                    <a:pt x="103477" y="931"/>
                    <a:pt x="104269" y="640"/>
                  </a:cubicBezTo>
                  <a:lnTo>
                    <a:pt x="105424" y="289"/>
                  </a:lnTo>
                  <a:cubicBezTo>
                    <a:pt x="105829" y="191"/>
                    <a:pt x="106239" y="119"/>
                    <a:pt x="106652" y="72"/>
                  </a:cubicBezTo>
                  <a:lnTo>
                    <a:pt x="107839" y="0"/>
                  </a:lnTo>
                  <a:close/>
                  <a:moveTo>
                    <a:pt x="107859" y="72231"/>
                  </a:moveTo>
                  <a:cubicBezTo>
                    <a:pt x="97060" y="72228"/>
                    <a:pt x="88084" y="80551"/>
                    <a:pt x="87274" y="91321"/>
                  </a:cubicBezTo>
                  <a:lnTo>
                    <a:pt x="87222" y="92868"/>
                  </a:lnTo>
                  <a:lnTo>
                    <a:pt x="87274" y="94416"/>
                  </a:lnTo>
                  <a:cubicBezTo>
                    <a:pt x="87790" y="101217"/>
                    <a:pt x="91633" y="107323"/>
                    <a:pt x="97541" y="110730"/>
                  </a:cubicBezTo>
                  <a:lnTo>
                    <a:pt x="97541" y="128984"/>
                  </a:lnTo>
                  <a:lnTo>
                    <a:pt x="97613" y="130191"/>
                  </a:lnTo>
                  <a:cubicBezTo>
                    <a:pt x="98258" y="135613"/>
                    <a:pt x="103014" y="139593"/>
                    <a:pt x="108464" y="139274"/>
                  </a:cubicBezTo>
                  <a:cubicBezTo>
                    <a:pt x="113914" y="138954"/>
                    <a:pt x="118172" y="134444"/>
                    <a:pt x="118178" y="128984"/>
                  </a:cubicBezTo>
                  <a:lnTo>
                    <a:pt x="118188" y="110740"/>
                  </a:lnTo>
                  <a:cubicBezTo>
                    <a:pt x="126279" y="106069"/>
                    <a:pt x="130222" y="96545"/>
                    <a:pt x="127802" y="87522"/>
                  </a:cubicBezTo>
                  <a:cubicBezTo>
                    <a:pt x="125382" y="78499"/>
                    <a:pt x="117202" y="72227"/>
                    <a:pt x="107859" y="72231"/>
                  </a:cubicBezTo>
                  <a:close/>
                </a:path>
              </a:pathLst>
            </a:custGeom>
            <a:solidFill>
              <a:schemeClr val="accent1"/>
            </a:solidFill>
            <a:ln>
              <a:noFill/>
            </a:ln>
          </p:spPr>
        </p:sp>
        <p:sp>
          <p:nvSpPr>
            <p:cNvPr id="26" name="TextBox 26"/>
            <p:cNvSpPr txBox="1"/>
            <p:nvPr/>
          </p:nvSpPr>
          <p:spPr>
            <a:xfrm>
              <a:off x="1210056" y="4320540"/>
              <a:ext cx="195681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错误码是稳定契约</a:t>
              </a:r>
            </a:p>
          </p:txBody>
        </p:sp>
        <p:sp>
          <p:nvSpPr>
            <p:cNvPr id="27" name="TextBox 27"/>
            <p:cNvSpPr txBox="1"/>
            <p:nvPr/>
          </p:nvSpPr>
          <p:spPr>
            <a:xfrm>
              <a:off x="869442" y="4788218"/>
              <a:ext cx="2302574"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前端按 code 分支而不是匹配</a:t>
              </a:r>
              <a:br/>
              <a:r>
                <a:rPr lang="zh-CN" sz="1350" dirty="0">
                  <a:solidFill>
                    <a:schemeClr val="dk1"/>
                  </a:solidFill>
                  <a:latin typeface="+mn-lt"/>
                  <a:ea typeface="+mn-ea"/>
                  <a:cs typeface="+mn-cs"/>
                </a:rPr>
                <a:t>message 文案；文案可以改，</a:t>
              </a:r>
              <a:br/>
              <a:r>
                <a:rPr lang="zh-CN" sz="1350" dirty="0">
                  <a:solidFill>
                    <a:schemeClr val="dk1"/>
                  </a:solidFill>
                  <a:latin typeface="+mn-lt"/>
                  <a:ea typeface="+mn-ea"/>
                  <a:cs typeface="+mn-cs"/>
                </a:rPr>
                <a:t>code 不能随意改。</a:t>
              </a:r>
            </a:p>
          </p:txBody>
        </p:sp>
      </p:grpSp>
      <p:grpSp>
        <p:nvGrpSpPr>
          <p:cNvPr id="33" name="Group 33"/>
          <p:cNvGrpSpPr/>
          <p:nvPr/>
        </p:nvGrpSpPr>
        <p:grpSpPr>
          <a:xfrm>
            <a:off x="4362450" y="4057650"/>
            <a:ext cx="3448050" cy="1657350"/>
            <a:chOff x="4362450" y="4057650"/>
            <a:chExt cx="3448050" cy="1657350"/>
          </a:xfrm>
        </p:grpSpPr>
        <p:sp>
          <p:nvSpPr>
            <p:cNvPr id="29" name="Rectangle 29"/>
            <p:cNvSpPr/>
            <p:nvPr/>
          </p:nvSpPr>
          <p:spPr>
            <a:xfrm>
              <a:off x="4362450" y="4057650"/>
              <a:ext cx="3448050" cy="1657350"/>
            </a:xfrm>
            <a:prstGeom prst="roundRect">
              <a:avLst>
                <a:gd name="adj" fmla="val 10345"/>
              </a:avLst>
            </a:prstGeom>
            <a:solidFill>
              <a:schemeClr val="lt2"/>
            </a:solidFill>
            <a:ln>
              <a:noFill/>
            </a:ln>
          </p:spPr>
        </p:sp>
        <p:sp>
          <p:nvSpPr>
            <p:cNvPr id="30" name="Freeform 30"/>
            <p:cNvSpPr/>
            <p:nvPr/>
          </p:nvSpPr>
          <p:spPr>
            <a:xfrm>
              <a:off x="4649787" y="4321315"/>
              <a:ext cx="217003" cy="217358"/>
            </a:xfrm>
            <a:custGeom>
              <a:avLst/>
              <a:gdLst/>
              <a:ahLst/>
              <a:cxnLst/>
              <a:rect l="l" t="t" r="r" b="b"/>
              <a:pathLst>
                <a:path w="217003" h="217358">
                  <a:moveTo>
                    <a:pt x="154781" y="18449"/>
                  </a:moveTo>
                  <a:cubicBezTo>
                    <a:pt x="197783" y="43278"/>
                    <a:pt x="217003" y="95214"/>
                    <a:pt x="200524" y="142055"/>
                  </a:cubicBezTo>
                  <a:cubicBezTo>
                    <a:pt x="184044" y="188897"/>
                    <a:pt x="136540" y="217358"/>
                    <a:pt x="87464" y="209793"/>
                  </a:cubicBezTo>
                  <a:cubicBezTo>
                    <a:pt x="38388" y="202228"/>
                    <a:pt x="1660" y="160782"/>
                    <a:pt x="52" y="111153"/>
                  </a:cubicBezTo>
                  <a:lnTo>
                    <a:pt x="0" y="107809"/>
                  </a:lnTo>
                  <a:lnTo>
                    <a:pt x="52" y="104466"/>
                  </a:lnTo>
                  <a:cubicBezTo>
                    <a:pt x="1227" y="68216"/>
                    <a:pt x="21348" y="35245"/>
                    <a:pt x="53047" y="17623"/>
                  </a:cubicBezTo>
                  <a:cubicBezTo>
                    <a:pt x="84747" y="0"/>
                    <a:pt x="123372" y="314"/>
                    <a:pt x="154781" y="18449"/>
                  </a:cubicBezTo>
                  <a:close/>
                  <a:moveTo>
                    <a:pt x="141439" y="79877"/>
                  </a:moveTo>
                  <a:cubicBezTo>
                    <a:pt x="137762" y="76201"/>
                    <a:pt x="131926" y="75834"/>
                    <a:pt x="127818" y="79020"/>
                  </a:cubicBezTo>
                  <a:lnTo>
                    <a:pt x="126848" y="79877"/>
                  </a:lnTo>
                  <a:lnTo>
                    <a:pt x="92868" y="113846"/>
                  </a:lnTo>
                  <a:lnTo>
                    <a:pt x="79526" y="100514"/>
                  </a:lnTo>
                  <a:lnTo>
                    <a:pt x="78556" y="99658"/>
                  </a:lnTo>
                  <a:cubicBezTo>
                    <a:pt x="74448" y="96473"/>
                    <a:pt x="68614" y="96842"/>
                    <a:pt x="64938" y="100517"/>
                  </a:cubicBezTo>
                  <a:cubicBezTo>
                    <a:pt x="61263" y="104192"/>
                    <a:pt x="60895" y="110027"/>
                    <a:pt x="64079" y="114135"/>
                  </a:cubicBezTo>
                  <a:lnTo>
                    <a:pt x="64936" y="115105"/>
                  </a:lnTo>
                  <a:lnTo>
                    <a:pt x="85573" y="135742"/>
                  </a:lnTo>
                  <a:lnTo>
                    <a:pt x="86543" y="136599"/>
                  </a:lnTo>
                  <a:cubicBezTo>
                    <a:pt x="90266" y="139487"/>
                    <a:pt x="95471" y="139487"/>
                    <a:pt x="99194" y="136599"/>
                  </a:cubicBezTo>
                  <a:lnTo>
                    <a:pt x="100164" y="135742"/>
                  </a:lnTo>
                  <a:lnTo>
                    <a:pt x="141439" y="94467"/>
                  </a:lnTo>
                  <a:lnTo>
                    <a:pt x="142295" y="93497"/>
                  </a:lnTo>
                  <a:cubicBezTo>
                    <a:pt x="145482" y="89390"/>
                    <a:pt x="145115" y="83553"/>
                    <a:pt x="141439" y="79877"/>
                  </a:cubicBezTo>
                  <a:close/>
                </a:path>
              </a:pathLst>
            </a:custGeom>
            <a:solidFill>
              <a:schemeClr val="accent1"/>
            </a:solidFill>
            <a:ln>
              <a:noFill/>
            </a:ln>
          </p:spPr>
        </p:sp>
        <p:sp>
          <p:nvSpPr>
            <p:cNvPr id="31" name="TextBox 31"/>
            <p:cNvSpPr txBox="1"/>
            <p:nvPr/>
          </p:nvSpPr>
          <p:spPr>
            <a:xfrm>
              <a:off x="4962906" y="4320540"/>
              <a:ext cx="171450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状态跃迁不幂等</a:t>
              </a:r>
            </a:p>
          </p:txBody>
        </p:sp>
        <p:sp>
          <p:nvSpPr>
            <p:cNvPr id="32" name="TextBox 32"/>
            <p:cNvSpPr txBox="1"/>
            <p:nvPr/>
          </p:nvSpPr>
          <p:spPr>
            <a:xfrm>
              <a:off x="4622292" y="4788218"/>
              <a:ext cx="2396871"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重复交卷 409、重复公布 409，</a:t>
              </a:r>
              <a:br/>
              <a:r>
                <a:rPr lang="zh-CN" sz="1350" dirty="0">
                  <a:solidFill>
                    <a:schemeClr val="dk1"/>
                  </a:solidFill>
                  <a:latin typeface="+mn-lt"/>
                  <a:ea typeface="+mn-ea"/>
                  <a:cs typeface="+mn-cs"/>
                </a:rPr>
                <a:t>让客户端明确知道自己的状态</a:t>
              </a:r>
              <a:br/>
              <a:r>
                <a:rPr lang="zh-CN" sz="1350" dirty="0">
                  <a:solidFill>
                    <a:schemeClr val="dk1"/>
                  </a:solidFill>
                  <a:latin typeface="+mn-lt"/>
                  <a:ea typeface="+mn-ea"/>
                  <a:cs typeface="+mn-cs"/>
                </a:rPr>
                <a:t>已过期，需要刷新。</a:t>
              </a:r>
            </a:p>
          </p:txBody>
        </p:sp>
      </p:grpSp>
      <p:grpSp>
        <p:nvGrpSpPr>
          <p:cNvPr id="38" name="Group 38"/>
          <p:cNvGrpSpPr/>
          <p:nvPr/>
        </p:nvGrpSpPr>
        <p:grpSpPr>
          <a:xfrm>
            <a:off x="8115300" y="4057650"/>
            <a:ext cx="3448050" cy="1657350"/>
            <a:chOff x="8115300" y="4057650"/>
            <a:chExt cx="3448050" cy="1657350"/>
          </a:xfrm>
        </p:grpSpPr>
        <p:sp>
          <p:nvSpPr>
            <p:cNvPr id="34" name="Rectangle 34"/>
            <p:cNvSpPr/>
            <p:nvPr/>
          </p:nvSpPr>
          <p:spPr>
            <a:xfrm>
              <a:off x="8115300" y="4057650"/>
              <a:ext cx="3448050" cy="1657350"/>
            </a:xfrm>
            <a:prstGeom prst="roundRect">
              <a:avLst>
                <a:gd name="adj" fmla="val 10345"/>
              </a:avLst>
            </a:prstGeom>
            <a:solidFill>
              <a:schemeClr val="lt2"/>
            </a:solidFill>
            <a:ln>
              <a:noFill/>
            </a:ln>
          </p:spPr>
        </p:sp>
        <p:sp>
          <p:nvSpPr>
            <p:cNvPr id="35" name="Freeform 35"/>
            <p:cNvSpPr/>
            <p:nvPr/>
          </p:nvSpPr>
          <p:spPr>
            <a:xfrm>
              <a:off x="8391869" y="4346575"/>
              <a:ext cx="227451" cy="165099"/>
            </a:xfrm>
            <a:custGeom>
              <a:avLst/>
              <a:gdLst/>
              <a:ahLst/>
              <a:cxnLst/>
              <a:rect l="l" t="t" r="r" b="b"/>
              <a:pathLst>
                <a:path w="227451" h="165099">
                  <a:moveTo>
                    <a:pt x="113955" y="0"/>
                  </a:moveTo>
                  <a:cubicBezTo>
                    <a:pt x="158223" y="0"/>
                    <a:pt x="195092" y="25064"/>
                    <a:pt x="224005" y="73820"/>
                  </a:cubicBezTo>
                  <a:lnTo>
                    <a:pt x="226275" y="77731"/>
                  </a:lnTo>
                  <a:lnTo>
                    <a:pt x="226739" y="78763"/>
                  </a:lnTo>
                  <a:lnTo>
                    <a:pt x="227049" y="79619"/>
                  </a:lnTo>
                  <a:lnTo>
                    <a:pt x="227193" y="80187"/>
                  </a:lnTo>
                  <a:lnTo>
                    <a:pt x="227338" y="81033"/>
                  </a:lnTo>
                  <a:lnTo>
                    <a:pt x="227451" y="82065"/>
                  </a:lnTo>
                  <a:lnTo>
                    <a:pt x="227451" y="83200"/>
                  </a:lnTo>
                  <a:lnTo>
                    <a:pt x="227307" y="84345"/>
                  </a:lnTo>
                  <a:cubicBezTo>
                    <a:pt x="227239" y="84728"/>
                    <a:pt x="227149" y="85107"/>
                    <a:pt x="227038" y="85480"/>
                  </a:cubicBezTo>
                  <a:lnTo>
                    <a:pt x="226636" y="86595"/>
                  </a:lnTo>
                  <a:lnTo>
                    <a:pt x="226264" y="87369"/>
                  </a:lnTo>
                  <a:lnTo>
                    <a:pt x="226099" y="87678"/>
                  </a:lnTo>
                  <a:cubicBezTo>
                    <a:pt x="197578" y="137579"/>
                    <a:pt x="161091" y="163830"/>
                    <a:pt x="117185" y="165058"/>
                  </a:cubicBezTo>
                  <a:lnTo>
                    <a:pt x="113955" y="165099"/>
                  </a:lnTo>
                  <a:cubicBezTo>
                    <a:pt x="68594" y="165099"/>
                    <a:pt x="31024" y="138797"/>
                    <a:pt x="1812" y="87668"/>
                  </a:cubicBezTo>
                  <a:cubicBezTo>
                    <a:pt x="0" y="84496"/>
                    <a:pt x="0" y="80603"/>
                    <a:pt x="1812" y="77432"/>
                  </a:cubicBezTo>
                  <a:cubicBezTo>
                    <a:pt x="31024" y="26302"/>
                    <a:pt x="68594" y="0"/>
                    <a:pt x="113955" y="0"/>
                  </a:cubicBezTo>
                  <a:close/>
                  <a:moveTo>
                    <a:pt x="113955" y="51594"/>
                  </a:moveTo>
                  <a:cubicBezTo>
                    <a:pt x="96859" y="51594"/>
                    <a:pt x="82999" y="65453"/>
                    <a:pt x="82999" y="82550"/>
                  </a:cubicBezTo>
                  <a:cubicBezTo>
                    <a:pt x="82999" y="99646"/>
                    <a:pt x="96859" y="113506"/>
                    <a:pt x="113955" y="113506"/>
                  </a:cubicBezTo>
                  <a:cubicBezTo>
                    <a:pt x="131052" y="113506"/>
                    <a:pt x="144912" y="99646"/>
                    <a:pt x="144912" y="82550"/>
                  </a:cubicBezTo>
                  <a:cubicBezTo>
                    <a:pt x="144912" y="65453"/>
                    <a:pt x="131052" y="51594"/>
                    <a:pt x="113955" y="51594"/>
                  </a:cubicBezTo>
                </a:path>
              </a:pathLst>
            </a:custGeom>
            <a:solidFill>
              <a:schemeClr val="accent1"/>
            </a:solidFill>
            <a:ln>
              <a:noFill/>
            </a:ln>
          </p:spPr>
        </p:sp>
        <p:sp>
          <p:nvSpPr>
            <p:cNvPr id="36" name="TextBox 36"/>
            <p:cNvSpPr txBox="1"/>
            <p:nvPr/>
          </p:nvSpPr>
          <p:spPr>
            <a:xfrm>
              <a:off x="8715756" y="4320540"/>
              <a:ext cx="171450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按角色裁剪字段</a:t>
              </a:r>
            </a:p>
          </p:txBody>
        </p:sp>
        <p:sp>
          <p:nvSpPr>
            <p:cNvPr id="37" name="TextBox 37"/>
            <p:cNvSpPr txBox="1"/>
            <p:nvPr/>
          </p:nvSpPr>
          <p:spPr>
            <a:xfrm>
              <a:off x="8375142" y="4788218"/>
              <a:ext cx="2414016" cy="759333"/>
            </a:xfrm>
            <a:prstGeom prst="rect">
              <a:avLst/>
            </a:prstGeom>
            <a:noFill/>
            <a:ln>
              <a:noFill/>
            </a:ln>
          </p:spPr>
          <p:txBody>
            <a:bodyPr wrap="none" lIns="0" tIns="0" rIns="0" bIns="0" anchor="t" anchorCtr="0">
              <a:spAutoFit/>
            </a:bodyPr>
            <a:lstStyle/>
            <a:p>
              <a:pPr algn="l">
                <a:lnSpc>
                  <a:spcPts val="1950"/>
                </a:lnSpc>
              </a:pPr>
              <a:r>
                <a:rPr lang="zh-CN" sz="1350" dirty="0">
                  <a:solidFill>
                    <a:schemeClr val="dk1"/>
                  </a:solidFill>
                  <a:latin typeface="+mn-lt"/>
                  <a:ea typeface="+mn-ea"/>
                  <a:cs typeface="+mn-cs"/>
                </a:rPr>
                <a:t>同一个响应结构服务教师阅卷、</a:t>
              </a:r>
              <a:br/>
              <a:r>
                <a:rPr lang="zh-CN" sz="1350" dirty="0">
                  <a:solidFill>
                    <a:schemeClr val="dk1"/>
                  </a:solidFill>
                  <a:latin typeface="+mn-lt"/>
                  <a:ea typeface="+mn-ea"/>
                  <a:cs typeface="+mn-cs"/>
                </a:rPr>
                <a:t>学生答题回看、学生查分三个</a:t>
              </a:r>
              <a:br/>
              <a:r>
                <a:rPr lang="zh-CN" sz="1350" dirty="0">
                  <a:solidFill>
                    <a:schemeClr val="dk1"/>
                  </a:solidFill>
                  <a:latin typeface="+mn-lt"/>
                  <a:ea typeface="+mn-ea"/>
                  <a:cs typeface="+mn-cs"/>
                </a:rPr>
                <a:t>场景，由后端裁剪。</a:t>
              </a:r>
            </a:p>
          </p:txBody>
        </p:sp>
      </p:grpSp>
      <p:grpSp>
        <p:nvGrpSpPr>
          <p:cNvPr id="42" name="Group 42"/>
          <p:cNvGrpSpPr/>
          <p:nvPr/>
        </p:nvGrpSpPr>
        <p:grpSpPr>
          <a:xfrm>
            <a:off x="603885" y="6172200"/>
            <a:ext cx="10984230" cy="308134"/>
            <a:chOff x="603885" y="6172200"/>
            <a:chExt cx="10984230" cy="308134"/>
          </a:xfrm>
        </p:grpSpPr>
        <p:sp>
          <p:nvSpPr>
            <p:cNvPr id="39" name="Line 39"/>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0" name="TextBox 40"/>
            <p:cNvSpPr txBox="1"/>
            <p:nvPr/>
          </p:nvSpPr>
          <p:spPr>
            <a:xfrm>
              <a:off x="603885" y="6260306"/>
              <a:ext cx="5461925"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端点清单：docs/api.md（47 个）· 约定见 docs/project-report.md 第 3.4 节</a:t>
              </a:r>
            </a:p>
          </p:txBody>
        </p:sp>
        <p:sp>
          <p:nvSpPr>
            <p:cNvPr id="41" name="TextBox 41"/>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10 / 21</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6"/>
            </a:solidFill>
            <a:ln>
              <a:noFill/>
            </a:ln>
          </p:spPr>
        </p:sp>
        <p:sp>
          <p:nvSpPr>
            <p:cNvPr id="3" name="Rectangle 3"/>
            <p:cNvSpPr/>
            <p:nvPr/>
          </p:nvSpPr>
          <p:spPr>
            <a:xfrm>
              <a:off x="914400" y="342900"/>
              <a:ext cx="247650" cy="76200"/>
            </a:xfrm>
            <a:prstGeom prst="roundRect">
              <a:avLst>
                <a:gd name="adj" fmla="val 50000"/>
              </a:avLst>
            </a:prstGeom>
            <a:solidFill>
              <a:schemeClr val="accent6"/>
            </a:solidFill>
            <a:ln>
              <a:noFill/>
            </a:ln>
          </p:spPr>
        </p:sp>
        <p:sp>
          <p:nvSpPr>
            <p:cNvPr id="4" name="Rectangle 4"/>
            <p:cNvSpPr/>
            <p:nvPr/>
          </p:nvSpPr>
          <p:spPr>
            <a:xfrm>
              <a:off x="1219200" y="342900"/>
              <a:ext cx="247650" cy="76200"/>
            </a:xfrm>
            <a:prstGeom prst="roundRect">
              <a:avLst>
                <a:gd name="adj" fmla="val 50000"/>
              </a:avLst>
            </a:prstGeom>
            <a:solidFill>
              <a:schemeClr val="accent6"/>
            </a:solidFill>
            <a:ln>
              <a:noFill/>
            </a:ln>
          </p:spPr>
        </p:sp>
        <p:sp>
          <p:nvSpPr>
            <p:cNvPr id="5" name="Rectangle 5"/>
            <p:cNvSpPr/>
            <p:nvPr/>
          </p:nvSpPr>
          <p:spPr>
            <a:xfrm>
              <a:off x="1524000" y="342900"/>
              <a:ext cx="247650" cy="76200"/>
            </a:xfrm>
            <a:prstGeom prst="roundRect">
              <a:avLst>
                <a:gd name="adj" fmla="val 50000"/>
              </a:avLst>
            </a:prstGeom>
            <a:solidFill>
              <a:schemeClr val="accent6"/>
            </a:solidFill>
            <a:ln>
              <a:noFill/>
            </a:ln>
          </p:spPr>
        </p:sp>
        <p:sp>
          <p:nvSpPr>
            <p:cNvPr id="6" name="Rectangle 6"/>
            <p:cNvSpPr/>
            <p:nvPr/>
          </p:nvSpPr>
          <p:spPr>
            <a:xfrm>
              <a:off x="1828800" y="342900"/>
              <a:ext cx="247650" cy="76200"/>
            </a:xfrm>
            <a:prstGeom prst="roundRect">
              <a:avLst>
                <a:gd name="adj" fmla="val 50000"/>
              </a:avLst>
            </a:prstGeom>
            <a:solidFill>
              <a:schemeClr val="accent6"/>
            </a:solidFill>
            <a:ln>
              <a:noFill/>
            </a:ln>
          </p:spPr>
        </p:sp>
        <p:sp>
          <p:nvSpPr>
            <p:cNvPr id="7" name="Rectangle 7"/>
            <p:cNvSpPr/>
            <p:nvPr/>
          </p:nvSpPr>
          <p:spPr>
            <a:xfrm>
              <a:off x="2133600" y="342900"/>
              <a:ext cx="247650" cy="76200"/>
            </a:xfrm>
            <a:prstGeom prst="roundRect">
              <a:avLst>
                <a:gd name="adj" fmla="val 50000"/>
              </a:avLst>
            </a:prstGeom>
            <a:solidFill>
              <a:schemeClr val="accent6"/>
            </a:solidFill>
            <a:ln>
              <a:noFill/>
            </a:ln>
          </p:spPr>
        </p:sp>
        <p:sp>
          <p:nvSpPr>
            <p:cNvPr id="8" name="TextBox 8"/>
            <p:cNvSpPr txBox="1"/>
            <p:nvPr/>
          </p:nvSpPr>
          <p:spPr>
            <a:xfrm>
              <a:off x="2507742" y="311468"/>
              <a:ext cx="113139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三 · 设计文档</a:t>
              </a:r>
            </a:p>
          </p:txBody>
        </p:sp>
        <p:sp>
          <p:nvSpPr>
            <p:cNvPr id="9" name="TextBox 9"/>
            <p:cNvSpPr txBox="1"/>
            <p:nvPr/>
          </p:nvSpPr>
          <p:spPr>
            <a:xfrm>
              <a:off x="593598" y="726758"/>
              <a:ext cx="616805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数据库设计：11 张表与关键约束</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1" name="Group 31"/>
          <p:cNvGrpSpPr/>
          <p:nvPr/>
        </p:nvGrpSpPr>
        <p:grpSpPr>
          <a:xfrm>
            <a:off x="600456" y="1634490"/>
            <a:ext cx="6124523" cy="2251710"/>
            <a:chOff x="600456" y="1634490"/>
            <a:chExt cx="6124523" cy="2251710"/>
          </a:xfrm>
        </p:grpSpPr>
        <p:sp>
          <p:nvSpPr>
            <p:cNvPr id="12" name="TextBox 12"/>
            <p:cNvSpPr txBox="1"/>
            <p:nvPr/>
          </p:nvSpPr>
          <p:spPr>
            <a:xfrm>
              <a:off x="600456" y="1634490"/>
              <a:ext cx="268376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主干：快照如何保住成绩</a:t>
              </a:r>
            </a:p>
          </p:txBody>
        </p:sp>
        <p:sp>
          <p:nvSpPr>
            <p:cNvPr id="13" name="Rectangle 13"/>
            <p:cNvSpPr/>
            <p:nvPr/>
          </p:nvSpPr>
          <p:spPr>
            <a:xfrm>
              <a:off x="609600" y="2095500"/>
              <a:ext cx="1828800" cy="647700"/>
            </a:xfrm>
            <a:prstGeom prst="roundRect">
              <a:avLst>
                <a:gd name="adj" fmla="val 20588"/>
              </a:avLst>
            </a:prstGeom>
            <a:solidFill>
              <a:schemeClr val="lt2"/>
            </a:solidFill>
            <a:ln>
              <a:noFill/>
            </a:ln>
          </p:spPr>
        </p:sp>
        <p:sp>
          <p:nvSpPr>
            <p:cNvPr id="14" name="TextBox 14"/>
            <p:cNvSpPr txBox="1"/>
            <p:nvPr/>
          </p:nvSpPr>
          <p:spPr>
            <a:xfrm>
              <a:off x="717042" y="2216468"/>
              <a:ext cx="805635"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question</a:t>
              </a:r>
            </a:p>
          </p:txBody>
        </p:sp>
        <p:sp>
          <p:nvSpPr>
            <p:cNvPr id="15" name="TextBox 15"/>
            <p:cNvSpPr txBox="1"/>
            <p:nvPr/>
          </p:nvSpPr>
          <p:spPr>
            <a:xfrm>
              <a:off x="717042" y="2464118"/>
              <a:ext cx="740664"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题库原题</a:t>
              </a:r>
            </a:p>
          </p:txBody>
        </p:sp>
        <p:sp>
          <p:nvSpPr>
            <p:cNvPr id="16" name="Line 16"/>
            <p:cNvSpPr/>
            <p:nvPr/>
          </p:nvSpPr>
          <p:spPr>
            <a:xfrm>
              <a:off x="2457450" y="2419350"/>
              <a:ext cx="228600" cy="1"/>
            </a:xfrm>
            <a:prstGeom prst="line">
              <a:avLst/>
            </a:prstGeom>
            <a:noFill/>
            <a:ln w="19050">
              <a:solidFill>
                <a:schemeClr val="accent1"/>
              </a:solidFill>
              <a:tailEnd type="triangle" w="lg" len="lg"/>
            </a:ln>
          </p:spPr>
        </p:sp>
        <p:sp>
          <p:nvSpPr>
            <p:cNvPr id="17" name="TextBox 17"/>
            <p:cNvSpPr txBox="1"/>
            <p:nvPr/>
          </p:nvSpPr>
          <p:spPr>
            <a:xfrm>
              <a:off x="2262703" y="2793206"/>
              <a:ext cx="637144" cy="220028"/>
            </a:xfrm>
            <a:prstGeom prst="rect">
              <a:avLst/>
            </a:prstGeom>
            <a:noFill/>
            <a:ln>
              <a:noFill/>
            </a:ln>
          </p:spPr>
          <p:txBody>
            <a:bodyPr wrap="none" lIns="0" tIns="0" rIns="0" bIns="0" anchor="t" anchorCtr="0">
              <a:spAutoFit/>
            </a:bodyPr>
            <a:lstStyle/>
            <a:p>
              <a:pPr algn="ctr"/>
              <a:r>
                <a:rPr lang="zh-CN" sz="1120" dirty="0">
                  <a:solidFill>
                    <a:schemeClr val="accent2"/>
                  </a:solidFill>
                  <a:latin typeface="+mn-lt"/>
                  <a:ea typeface="+mn-ea"/>
                  <a:cs typeface="+mn-cs"/>
                </a:rPr>
                <a:t>快照 5 项</a:t>
              </a:r>
            </a:p>
          </p:txBody>
        </p:sp>
        <p:sp>
          <p:nvSpPr>
            <p:cNvPr id="18" name="Rectangle 18"/>
            <p:cNvSpPr/>
            <p:nvPr/>
          </p:nvSpPr>
          <p:spPr>
            <a:xfrm>
              <a:off x="2724150" y="2095500"/>
              <a:ext cx="1828800" cy="647700"/>
            </a:xfrm>
            <a:prstGeom prst="roundRect">
              <a:avLst>
                <a:gd name="adj" fmla="val 20588"/>
              </a:avLst>
            </a:prstGeom>
            <a:solidFill>
              <a:srgbClr val="E7EDF4"/>
            </a:solidFill>
            <a:ln>
              <a:noFill/>
            </a:ln>
          </p:spPr>
        </p:sp>
        <p:sp>
          <p:nvSpPr>
            <p:cNvPr id="19" name="TextBox 19"/>
            <p:cNvSpPr txBox="1"/>
            <p:nvPr/>
          </p:nvSpPr>
          <p:spPr>
            <a:xfrm>
              <a:off x="2831592" y="2216468"/>
              <a:ext cx="143535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paper_question</a:t>
              </a:r>
            </a:p>
          </p:txBody>
        </p:sp>
        <p:sp>
          <p:nvSpPr>
            <p:cNvPr id="20" name="TextBox 20"/>
            <p:cNvSpPr txBox="1"/>
            <p:nvPr/>
          </p:nvSpPr>
          <p:spPr>
            <a:xfrm>
              <a:off x="2831592" y="2464118"/>
              <a:ext cx="110413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试卷题目快照</a:t>
              </a:r>
            </a:p>
          </p:txBody>
        </p:sp>
        <p:sp>
          <p:nvSpPr>
            <p:cNvPr id="21" name="Line 21"/>
            <p:cNvSpPr/>
            <p:nvPr/>
          </p:nvSpPr>
          <p:spPr>
            <a:xfrm>
              <a:off x="4572000" y="2419350"/>
              <a:ext cx="228600" cy="1"/>
            </a:xfrm>
            <a:prstGeom prst="line">
              <a:avLst/>
            </a:prstGeom>
            <a:noFill/>
            <a:ln w="19050">
              <a:solidFill>
                <a:schemeClr val="accent1"/>
              </a:solidFill>
              <a:tailEnd type="triangle" w="lg" len="lg"/>
            </a:ln>
          </p:spPr>
        </p:sp>
        <p:sp>
          <p:nvSpPr>
            <p:cNvPr id="22" name="TextBox 22"/>
            <p:cNvSpPr txBox="1"/>
            <p:nvPr/>
          </p:nvSpPr>
          <p:spPr>
            <a:xfrm>
              <a:off x="4388561" y="2793206"/>
              <a:ext cx="614528" cy="220028"/>
            </a:xfrm>
            <a:prstGeom prst="rect">
              <a:avLst/>
            </a:prstGeom>
            <a:noFill/>
            <a:ln>
              <a:noFill/>
            </a:ln>
          </p:spPr>
          <p:txBody>
            <a:bodyPr wrap="none" lIns="0" tIns="0" rIns="0" bIns="0" anchor="t" anchorCtr="0">
              <a:spAutoFit/>
            </a:bodyPr>
            <a:lstStyle/>
            <a:p>
              <a:pPr algn="ctr"/>
              <a:r>
                <a:rPr lang="zh-CN" sz="1120" dirty="0">
                  <a:solidFill>
                    <a:schemeClr val="accent5"/>
                  </a:solidFill>
                  <a:latin typeface="+mn-lt"/>
                  <a:ea typeface="+mn-ea"/>
                  <a:cs typeface="+mn-cs"/>
                </a:rPr>
                <a:t>逐题对应</a:t>
              </a:r>
            </a:p>
          </p:txBody>
        </p:sp>
        <p:sp>
          <p:nvSpPr>
            <p:cNvPr id="23" name="Rectangle 23"/>
            <p:cNvSpPr/>
            <p:nvPr/>
          </p:nvSpPr>
          <p:spPr>
            <a:xfrm>
              <a:off x="4838700" y="2095500"/>
              <a:ext cx="1828800" cy="647700"/>
            </a:xfrm>
            <a:prstGeom prst="roundRect">
              <a:avLst>
                <a:gd name="adj" fmla="val 20588"/>
              </a:avLst>
            </a:prstGeom>
            <a:solidFill>
              <a:schemeClr val="lt2"/>
            </a:solidFill>
            <a:ln>
              <a:noFill/>
            </a:ln>
          </p:spPr>
        </p:sp>
        <p:sp>
          <p:nvSpPr>
            <p:cNvPr id="24" name="TextBox 24"/>
            <p:cNvSpPr txBox="1"/>
            <p:nvPr/>
          </p:nvSpPr>
          <p:spPr>
            <a:xfrm>
              <a:off x="4946142" y="2216468"/>
              <a:ext cx="1778837"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submission_answer</a:t>
              </a:r>
            </a:p>
          </p:txBody>
        </p:sp>
        <p:sp>
          <p:nvSpPr>
            <p:cNvPr id="25" name="TextBox 25"/>
            <p:cNvSpPr txBox="1"/>
            <p:nvPr/>
          </p:nvSpPr>
          <p:spPr>
            <a:xfrm>
              <a:off x="4946142" y="2464118"/>
              <a:ext cx="110413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答卷逐题作答</a:t>
              </a:r>
            </a:p>
          </p:txBody>
        </p:sp>
        <p:sp>
          <p:nvSpPr>
            <p:cNvPr id="26" name="Line 26"/>
            <p:cNvSpPr/>
            <p:nvPr/>
          </p:nvSpPr>
          <p:spPr>
            <a:xfrm>
              <a:off x="3638550" y="3009900"/>
              <a:ext cx="1" cy="190500"/>
            </a:xfrm>
            <a:prstGeom prst="line">
              <a:avLst/>
            </a:prstGeom>
            <a:noFill/>
            <a:ln w="19050">
              <a:solidFill>
                <a:schemeClr val="accent1"/>
              </a:solidFill>
              <a:tailEnd type="triangle" w="lg" len="lg"/>
            </a:ln>
          </p:spPr>
        </p:sp>
        <p:sp>
          <p:nvSpPr>
            <p:cNvPr id="27" name="Rectangle 27"/>
            <p:cNvSpPr/>
            <p:nvPr/>
          </p:nvSpPr>
          <p:spPr>
            <a:xfrm>
              <a:off x="2724150" y="3238500"/>
              <a:ext cx="1828800" cy="647700"/>
            </a:xfrm>
            <a:prstGeom prst="roundRect">
              <a:avLst>
                <a:gd name="adj" fmla="val 20588"/>
              </a:avLst>
            </a:prstGeom>
            <a:solidFill>
              <a:schemeClr val="lt1"/>
            </a:solidFill>
            <a:ln w="9525">
              <a:solidFill>
                <a:schemeClr val="accent2"/>
              </a:solidFill>
              <a:prstDash val="dash"/>
            </a:ln>
          </p:spPr>
        </p:sp>
        <p:sp>
          <p:nvSpPr>
            <p:cNvPr id="28" name="TextBox 28"/>
            <p:cNvSpPr txBox="1"/>
            <p:nvPr/>
          </p:nvSpPr>
          <p:spPr>
            <a:xfrm>
              <a:off x="2831592" y="3359468"/>
              <a:ext cx="1683425"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practice_attempt</a:t>
              </a:r>
            </a:p>
          </p:txBody>
        </p:sp>
        <p:sp>
          <p:nvSpPr>
            <p:cNvPr id="29" name="TextBox 29"/>
            <p:cNvSpPr txBox="1"/>
            <p:nvPr/>
          </p:nvSpPr>
          <p:spPr>
            <a:xfrm>
              <a:off x="2831592" y="3607118"/>
              <a:ext cx="1104138"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错题重练记录</a:t>
              </a:r>
            </a:p>
          </p:txBody>
        </p:sp>
        <p:sp>
          <p:nvSpPr>
            <p:cNvPr id="30" name="TextBox 30"/>
            <p:cNvSpPr txBox="1"/>
            <p:nvPr/>
          </p:nvSpPr>
          <p:spPr>
            <a:xfrm>
              <a:off x="4661535" y="3345656"/>
              <a:ext cx="1689862" cy="391478"/>
            </a:xfrm>
            <a:prstGeom prst="rect">
              <a:avLst/>
            </a:prstGeom>
            <a:noFill/>
            <a:ln>
              <a:noFill/>
            </a:ln>
          </p:spPr>
          <p:txBody>
            <a:bodyPr wrap="none" lIns="0" tIns="0" rIns="0" bIns="0" anchor="t" anchorCtr="0">
              <a:spAutoFit/>
            </a:bodyPr>
            <a:lstStyle/>
            <a:p>
              <a:pPr algn="l">
                <a:lnSpc>
                  <a:spcPts val="1350"/>
                </a:lnSpc>
              </a:pPr>
              <a:r>
                <a:rPr lang="zh-CN" sz="1120" dirty="0">
                  <a:solidFill>
                    <a:schemeClr val="accent2"/>
                  </a:solidFill>
                  <a:latin typeface="+mn-lt"/>
                  <a:ea typeface="+mn-ea"/>
                  <a:cs typeface="+mn-cs"/>
                </a:rPr>
                <a:t>与 submission 完全隔离，</a:t>
              </a:r>
              <a:br/>
              <a:r>
                <a:rPr lang="zh-CN" sz="1120" dirty="0">
                  <a:solidFill>
                    <a:schemeClr val="accent2"/>
                  </a:solidFill>
                  <a:latin typeface="+mn-lt"/>
                  <a:ea typeface="+mn-ea"/>
                  <a:cs typeface="+mn-cs"/>
                </a:rPr>
                <a:t>重练不改任何成绩字段</a:t>
              </a:r>
            </a:p>
          </p:txBody>
        </p:sp>
      </p:grpSp>
      <p:grpSp>
        <p:nvGrpSpPr>
          <p:cNvPr id="47" name="Group 47"/>
          <p:cNvGrpSpPr/>
          <p:nvPr/>
        </p:nvGrpSpPr>
        <p:grpSpPr>
          <a:xfrm>
            <a:off x="602742" y="4083368"/>
            <a:ext cx="5007483" cy="1035557"/>
            <a:chOff x="602742" y="4083368"/>
            <a:chExt cx="5007483" cy="1035557"/>
          </a:xfrm>
        </p:grpSpPr>
        <p:sp>
          <p:nvSpPr>
            <p:cNvPr id="32" name="TextBox 32"/>
            <p:cNvSpPr txBox="1"/>
            <p:nvPr/>
          </p:nvSpPr>
          <p:spPr>
            <a:xfrm>
              <a:off x="602742" y="4083368"/>
              <a:ext cx="3493615"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其余 7 张表（Flyway V1—V5 版本化建立）</a:t>
              </a:r>
            </a:p>
          </p:txBody>
        </p:sp>
        <p:sp>
          <p:nvSpPr>
            <p:cNvPr id="33" name="Rectangle 33"/>
            <p:cNvSpPr/>
            <p:nvPr/>
          </p:nvSpPr>
          <p:spPr>
            <a:xfrm>
              <a:off x="609600" y="4343400"/>
              <a:ext cx="657225" cy="323850"/>
            </a:xfrm>
            <a:prstGeom prst="roundRect">
              <a:avLst>
                <a:gd name="adj" fmla="val 50000"/>
              </a:avLst>
            </a:prstGeom>
            <a:solidFill>
              <a:schemeClr val="lt2"/>
            </a:solidFill>
            <a:ln>
              <a:noFill/>
            </a:ln>
          </p:spPr>
        </p:sp>
        <p:sp>
          <p:nvSpPr>
            <p:cNvPr id="34" name="TextBox 34"/>
            <p:cNvSpPr txBox="1"/>
            <p:nvPr/>
          </p:nvSpPr>
          <p:spPr>
            <a:xfrm>
              <a:off x="726681" y="4416742"/>
              <a:ext cx="413537"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user</a:t>
              </a:r>
            </a:p>
          </p:txBody>
        </p:sp>
        <p:sp>
          <p:nvSpPr>
            <p:cNvPr id="35" name="Rectangle 35"/>
            <p:cNvSpPr/>
            <p:nvPr/>
          </p:nvSpPr>
          <p:spPr>
            <a:xfrm>
              <a:off x="1381125" y="4343400"/>
              <a:ext cx="1628775" cy="323850"/>
            </a:xfrm>
            <a:prstGeom prst="roundRect">
              <a:avLst>
                <a:gd name="adj" fmla="val 50000"/>
              </a:avLst>
            </a:prstGeom>
            <a:solidFill>
              <a:schemeClr val="lt2"/>
            </a:solidFill>
            <a:ln>
              <a:noFill/>
            </a:ln>
          </p:spPr>
        </p:sp>
        <p:sp>
          <p:nvSpPr>
            <p:cNvPr id="36" name="TextBox 36"/>
            <p:cNvSpPr txBox="1"/>
            <p:nvPr/>
          </p:nvSpPr>
          <p:spPr>
            <a:xfrm>
              <a:off x="1461487" y="4416742"/>
              <a:ext cx="1458525"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knowledge_point</a:t>
              </a:r>
            </a:p>
          </p:txBody>
        </p:sp>
        <p:sp>
          <p:nvSpPr>
            <p:cNvPr id="37" name="Rectangle 37"/>
            <p:cNvSpPr/>
            <p:nvPr/>
          </p:nvSpPr>
          <p:spPr>
            <a:xfrm>
              <a:off x="3124200" y="4343400"/>
              <a:ext cx="1628775" cy="323850"/>
            </a:xfrm>
            <a:prstGeom prst="roundRect">
              <a:avLst>
                <a:gd name="adj" fmla="val 50000"/>
              </a:avLst>
            </a:prstGeom>
            <a:solidFill>
              <a:schemeClr val="lt2"/>
            </a:solidFill>
            <a:ln>
              <a:noFill/>
            </a:ln>
          </p:spPr>
        </p:sp>
        <p:sp>
          <p:nvSpPr>
            <p:cNvPr id="38" name="TextBox 38"/>
            <p:cNvSpPr txBox="1"/>
            <p:nvPr/>
          </p:nvSpPr>
          <p:spPr>
            <a:xfrm>
              <a:off x="3222736" y="4416742"/>
              <a:ext cx="142217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question_option</a:t>
              </a:r>
            </a:p>
          </p:txBody>
        </p:sp>
        <p:sp>
          <p:nvSpPr>
            <p:cNvPr id="39" name="Rectangle 39"/>
            <p:cNvSpPr/>
            <p:nvPr/>
          </p:nvSpPr>
          <p:spPr>
            <a:xfrm>
              <a:off x="4867275" y="4343400"/>
              <a:ext cx="742950" cy="323850"/>
            </a:xfrm>
            <a:prstGeom prst="roundRect">
              <a:avLst>
                <a:gd name="adj" fmla="val 50000"/>
              </a:avLst>
            </a:prstGeom>
            <a:solidFill>
              <a:schemeClr val="lt2"/>
            </a:solidFill>
            <a:ln>
              <a:noFill/>
            </a:ln>
          </p:spPr>
        </p:sp>
        <p:sp>
          <p:nvSpPr>
            <p:cNvPr id="40" name="TextBox 40"/>
            <p:cNvSpPr txBox="1"/>
            <p:nvPr/>
          </p:nvSpPr>
          <p:spPr>
            <a:xfrm>
              <a:off x="4982004" y="4416742"/>
              <a:ext cx="513493"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paper</a:t>
              </a:r>
            </a:p>
          </p:txBody>
        </p:sp>
        <p:sp>
          <p:nvSpPr>
            <p:cNvPr id="41" name="Rectangle 41"/>
            <p:cNvSpPr/>
            <p:nvPr/>
          </p:nvSpPr>
          <p:spPr>
            <a:xfrm>
              <a:off x="609600" y="4781550"/>
              <a:ext cx="657225" cy="323850"/>
            </a:xfrm>
            <a:prstGeom prst="roundRect">
              <a:avLst>
                <a:gd name="adj" fmla="val 50000"/>
              </a:avLst>
            </a:prstGeom>
            <a:solidFill>
              <a:schemeClr val="lt2"/>
            </a:solidFill>
            <a:ln>
              <a:noFill/>
            </a:ln>
          </p:spPr>
        </p:sp>
        <p:sp>
          <p:nvSpPr>
            <p:cNvPr id="42" name="TextBox 42"/>
            <p:cNvSpPr txBox="1"/>
            <p:nvPr/>
          </p:nvSpPr>
          <p:spPr>
            <a:xfrm>
              <a:off x="708508" y="4854892"/>
              <a:ext cx="449885"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exam</a:t>
              </a:r>
            </a:p>
          </p:txBody>
        </p:sp>
        <p:sp>
          <p:nvSpPr>
            <p:cNvPr id="43" name="Rectangle 43"/>
            <p:cNvSpPr/>
            <p:nvPr/>
          </p:nvSpPr>
          <p:spPr>
            <a:xfrm>
              <a:off x="1381125" y="4781550"/>
              <a:ext cx="1190625" cy="323850"/>
            </a:xfrm>
            <a:prstGeom prst="roundRect">
              <a:avLst>
                <a:gd name="adj" fmla="val 50000"/>
              </a:avLst>
            </a:prstGeom>
            <a:solidFill>
              <a:schemeClr val="lt2"/>
            </a:solidFill>
            <a:ln>
              <a:noFill/>
            </a:ln>
          </p:spPr>
        </p:sp>
        <p:sp>
          <p:nvSpPr>
            <p:cNvPr id="44" name="TextBox 44"/>
            <p:cNvSpPr txBox="1"/>
            <p:nvPr/>
          </p:nvSpPr>
          <p:spPr>
            <a:xfrm>
              <a:off x="1492301" y="4854892"/>
              <a:ext cx="95874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submission</a:t>
              </a:r>
            </a:p>
          </p:txBody>
        </p:sp>
        <p:sp>
          <p:nvSpPr>
            <p:cNvPr id="45" name="Rectangle 45"/>
            <p:cNvSpPr/>
            <p:nvPr/>
          </p:nvSpPr>
          <p:spPr>
            <a:xfrm>
              <a:off x="2686050" y="4781550"/>
              <a:ext cx="1543050" cy="323850"/>
            </a:xfrm>
            <a:prstGeom prst="roundRect">
              <a:avLst>
                <a:gd name="adj" fmla="val 50000"/>
              </a:avLst>
            </a:prstGeom>
            <a:solidFill>
              <a:schemeClr val="lt2"/>
            </a:solidFill>
            <a:ln>
              <a:noFill/>
            </a:ln>
          </p:spPr>
        </p:sp>
        <p:sp>
          <p:nvSpPr>
            <p:cNvPr id="46" name="TextBox 46"/>
            <p:cNvSpPr txBox="1"/>
            <p:nvPr/>
          </p:nvSpPr>
          <p:spPr>
            <a:xfrm>
              <a:off x="2755573" y="4854892"/>
              <a:ext cx="140400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system_setting</a:t>
              </a:r>
            </a:p>
          </p:txBody>
        </p:sp>
      </p:grpSp>
      <p:grpSp>
        <p:nvGrpSpPr>
          <p:cNvPr id="53" name="Group 53"/>
          <p:cNvGrpSpPr/>
          <p:nvPr/>
        </p:nvGrpSpPr>
        <p:grpSpPr>
          <a:xfrm>
            <a:off x="6972300" y="1676400"/>
            <a:ext cx="4610100" cy="956501"/>
            <a:chOff x="6972300" y="1676400"/>
            <a:chExt cx="4610100" cy="956501"/>
          </a:xfrm>
        </p:grpSpPr>
        <p:sp>
          <p:nvSpPr>
            <p:cNvPr id="48" name="Rectangle 48"/>
            <p:cNvSpPr/>
            <p:nvPr/>
          </p:nvSpPr>
          <p:spPr>
            <a:xfrm>
              <a:off x="6972300" y="1676400"/>
              <a:ext cx="4610100" cy="952500"/>
            </a:xfrm>
            <a:prstGeom prst="roundRect">
              <a:avLst>
                <a:gd name="adj" fmla="val 18000"/>
              </a:avLst>
            </a:prstGeom>
            <a:solidFill>
              <a:schemeClr val="lt2"/>
            </a:solidFill>
            <a:ln>
              <a:noFill/>
            </a:ln>
          </p:spPr>
        </p:sp>
        <p:sp>
          <p:nvSpPr>
            <p:cNvPr id="49" name="Ellipse 49"/>
            <p:cNvSpPr/>
            <p:nvPr/>
          </p:nvSpPr>
          <p:spPr>
            <a:xfrm>
              <a:off x="7067550" y="1809750"/>
              <a:ext cx="266700" cy="266700"/>
            </a:xfrm>
            <a:prstGeom prst="ellipse">
              <a:avLst/>
            </a:prstGeom>
            <a:solidFill>
              <a:schemeClr val="accent1"/>
            </a:solidFill>
            <a:ln>
              <a:noFill/>
            </a:ln>
          </p:spPr>
        </p:sp>
        <p:sp>
          <p:nvSpPr>
            <p:cNvPr id="50" name="TextBox 50"/>
            <p:cNvSpPr txBox="1"/>
            <p:nvPr/>
          </p:nvSpPr>
          <p:spPr>
            <a:xfrm>
              <a:off x="7144064" y="185451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1</a:t>
              </a:r>
            </a:p>
          </p:txBody>
        </p:sp>
        <p:sp>
          <p:nvSpPr>
            <p:cNvPr id="51" name="TextBox 51"/>
            <p:cNvSpPr txBox="1"/>
            <p:nvPr/>
          </p:nvSpPr>
          <p:spPr>
            <a:xfrm>
              <a:off x="7439406" y="180594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五项快照</a:t>
              </a:r>
            </a:p>
          </p:txBody>
        </p:sp>
        <p:sp>
          <p:nvSpPr>
            <p:cNvPr id="52" name="TextBox 52"/>
            <p:cNvSpPr txBox="1"/>
            <p:nvPr/>
          </p:nvSpPr>
          <p:spPr>
            <a:xfrm>
              <a:off x="7194042" y="2140268"/>
              <a:ext cx="3228404"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paper_question 保存题干、选项、答案、</a:t>
              </a:r>
              <a:br/>
              <a:r>
                <a:rPr lang="zh-CN" sz="1350" dirty="0">
                  <a:solidFill>
                    <a:schemeClr val="dk1"/>
                  </a:solidFill>
                  <a:latin typeface="+mn-lt"/>
                  <a:ea typeface="+mn-ea"/>
                  <a:cs typeface="+mn-cs"/>
                </a:rPr>
                <a:t>解析、题型——成绩可追溯的物理基础</a:t>
              </a:r>
            </a:p>
          </p:txBody>
        </p:sp>
      </p:grpSp>
      <p:grpSp>
        <p:nvGrpSpPr>
          <p:cNvPr id="59" name="Group 59"/>
          <p:cNvGrpSpPr/>
          <p:nvPr/>
        </p:nvGrpSpPr>
        <p:grpSpPr>
          <a:xfrm>
            <a:off x="6972300" y="2705100"/>
            <a:ext cx="4610100" cy="956501"/>
            <a:chOff x="6972300" y="2705100"/>
            <a:chExt cx="4610100" cy="956501"/>
          </a:xfrm>
        </p:grpSpPr>
        <p:sp>
          <p:nvSpPr>
            <p:cNvPr id="54" name="Rectangle 54"/>
            <p:cNvSpPr/>
            <p:nvPr/>
          </p:nvSpPr>
          <p:spPr>
            <a:xfrm>
              <a:off x="6972300" y="2705100"/>
              <a:ext cx="4610100" cy="952500"/>
            </a:xfrm>
            <a:prstGeom prst="roundRect">
              <a:avLst>
                <a:gd name="adj" fmla="val 18000"/>
              </a:avLst>
            </a:prstGeom>
            <a:solidFill>
              <a:schemeClr val="lt2"/>
            </a:solidFill>
            <a:ln>
              <a:noFill/>
            </a:ln>
          </p:spPr>
        </p:sp>
        <p:sp>
          <p:nvSpPr>
            <p:cNvPr id="55" name="Ellipse 55"/>
            <p:cNvSpPr/>
            <p:nvPr/>
          </p:nvSpPr>
          <p:spPr>
            <a:xfrm>
              <a:off x="7067550" y="2838450"/>
              <a:ext cx="266700" cy="266700"/>
            </a:xfrm>
            <a:prstGeom prst="ellipse">
              <a:avLst/>
            </a:prstGeom>
            <a:solidFill>
              <a:schemeClr val="accent1"/>
            </a:solidFill>
            <a:ln>
              <a:noFill/>
            </a:ln>
          </p:spPr>
        </p:sp>
        <p:sp>
          <p:nvSpPr>
            <p:cNvPr id="56" name="TextBox 56"/>
            <p:cNvSpPr txBox="1"/>
            <p:nvPr/>
          </p:nvSpPr>
          <p:spPr>
            <a:xfrm>
              <a:off x="7144064" y="288321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2</a:t>
              </a:r>
            </a:p>
          </p:txBody>
        </p:sp>
        <p:sp>
          <p:nvSpPr>
            <p:cNvPr id="57" name="TextBox 57"/>
            <p:cNvSpPr txBox="1"/>
            <p:nvPr/>
          </p:nvSpPr>
          <p:spPr>
            <a:xfrm>
              <a:off x="7439406" y="283464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唯一约束兜底</a:t>
              </a:r>
            </a:p>
          </p:txBody>
        </p:sp>
        <p:sp>
          <p:nvSpPr>
            <p:cNvPr id="58" name="TextBox 58"/>
            <p:cNvSpPr txBox="1"/>
            <p:nvPr/>
          </p:nvSpPr>
          <p:spPr>
            <a:xfrm>
              <a:off x="7194042" y="3168968"/>
              <a:ext cx="3356991"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submission(exam_id, student_id) 唯一，</a:t>
              </a:r>
              <a:br/>
              <a:r>
                <a:rPr lang="zh-CN" sz="1350" dirty="0">
                  <a:solidFill>
                    <a:schemeClr val="dk1"/>
                  </a:solidFill>
                  <a:latin typeface="+mn-lt"/>
                  <a:ea typeface="+mn-ea"/>
                  <a:cs typeface="+mn-cs"/>
                </a:rPr>
                <a:t>先查后插有竞态，只有约束保证一人一份</a:t>
              </a:r>
            </a:p>
          </p:txBody>
        </p:sp>
      </p:grpSp>
      <p:grpSp>
        <p:nvGrpSpPr>
          <p:cNvPr id="65" name="Group 65"/>
          <p:cNvGrpSpPr/>
          <p:nvPr/>
        </p:nvGrpSpPr>
        <p:grpSpPr>
          <a:xfrm>
            <a:off x="6972300" y="3733800"/>
            <a:ext cx="4610100" cy="956501"/>
            <a:chOff x="6972300" y="3733800"/>
            <a:chExt cx="4610100" cy="956501"/>
          </a:xfrm>
        </p:grpSpPr>
        <p:sp>
          <p:nvSpPr>
            <p:cNvPr id="60" name="Rectangle 60"/>
            <p:cNvSpPr/>
            <p:nvPr/>
          </p:nvSpPr>
          <p:spPr>
            <a:xfrm>
              <a:off x="6972300" y="3733800"/>
              <a:ext cx="4610100" cy="952500"/>
            </a:xfrm>
            <a:prstGeom prst="roundRect">
              <a:avLst>
                <a:gd name="adj" fmla="val 18000"/>
              </a:avLst>
            </a:prstGeom>
            <a:solidFill>
              <a:schemeClr val="lt2"/>
            </a:solidFill>
            <a:ln>
              <a:noFill/>
            </a:ln>
          </p:spPr>
        </p:sp>
        <p:sp>
          <p:nvSpPr>
            <p:cNvPr id="61" name="Ellipse 61"/>
            <p:cNvSpPr/>
            <p:nvPr/>
          </p:nvSpPr>
          <p:spPr>
            <a:xfrm>
              <a:off x="7067550" y="3867150"/>
              <a:ext cx="266700" cy="266700"/>
            </a:xfrm>
            <a:prstGeom prst="ellipse">
              <a:avLst/>
            </a:prstGeom>
            <a:solidFill>
              <a:schemeClr val="accent1"/>
            </a:solidFill>
            <a:ln>
              <a:noFill/>
            </a:ln>
          </p:spPr>
        </p:sp>
        <p:sp>
          <p:nvSpPr>
            <p:cNvPr id="62" name="TextBox 62"/>
            <p:cNvSpPr txBox="1"/>
            <p:nvPr/>
          </p:nvSpPr>
          <p:spPr>
            <a:xfrm>
              <a:off x="7144064" y="391191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3</a:t>
              </a:r>
            </a:p>
          </p:txBody>
        </p:sp>
        <p:sp>
          <p:nvSpPr>
            <p:cNvPr id="63" name="TextBox 63"/>
            <p:cNvSpPr txBox="1"/>
            <p:nvPr/>
          </p:nvSpPr>
          <p:spPr>
            <a:xfrm>
              <a:off x="7439406" y="3863340"/>
              <a:ext cx="208100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graded_at 判已评</a:t>
              </a:r>
            </a:p>
          </p:txBody>
        </p:sp>
        <p:sp>
          <p:nvSpPr>
            <p:cNvPr id="64" name="TextBox 64"/>
            <p:cNvSpPr txBox="1"/>
            <p:nvPr/>
          </p:nvSpPr>
          <p:spPr>
            <a:xfrm>
              <a:off x="7194042" y="4197668"/>
              <a:ext cx="3125534"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非空即已评分，主观题判 0 分也算已评，</a:t>
              </a:r>
              <a:br/>
              <a:r>
                <a:rPr lang="zh-CN" sz="1350" dirty="0">
                  <a:solidFill>
                    <a:schemeClr val="dk1"/>
                  </a:solidFill>
                  <a:latin typeface="+mn-lt"/>
                  <a:ea typeface="+mn-ea"/>
                  <a:cs typeface="+mn-cs"/>
                </a:rPr>
                <a:t>不看分数是否为 0</a:t>
              </a:r>
            </a:p>
          </p:txBody>
        </p:sp>
      </p:grpSp>
      <p:grpSp>
        <p:nvGrpSpPr>
          <p:cNvPr id="71" name="Group 71"/>
          <p:cNvGrpSpPr/>
          <p:nvPr/>
        </p:nvGrpSpPr>
        <p:grpSpPr>
          <a:xfrm>
            <a:off x="6972300" y="4762500"/>
            <a:ext cx="4610100" cy="956501"/>
            <a:chOff x="6972300" y="4762500"/>
            <a:chExt cx="4610100" cy="956501"/>
          </a:xfrm>
        </p:grpSpPr>
        <p:sp>
          <p:nvSpPr>
            <p:cNvPr id="66" name="Rectangle 66"/>
            <p:cNvSpPr/>
            <p:nvPr/>
          </p:nvSpPr>
          <p:spPr>
            <a:xfrm>
              <a:off x="6972300" y="4762500"/>
              <a:ext cx="4610100" cy="952500"/>
            </a:xfrm>
            <a:prstGeom prst="roundRect">
              <a:avLst>
                <a:gd name="adj" fmla="val 18000"/>
              </a:avLst>
            </a:prstGeom>
            <a:solidFill>
              <a:schemeClr val="lt2"/>
            </a:solidFill>
            <a:ln>
              <a:noFill/>
            </a:ln>
          </p:spPr>
        </p:sp>
        <p:sp>
          <p:nvSpPr>
            <p:cNvPr id="67" name="Ellipse 67"/>
            <p:cNvSpPr/>
            <p:nvPr/>
          </p:nvSpPr>
          <p:spPr>
            <a:xfrm>
              <a:off x="7067550" y="4895850"/>
              <a:ext cx="266700" cy="266700"/>
            </a:xfrm>
            <a:prstGeom prst="ellipse">
              <a:avLst/>
            </a:prstGeom>
            <a:solidFill>
              <a:schemeClr val="accent2"/>
            </a:solidFill>
            <a:ln>
              <a:noFill/>
            </a:ln>
          </p:spPr>
        </p:sp>
        <p:sp>
          <p:nvSpPr>
            <p:cNvPr id="68" name="TextBox 68"/>
            <p:cNvSpPr txBox="1"/>
            <p:nvPr/>
          </p:nvSpPr>
          <p:spPr>
            <a:xfrm>
              <a:off x="7144064" y="494061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4</a:t>
              </a:r>
            </a:p>
          </p:txBody>
        </p:sp>
        <p:sp>
          <p:nvSpPr>
            <p:cNvPr id="69" name="TextBox 69"/>
            <p:cNvSpPr txBox="1"/>
            <p:nvPr/>
          </p:nvSpPr>
          <p:spPr>
            <a:xfrm>
              <a:off x="7439406" y="4892040"/>
              <a:ext cx="171450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练习与成绩隔离</a:t>
              </a:r>
            </a:p>
          </p:txBody>
        </p:sp>
        <p:sp>
          <p:nvSpPr>
            <p:cNvPr id="70" name="TextBox 70"/>
            <p:cNvSpPr txBox="1"/>
            <p:nvPr/>
          </p:nvSpPr>
          <p:spPr>
            <a:xfrm>
              <a:off x="7194042" y="5226368"/>
              <a:ext cx="340842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practice_attempt 指向 paper_question，</a:t>
              </a:r>
              <a:br/>
              <a:r>
                <a:rPr lang="zh-CN" sz="1350" dirty="0">
                  <a:solidFill>
                    <a:schemeClr val="dk1"/>
                  </a:solidFill>
                  <a:latin typeface="+mn-lt"/>
                  <a:ea typeface="+mn-ea"/>
                  <a:cs typeface="+mn-cs"/>
                </a:rPr>
                <a:t>重练不碰 submission 任何字段</a:t>
              </a:r>
            </a:p>
          </p:txBody>
        </p:sp>
      </p:grpSp>
      <p:grpSp>
        <p:nvGrpSpPr>
          <p:cNvPr id="75" name="Group 75"/>
          <p:cNvGrpSpPr/>
          <p:nvPr/>
        </p:nvGrpSpPr>
        <p:grpSpPr>
          <a:xfrm>
            <a:off x="603885" y="6172200"/>
            <a:ext cx="10984230" cy="308134"/>
            <a:chOff x="603885" y="6172200"/>
            <a:chExt cx="10984230" cy="308134"/>
          </a:xfrm>
        </p:grpSpPr>
        <p:sp>
          <p:nvSpPr>
            <p:cNvPr id="72" name="Line 72"/>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73" name="TextBox 73"/>
            <p:cNvSpPr txBox="1"/>
            <p:nvPr/>
          </p:nvSpPr>
          <p:spPr>
            <a:xfrm>
              <a:off x="603885" y="6260306"/>
              <a:ext cx="6671381"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来源：docs/database-design.md · docs/project-report.md 第 3.5 节（含 ER 图与迁移策略）</a:t>
              </a:r>
            </a:p>
          </p:txBody>
        </p:sp>
        <p:sp>
          <p:nvSpPr>
            <p:cNvPr id="74" name="TextBox 74"/>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11 / 21</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6"/>
            </a:solidFill>
            <a:ln>
              <a:noFill/>
            </a:ln>
          </p:spPr>
        </p:sp>
        <p:sp>
          <p:nvSpPr>
            <p:cNvPr id="3" name="Rectangle 3"/>
            <p:cNvSpPr/>
            <p:nvPr/>
          </p:nvSpPr>
          <p:spPr>
            <a:xfrm>
              <a:off x="914400" y="342900"/>
              <a:ext cx="247650" cy="76200"/>
            </a:xfrm>
            <a:prstGeom prst="roundRect">
              <a:avLst>
                <a:gd name="adj" fmla="val 50000"/>
              </a:avLst>
            </a:prstGeom>
            <a:solidFill>
              <a:schemeClr val="accent6"/>
            </a:solidFill>
            <a:ln>
              <a:noFill/>
            </a:ln>
          </p:spPr>
        </p:sp>
        <p:sp>
          <p:nvSpPr>
            <p:cNvPr id="4" name="Rectangle 4"/>
            <p:cNvSpPr/>
            <p:nvPr/>
          </p:nvSpPr>
          <p:spPr>
            <a:xfrm>
              <a:off x="1219200" y="342900"/>
              <a:ext cx="247650" cy="76200"/>
            </a:xfrm>
            <a:prstGeom prst="roundRect">
              <a:avLst>
                <a:gd name="adj" fmla="val 50000"/>
              </a:avLst>
            </a:prstGeom>
            <a:solidFill>
              <a:schemeClr val="accent6"/>
            </a:solidFill>
            <a:ln>
              <a:noFill/>
            </a:ln>
          </p:spPr>
        </p:sp>
        <p:sp>
          <p:nvSpPr>
            <p:cNvPr id="5" name="Rectangle 5"/>
            <p:cNvSpPr/>
            <p:nvPr/>
          </p:nvSpPr>
          <p:spPr>
            <a:xfrm>
              <a:off x="1524000" y="342900"/>
              <a:ext cx="247650" cy="76200"/>
            </a:xfrm>
            <a:prstGeom prst="roundRect">
              <a:avLst>
                <a:gd name="adj" fmla="val 50000"/>
              </a:avLst>
            </a:prstGeom>
            <a:solidFill>
              <a:schemeClr val="accent6"/>
            </a:solidFill>
            <a:ln>
              <a:noFill/>
            </a:ln>
          </p:spPr>
        </p:sp>
        <p:sp>
          <p:nvSpPr>
            <p:cNvPr id="6" name="Rectangle 6"/>
            <p:cNvSpPr/>
            <p:nvPr/>
          </p:nvSpPr>
          <p:spPr>
            <a:xfrm>
              <a:off x="1828800" y="342900"/>
              <a:ext cx="247650" cy="76200"/>
            </a:xfrm>
            <a:prstGeom prst="roundRect">
              <a:avLst>
                <a:gd name="adj" fmla="val 50000"/>
              </a:avLst>
            </a:prstGeom>
            <a:solidFill>
              <a:schemeClr val="accent6"/>
            </a:solidFill>
            <a:ln>
              <a:noFill/>
            </a:ln>
          </p:spPr>
        </p:sp>
        <p:sp>
          <p:nvSpPr>
            <p:cNvPr id="7" name="Rectangle 7"/>
            <p:cNvSpPr/>
            <p:nvPr/>
          </p:nvSpPr>
          <p:spPr>
            <a:xfrm>
              <a:off x="2133600" y="342900"/>
              <a:ext cx="247650" cy="76200"/>
            </a:xfrm>
            <a:prstGeom prst="roundRect">
              <a:avLst>
                <a:gd name="adj" fmla="val 50000"/>
              </a:avLst>
            </a:prstGeom>
            <a:solidFill>
              <a:schemeClr val="accent6"/>
            </a:solidFill>
            <a:ln>
              <a:noFill/>
            </a:ln>
          </p:spPr>
        </p:sp>
        <p:sp>
          <p:nvSpPr>
            <p:cNvPr id="8" name="TextBox 8"/>
            <p:cNvSpPr txBox="1"/>
            <p:nvPr/>
          </p:nvSpPr>
          <p:spPr>
            <a:xfrm>
              <a:off x="2507742" y="311468"/>
              <a:ext cx="113139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三 · 设计文档</a:t>
              </a:r>
            </a:p>
          </p:txBody>
        </p:sp>
        <p:sp>
          <p:nvSpPr>
            <p:cNvPr id="9" name="TextBox 9"/>
            <p:cNvSpPr txBox="1"/>
            <p:nvPr/>
          </p:nvSpPr>
          <p:spPr>
            <a:xfrm>
              <a:off x="593598" y="726758"/>
              <a:ext cx="714973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关键设计决策（节选六条，共 33 条）</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40" name="Group 40"/>
          <p:cNvGrpSpPr/>
          <p:nvPr/>
        </p:nvGrpSpPr>
        <p:grpSpPr>
          <a:xfrm>
            <a:off x="609600" y="1600200"/>
            <a:ext cx="10972800" cy="4305300"/>
            <a:chOff x="609600" y="1600200"/>
            <a:chExt cx="10972800" cy="4305300"/>
          </a:xfrm>
        </p:grpSpPr>
        <p:sp>
          <p:nvSpPr>
            <p:cNvPr id="12" name="Rectangle 12"/>
            <p:cNvSpPr/>
            <p:nvPr/>
          </p:nvSpPr>
          <p:spPr>
            <a:xfrm>
              <a:off x="609600" y="1600200"/>
              <a:ext cx="10972800" cy="419100"/>
            </a:xfrm>
            <a:prstGeom prst="roundRect">
              <a:avLst>
                <a:gd name="adj" fmla="val 31818"/>
              </a:avLst>
            </a:prstGeom>
            <a:solidFill>
              <a:schemeClr val="accent1"/>
            </a:solidFill>
            <a:ln>
              <a:noFill/>
            </a:ln>
          </p:spPr>
        </p:sp>
        <p:sp>
          <p:nvSpPr>
            <p:cNvPr id="13" name="Rectangle 13"/>
            <p:cNvSpPr/>
            <p:nvPr/>
          </p:nvSpPr>
          <p:spPr>
            <a:xfrm>
              <a:off x="609600" y="2095500"/>
              <a:ext cx="2857500" cy="3810000"/>
            </a:xfrm>
            <a:prstGeom prst="roundRect">
              <a:avLst>
                <a:gd name="adj" fmla="val 4667"/>
              </a:avLst>
            </a:prstGeom>
            <a:solidFill>
              <a:schemeClr val="lt2"/>
            </a:solidFill>
            <a:ln>
              <a:noFill/>
            </a:ln>
          </p:spPr>
        </p:sp>
        <p:sp>
          <p:nvSpPr>
            <p:cNvPr id="14" name="TextBox 14"/>
            <p:cNvSpPr txBox="1"/>
            <p:nvPr/>
          </p:nvSpPr>
          <p:spPr>
            <a:xfrm>
              <a:off x="717042" y="1730692"/>
              <a:ext cx="37719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问题</a:t>
              </a:r>
            </a:p>
          </p:txBody>
        </p:sp>
        <p:sp>
          <p:nvSpPr>
            <p:cNvPr id="15" name="TextBox 15"/>
            <p:cNvSpPr txBox="1"/>
            <p:nvPr/>
          </p:nvSpPr>
          <p:spPr>
            <a:xfrm>
              <a:off x="3574542" y="1730692"/>
              <a:ext cx="37719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做法</a:t>
              </a:r>
            </a:p>
          </p:txBody>
        </p:sp>
        <p:sp>
          <p:nvSpPr>
            <p:cNvPr id="16" name="TextBox 16"/>
            <p:cNvSpPr txBox="1"/>
            <p:nvPr/>
          </p:nvSpPr>
          <p:spPr>
            <a:xfrm>
              <a:off x="7575042" y="1730692"/>
              <a:ext cx="1467612"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为什么不用另一种</a:t>
              </a:r>
            </a:p>
          </p:txBody>
        </p:sp>
        <p:sp>
          <p:nvSpPr>
            <p:cNvPr id="17" name="Line 17"/>
            <p:cNvSpPr/>
            <p:nvPr/>
          </p:nvSpPr>
          <p:spPr>
            <a:xfrm>
              <a:off x="609600" y="26670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8" name="Line 18"/>
            <p:cNvSpPr/>
            <p:nvPr/>
          </p:nvSpPr>
          <p:spPr>
            <a:xfrm>
              <a:off x="609600" y="33147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19" name="Line 19"/>
            <p:cNvSpPr/>
            <p:nvPr/>
          </p:nvSpPr>
          <p:spPr>
            <a:xfrm>
              <a:off x="609600" y="39624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0" name="Line 20"/>
            <p:cNvSpPr/>
            <p:nvPr/>
          </p:nvSpPr>
          <p:spPr>
            <a:xfrm>
              <a:off x="609600" y="46101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1" name="Line 21"/>
            <p:cNvSpPr/>
            <p:nvPr/>
          </p:nvSpPr>
          <p:spPr>
            <a:xfrm>
              <a:off x="609600" y="52578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22" name="TextBox 22"/>
            <p:cNvSpPr txBox="1"/>
            <p:nvPr/>
          </p:nvSpPr>
          <p:spPr>
            <a:xfrm>
              <a:off x="717042" y="2121218"/>
              <a:ext cx="255803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教师改了题库，历史成绩会变吗</a:t>
              </a:r>
            </a:p>
          </p:txBody>
        </p:sp>
        <p:sp>
          <p:nvSpPr>
            <p:cNvPr id="23" name="TextBox 23"/>
            <p:cNvSpPr txBox="1"/>
            <p:nvPr/>
          </p:nvSpPr>
          <p:spPr>
            <a:xfrm>
              <a:off x="3574542" y="2121218"/>
              <a:ext cx="309981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组卷时把题干、选项、答案、解析、题型</a:t>
              </a:r>
              <a:br/>
              <a:r>
                <a:rPr lang="zh-CN" sz="1350" dirty="0">
                  <a:solidFill>
                    <a:schemeClr val="dk1"/>
                  </a:solidFill>
                  <a:latin typeface="+mn-lt"/>
                  <a:ea typeface="+mn-ea"/>
                  <a:cs typeface="+mn-cs"/>
                </a:rPr>
                <a:t>五项快照写入 paper_question</a:t>
              </a:r>
            </a:p>
          </p:txBody>
        </p:sp>
        <p:sp>
          <p:nvSpPr>
            <p:cNvPr id="24" name="TextBox 24"/>
            <p:cNvSpPr txBox="1"/>
            <p:nvPr/>
          </p:nvSpPr>
          <p:spPr>
            <a:xfrm>
              <a:off x="7575042" y="2121218"/>
              <a:ext cx="292836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不快照的话，改一道题的答案会让已算</a:t>
              </a:r>
              <a:br/>
              <a:r>
                <a:rPr lang="zh-CN" sz="1350" dirty="0">
                  <a:solidFill>
                    <a:schemeClr val="dk1"/>
                  </a:solidFill>
                  <a:latin typeface="+mn-lt"/>
                  <a:ea typeface="+mn-ea"/>
                  <a:cs typeface="+mn-cs"/>
                </a:rPr>
                <a:t>出的分数失去依据</a:t>
              </a:r>
            </a:p>
          </p:txBody>
        </p:sp>
        <p:sp>
          <p:nvSpPr>
            <p:cNvPr id="25" name="TextBox 25"/>
            <p:cNvSpPr txBox="1"/>
            <p:nvPr/>
          </p:nvSpPr>
          <p:spPr>
            <a:xfrm>
              <a:off x="717042" y="2768918"/>
              <a:ext cx="2194560"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连点两次交卷会重复计分吗</a:t>
              </a:r>
            </a:p>
          </p:txBody>
        </p:sp>
        <p:sp>
          <p:nvSpPr>
            <p:cNvPr id="26" name="TextBox 26"/>
            <p:cNvSpPr txBox="1"/>
            <p:nvPr/>
          </p:nvSpPr>
          <p:spPr>
            <a:xfrm>
              <a:off x="3574542" y="2768918"/>
              <a:ext cx="285978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交卷与判分同事务，先 SELECT … FOR</a:t>
              </a:r>
              <a:br/>
              <a:r>
                <a:rPr lang="zh-CN" sz="1350" dirty="0">
                  <a:solidFill>
                    <a:schemeClr val="dk1"/>
                  </a:solidFill>
                  <a:latin typeface="+mn-lt"/>
                  <a:ea typeface="+mn-ea"/>
                  <a:cs typeface="+mn-cs"/>
                </a:rPr>
                <a:t>UPDATE 取行锁再读状态</a:t>
              </a:r>
            </a:p>
          </p:txBody>
        </p:sp>
        <p:sp>
          <p:nvSpPr>
            <p:cNvPr id="27" name="TextBox 27"/>
            <p:cNvSpPr txBox="1"/>
            <p:nvPr/>
          </p:nvSpPr>
          <p:spPr>
            <a:xfrm>
              <a:off x="7575042" y="2768918"/>
              <a:ext cx="275691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先读后锁会让两个并发请求都读到作</a:t>
              </a:r>
              <a:br/>
              <a:r>
                <a:rPr lang="zh-CN" sz="1350" dirty="0">
                  <a:solidFill>
                    <a:schemeClr val="dk1"/>
                  </a:solidFill>
                  <a:latin typeface="+mn-lt"/>
                  <a:ea typeface="+mn-ea"/>
                  <a:cs typeface="+mn-cs"/>
                </a:rPr>
                <a:t>答中状态，然后都去判分</a:t>
              </a:r>
            </a:p>
          </p:txBody>
        </p:sp>
        <p:sp>
          <p:nvSpPr>
            <p:cNvPr id="28" name="TextBox 28"/>
            <p:cNvSpPr txBox="1"/>
            <p:nvPr/>
          </p:nvSpPr>
          <p:spPr>
            <a:xfrm>
              <a:off x="717042" y="3416618"/>
              <a:ext cx="2376297"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学生关掉浏览器，卷子怎么办</a:t>
              </a:r>
            </a:p>
          </p:txBody>
        </p:sp>
        <p:sp>
          <p:nvSpPr>
            <p:cNvPr id="29" name="TextBox 29"/>
            <p:cNvSpPr txBox="1"/>
            <p:nvPr/>
          </p:nvSpPr>
          <p:spPr>
            <a:xfrm>
              <a:off x="3574542" y="3416618"/>
              <a:ext cx="2876931"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服务端每 30 秒扫描过期仍在作答的答</a:t>
              </a:r>
              <a:br/>
              <a:r>
                <a:rPr lang="zh-CN" sz="1350" dirty="0">
                  <a:solidFill>
                    <a:schemeClr val="dk1"/>
                  </a:solidFill>
                  <a:latin typeface="+mn-lt"/>
                  <a:ea typeface="+mn-ea"/>
                  <a:cs typeface="+mn-cs"/>
                </a:rPr>
                <a:t>卷并事务内自动交卷；答案随时同步</a:t>
              </a:r>
            </a:p>
          </p:txBody>
        </p:sp>
        <p:sp>
          <p:nvSpPr>
            <p:cNvPr id="30" name="TextBox 30"/>
            <p:cNvSpPr txBox="1"/>
            <p:nvPr/>
          </p:nvSpPr>
          <p:spPr>
            <a:xfrm>
              <a:off x="7575042" y="3416618"/>
              <a:ext cx="275691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靠前端倒计时触发的话，关掉页面的</a:t>
              </a:r>
              <a:br/>
              <a:r>
                <a:rPr lang="zh-CN" sz="1350" dirty="0">
                  <a:solidFill>
                    <a:schemeClr val="dk1"/>
                  </a:solidFill>
                  <a:latin typeface="+mn-lt"/>
                  <a:ea typeface="+mn-ea"/>
                  <a:cs typeface="+mn-cs"/>
                </a:rPr>
                <a:t>答卷会永远停在作答中</a:t>
              </a:r>
            </a:p>
          </p:txBody>
        </p:sp>
        <p:sp>
          <p:nvSpPr>
            <p:cNvPr id="31" name="TextBox 31"/>
            <p:cNvSpPr txBox="1"/>
            <p:nvPr/>
          </p:nvSpPr>
          <p:spPr>
            <a:xfrm>
              <a:off x="717042" y="4064318"/>
              <a:ext cx="2194560"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成绩公布前学生能看到什么</a:t>
              </a:r>
            </a:p>
          </p:txBody>
        </p:sp>
        <p:sp>
          <p:nvSpPr>
            <p:cNvPr id="32" name="TextBox 32"/>
            <p:cNvSpPr txBox="1"/>
            <p:nvPr/>
          </p:nvSpPr>
          <p:spPr>
            <a:xfrm>
              <a:off x="3574542" y="4064318"/>
              <a:ext cx="2954084"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后端按谁在看 + 是否已公布裁剪字段；</a:t>
              </a:r>
              <a:br/>
              <a:r>
                <a:rPr lang="zh-CN" sz="1350" dirty="0">
                  <a:solidFill>
                    <a:schemeClr val="dk1"/>
                  </a:solidFill>
                  <a:latin typeface="+mn-lt"/>
                  <a:ea typeface="+mn-ea"/>
                  <a:cs typeface="+mn-cs"/>
                </a:rPr>
                <a:t>null 表示不可见、0 表示真的 0 分</a:t>
              </a:r>
            </a:p>
          </p:txBody>
        </p:sp>
        <p:sp>
          <p:nvSpPr>
            <p:cNvPr id="33" name="TextBox 33"/>
            <p:cNvSpPr txBox="1"/>
            <p:nvPr/>
          </p:nvSpPr>
          <p:spPr>
            <a:xfrm>
              <a:off x="7575042" y="4064318"/>
              <a:ext cx="275691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前端不显示不等于没下发，浏览器里</a:t>
              </a:r>
              <a:br/>
              <a:r>
                <a:rPr lang="zh-CN" sz="1350" dirty="0">
                  <a:solidFill>
                    <a:schemeClr val="dk1"/>
                  </a:solidFill>
                  <a:latin typeface="+mn-lt"/>
                  <a:ea typeface="+mn-ea"/>
                  <a:cs typeface="+mn-cs"/>
                </a:rPr>
                <a:t>能看到的就等于已经泄露</a:t>
              </a:r>
            </a:p>
          </p:txBody>
        </p:sp>
        <p:sp>
          <p:nvSpPr>
            <p:cNvPr id="34" name="TextBox 34"/>
            <p:cNvSpPr txBox="1"/>
            <p:nvPr/>
          </p:nvSpPr>
          <p:spPr>
            <a:xfrm>
              <a:off x="717042" y="4712018"/>
              <a:ext cx="2165825"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AI 会不会写出不合规的题</a:t>
              </a:r>
            </a:p>
          </p:txBody>
        </p:sp>
        <p:sp>
          <p:nvSpPr>
            <p:cNvPr id="35" name="TextBox 35"/>
            <p:cNvSpPr txBox="1"/>
            <p:nvPr/>
          </p:nvSpPr>
          <p:spPr>
            <a:xfrm>
              <a:off x="3574542" y="4712018"/>
              <a:ext cx="292836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题型难度知识点分值由教师指定，模型</a:t>
              </a:r>
              <a:br/>
              <a:r>
                <a:rPr lang="zh-CN" sz="1350" dirty="0">
                  <a:solidFill>
                    <a:schemeClr val="dk1"/>
                  </a:solidFill>
                  <a:latin typeface="+mn-lt"/>
                  <a:ea typeface="+mn-ea"/>
                  <a:cs typeface="+mn-cs"/>
                </a:rPr>
                <a:t>输出走与手工出题完全相同的校验</a:t>
              </a:r>
            </a:p>
          </p:txBody>
        </p:sp>
        <p:sp>
          <p:nvSpPr>
            <p:cNvPr id="36" name="TextBox 36"/>
            <p:cNvSpPr txBox="1"/>
            <p:nvPr/>
          </p:nvSpPr>
          <p:spPr>
            <a:xfrm>
              <a:off x="7575042" y="4712018"/>
              <a:ext cx="2576894"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AI 只出草稿，保存走普通的</a:t>
              </a:r>
              <a:br/>
              <a:r>
                <a:rPr lang="zh-CN" sz="1350" dirty="0">
                  <a:solidFill>
                    <a:schemeClr val="dk1"/>
                  </a:solidFill>
                  <a:latin typeface="+mn-lt"/>
                  <a:ea typeface="+mn-ea"/>
                  <a:cs typeface="+mn-cs"/>
                </a:rPr>
                <a:t>POST /questions，没有绕过通道</a:t>
              </a:r>
            </a:p>
          </p:txBody>
        </p:sp>
        <p:sp>
          <p:nvSpPr>
            <p:cNvPr id="37" name="TextBox 37"/>
            <p:cNvSpPr txBox="1"/>
            <p:nvPr/>
          </p:nvSpPr>
          <p:spPr>
            <a:xfrm>
              <a:off x="717042" y="5359718"/>
              <a:ext cx="2376297"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系统设置为什么只有六项能改</a:t>
              </a:r>
            </a:p>
          </p:txBody>
        </p:sp>
        <p:sp>
          <p:nvSpPr>
            <p:cNvPr id="38" name="TextBox 38"/>
            <p:cNvSpPr txBox="1"/>
            <p:nvPr/>
          </p:nvSpPr>
          <p:spPr>
            <a:xfrm>
              <a:off x="3574542" y="5359718"/>
              <a:ext cx="292836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白名单标准是每次用到都会重新读取，</a:t>
              </a:r>
              <a:br/>
              <a:r>
                <a:rPr lang="zh-CN" sz="1350" dirty="0">
                  <a:solidFill>
                    <a:schemeClr val="dk1"/>
                  </a:solidFill>
                  <a:latin typeface="+mn-lt"/>
                  <a:ea typeface="+mn-ea"/>
                  <a:cs typeface="+mn-cs"/>
                </a:rPr>
                <a:t>读取路径就是生效路径</a:t>
              </a:r>
            </a:p>
          </p:txBody>
        </p:sp>
        <p:sp>
          <p:nvSpPr>
            <p:cNvPr id="39" name="TextBox 39"/>
            <p:cNvSpPr txBox="1"/>
            <p:nvPr/>
          </p:nvSpPr>
          <p:spPr>
            <a:xfrm>
              <a:off x="7575042" y="5359718"/>
              <a:ext cx="292836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密钥与连接串不能进浏览器；调度间隔</a:t>
              </a:r>
              <a:br/>
              <a:r>
                <a:rPr lang="zh-CN" sz="1350" dirty="0">
                  <a:solidFill>
                    <a:schemeClr val="dk1"/>
                  </a:solidFill>
                  <a:latin typeface="+mn-lt"/>
                  <a:ea typeface="+mn-ea"/>
                  <a:cs typeface="+mn-cs"/>
                </a:rPr>
                <a:t>与超时启动时已固化，改了不生效</a:t>
              </a:r>
            </a:p>
          </p:txBody>
        </p:sp>
      </p:grpSp>
      <p:grpSp>
        <p:nvGrpSpPr>
          <p:cNvPr id="44" name="Group 44"/>
          <p:cNvGrpSpPr/>
          <p:nvPr/>
        </p:nvGrpSpPr>
        <p:grpSpPr>
          <a:xfrm>
            <a:off x="603885" y="6172200"/>
            <a:ext cx="10984230" cy="308134"/>
            <a:chOff x="603885" y="6172200"/>
            <a:chExt cx="10984230" cy="308134"/>
          </a:xfrm>
        </p:grpSpPr>
        <p:sp>
          <p:nvSpPr>
            <p:cNvPr id="41" name="Line 41"/>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2" name="TextBox 42"/>
            <p:cNvSpPr txBox="1"/>
            <p:nvPr/>
          </p:nvSpPr>
          <p:spPr>
            <a:xfrm>
              <a:off x="603885" y="6260306"/>
              <a:ext cx="7143059"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完整 33 条见 docs/project-report.md 第 3.6 节 · 高频追问十三条见 docs/report-outline.md 第 3 节</a:t>
              </a:r>
            </a:p>
          </p:txBody>
        </p:sp>
        <p:sp>
          <p:nvSpPr>
            <p:cNvPr id="43" name="TextBox 43"/>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12 / 21</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2"/>
            </a:solidFill>
            <a:ln>
              <a:noFill/>
            </a:ln>
          </p:spPr>
        </p:sp>
        <p:sp>
          <p:nvSpPr>
            <p:cNvPr id="3" name="Rectangle 3"/>
            <p:cNvSpPr/>
            <p:nvPr/>
          </p:nvSpPr>
          <p:spPr>
            <a:xfrm>
              <a:off x="914400" y="342900"/>
              <a:ext cx="247650" cy="76200"/>
            </a:xfrm>
            <a:prstGeom prst="roundRect">
              <a:avLst>
                <a:gd name="adj" fmla="val 50000"/>
              </a:avLst>
            </a:prstGeom>
            <a:solidFill>
              <a:schemeClr val="accent2"/>
            </a:solidFill>
            <a:ln>
              <a:noFill/>
            </a:ln>
          </p:spPr>
        </p:sp>
        <p:sp>
          <p:nvSpPr>
            <p:cNvPr id="4" name="Rectangle 4"/>
            <p:cNvSpPr/>
            <p:nvPr/>
          </p:nvSpPr>
          <p:spPr>
            <a:xfrm>
              <a:off x="1219200" y="342900"/>
              <a:ext cx="247650" cy="76200"/>
            </a:xfrm>
            <a:prstGeom prst="roundRect">
              <a:avLst>
                <a:gd name="adj" fmla="val 50000"/>
              </a:avLst>
            </a:prstGeom>
            <a:solidFill>
              <a:schemeClr val="accent6"/>
            </a:solidFill>
            <a:ln>
              <a:noFill/>
            </a:ln>
          </p:spPr>
        </p:sp>
        <p:sp>
          <p:nvSpPr>
            <p:cNvPr id="5" name="Rectangle 5"/>
            <p:cNvSpPr/>
            <p:nvPr/>
          </p:nvSpPr>
          <p:spPr>
            <a:xfrm>
              <a:off x="1524000" y="342900"/>
              <a:ext cx="247650" cy="76200"/>
            </a:xfrm>
            <a:prstGeom prst="roundRect">
              <a:avLst>
                <a:gd name="adj" fmla="val 50000"/>
              </a:avLst>
            </a:prstGeom>
            <a:solidFill>
              <a:schemeClr val="accent6"/>
            </a:solidFill>
            <a:ln>
              <a:noFill/>
            </a:ln>
          </p:spPr>
        </p:sp>
        <p:sp>
          <p:nvSpPr>
            <p:cNvPr id="6" name="Rectangle 6"/>
            <p:cNvSpPr/>
            <p:nvPr/>
          </p:nvSpPr>
          <p:spPr>
            <a:xfrm>
              <a:off x="1828800" y="342900"/>
              <a:ext cx="247650" cy="76200"/>
            </a:xfrm>
            <a:prstGeom prst="roundRect">
              <a:avLst>
                <a:gd name="adj" fmla="val 50000"/>
              </a:avLst>
            </a:prstGeom>
            <a:solidFill>
              <a:schemeClr val="accent6"/>
            </a:solidFill>
            <a:ln>
              <a:noFill/>
            </a:ln>
          </p:spPr>
        </p:sp>
        <p:sp>
          <p:nvSpPr>
            <p:cNvPr id="7" name="Rectangle 7"/>
            <p:cNvSpPr/>
            <p:nvPr/>
          </p:nvSpPr>
          <p:spPr>
            <a:xfrm>
              <a:off x="2133600" y="342900"/>
              <a:ext cx="247650" cy="76200"/>
            </a:xfrm>
            <a:prstGeom prst="roundRect">
              <a:avLst>
                <a:gd name="adj" fmla="val 50000"/>
              </a:avLst>
            </a:prstGeom>
            <a:solidFill>
              <a:schemeClr val="accent6"/>
            </a:solidFill>
            <a:ln>
              <a:noFill/>
            </a:ln>
          </p:spPr>
        </p:sp>
        <p:sp>
          <p:nvSpPr>
            <p:cNvPr id="8" name="TextBox 8"/>
            <p:cNvSpPr txBox="1"/>
            <p:nvPr/>
          </p:nvSpPr>
          <p:spPr>
            <a:xfrm>
              <a:off x="2507742" y="311468"/>
              <a:ext cx="113139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四 · 系统演示</a:t>
              </a:r>
            </a:p>
          </p:txBody>
        </p:sp>
        <p:sp>
          <p:nvSpPr>
            <p:cNvPr id="9" name="TextBox 9"/>
            <p:cNvSpPr txBox="1"/>
            <p:nvPr/>
          </p:nvSpPr>
          <p:spPr>
            <a:xfrm>
              <a:off x="593598" y="726758"/>
              <a:ext cx="690484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系统演示 · 教师：题库、组卷、考试</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7" name="Group 17"/>
          <p:cNvGrpSpPr/>
          <p:nvPr/>
        </p:nvGrpSpPr>
        <p:grpSpPr>
          <a:xfrm>
            <a:off x="602742" y="1844040"/>
            <a:ext cx="3454908" cy="3151061"/>
            <a:chOff x="602742" y="1844040"/>
            <a:chExt cx="3454908" cy="3151061"/>
          </a:xfrm>
        </p:grpSpPr>
        <p:sp>
          <p:nvSpPr>
            <p:cNvPr id="12" name="Freeform 12"/>
            <p:cNvSpPr/>
            <p:nvPr/>
          </p:nvSpPr>
          <p:spPr>
            <a:xfrm>
              <a:off x="630248" y="1868487"/>
              <a:ext cx="206364" cy="206374"/>
            </a:xfrm>
            <a:custGeom>
              <a:avLst/>
              <a:gdLst/>
              <a:ahLst/>
              <a:cxnLst/>
              <a:rect l="l" t="t" r="r" b="b"/>
              <a:pathLst>
                <a:path w="206364" h="206374">
                  <a:moveTo>
                    <a:pt x="103177" y="0"/>
                  </a:moveTo>
                  <a:lnTo>
                    <a:pt x="109801" y="52"/>
                  </a:lnTo>
                  <a:lnTo>
                    <a:pt x="116158" y="227"/>
                  </a:lnTo>
                  <a:lnTo>
                    <a:pt x="119243" y="361"/>
                  </a:lnTo>
                  <a:lnTo>
                    <a:pt x="125218" y="712"/>
                  </a:lnTo>
                  <a:lnTo>
                    <a:pt x="130924" y="1187"/>
                  </a:lnTo>
                  <a:cubicBezTo>
                    <a:pt x="179288" y="5882"/>
                    <a:pt x="199543" y="25260"/>
                    <a:pt x="204868" y="72448"/>
                  </a:cubicBezTo>
                  <a:lnTo>
                    <a:pt x="205177" y="75440"/>
                  </a:lnTo>
                  <a:lnTo>
                    <a:pt x="205652" y="81146"/>
                  </a:lnTo>
                  <a:lnTo>
                    <a:pt x="206075" y="88648"/>
                  </a:lnTo>
                  <a:lnTo>
                    <a:pt x="206137" y="90196"/>
                  </a:lnTo>
                  <a:lnTo>
                    <a:pt x="206312" y="96563"/>
                  </a:lnTo>
                  <a:lnTo>
                    <a:pt x="206364" y="103187"/>
                  </a:lnTo>
                  <a:lnTo>
                    <a:pt x="206312" y="109812"/>
                  </a:lnTo>
                  <a:lnTo>
                    <a:pt x="206137" y="116168"/>
                  </a:lnTo>
                  <a:lnTo>
                    <a:pt x="206003" y="119253"/>
                  </a:lnTo>
                  <a:lnTo>
                    <a:pt x="205652" y="125228"/>
                  </a:lnTo>
                  <a:lnTo>
                    <a:pt x="205177" y="130934"/>
                  </a:lnTo>
                  <a:cubicBezTo>
                    <a:pt x="200482" y="179298"/>
                    <a:pt x="181104" y="199554"/>
                    <a:pt x="133916" y="204878"/>
                  </a:cubicBezTo>
                  <a:lnTo>
                    <a:pt x="130924" y="205188"/>
                  </a:lnTo>
                  <a:lnTo>
                    <a:pt x="125218" y="205662"/>
                  </a:lnTo>
                  <a:lnTo>
                    <a:pt x="117716" y="206085"/>
                  </a:lnTo>
                  <a:lnTo>
                    <a:pt x="116168" y="206147"/>
                  </a:lnTo>
                  <a:lnTo>
                    <a:pt x="109801" y="206323"/>
                  </a:lnTo>
                  <a:lnTo>
                    <a:pt x="103177" y="206374"/>
                  </a:lnTo>
                  <a:lnTo>
                    <a:pt x="96552" y="206323"/>
                  </a:lnTo>
                  <a:lnTo>
                    <a:pt x="90196" y="206147"/>
                  </a:lnTo>
                  <a:lnTo>
                    <a:pt x="87111" y="206013"/>
                  </a:lnTo>
                  <a:lnTo>
                    <a:pt x="81136" y="205662"/>
                  </a:lnTo>
                  <a:lnTo>
                    <a:pt x="75430" y="205188"/>
                  </a:lnTo>
                  <a:cubicBezTo>
                    <a:pt x="27066" y="200493"/>
                    <a:pt x="6810" y="181114"/>
                    <a:pt x="1486" y="133927"/>
                  </a:cubicBezTo>
                  <a:lnTo>
                    <a:pt x="1176" y="130934"/>
                  </a:lnTo>
                  <a:lnTo>
                    <a:pt x="702" y="125228"/>
                  </a:lnTo>
                  <a:lnTo>
                    <a:pt x="279" y="117726"/>
                  </a:lnTo>
                  <a:lnTo>
                    <a:pt x="217" y="116178"/>
                  </a:lnTo>
                  <a:lnTo>
                    <a:pt x="41" y="109812"/>
                  </a:lnTo>
                  <a:lnTo>
                    <a:pt x="0" y="106530"/>
                  </a:lnTo>
                  <a:lnTo>
                    <a:pt x="0" y="99844"/>
                  </a:lnTo>
                  <a:lnTo>
                    <a:pt x="41" y="96563"/>
                  </a:lnTo>
                  <a:lnTo>
                    <a:pt x="217" y="90206"/>
                  </a:lnTo>
                  <a:lnTo>
                    <a:pt x="351" y="87121"/>
                  </a:lnTo>
                  <a:lnTo>
                    <a:pt x="702" y="81146"/>
                  </a:lnTo>
                  <a:lnTo>
                    <a:pt x="1176" y="75440"/>
                  </a:lnTo>
                  <a:cubicBezTo>
                    <a:pt x="5871" y="27076"/>
                    <a:pt x="25250" y="6821"/>
                    <a:pt x="72437" y="1496"/>
                  </a:cubicBezTo>
                  <a:lnTo>
                    <a:pt x="75430" y="1187"/>
                  </a:lnTo>
                  <a:lnTo>
                    <a:pt x="81136" y="712"/>
                  </a:lnTo>
                  <a:lnTo>
                    <a:pt x="88638" y="289"/>
                  </a:lnTo>
                  <a:lnTo>
                    <a:pt x="90186" y="227"/>
                  </a:lnTo>
                  <a:lnTo>
                    <a:pt x="96552" y="52"/>
                  </a:lnTo>
                  <a:cubicBezTo>
                    <a:pt x="98719" y="21"/>
                    <a:pt x="100927" y="0"/>
                    <a:pt x="103177" y="0"/>
                  </a:cubicBezTo>
                  <a:close/>
                  <a:moveTo>
                    <a:pt x="113434" y="60736"/>
                  </a:moveTo>
                  <a:cubicBezTo>
                    <a:pt x="112577" y="52718"/>
                    <a:pt x="103032" y="48766"/>
                    <a:pt x="96748" y="53822"/>
                  </a:cubicBezTo>
                  <a:lnTo>
                    <a:pt x="95882" y="54617"/>
                  </a:lnTo>
                  <a:lnTo>
                    <a:pt x="75244" y="75254"/>
                  </a:lnTo>
                  <a:lnTo>
                    <a:pt x="74388" y="76224"/>
                  </a:lnTo>
                  <a:cubicBezTo>
                    <a:pt x="71500" y="79947"/>
                    <a:pt x="71500" y="85153"/>
                    <a:pt x="74388" y="88875"/>
                  </a:cubicBezTo>
                  <a:lnTo>
                    <a:pt x="75244" y="89845"/>
                  </a:lnTo>
                  <a:lnTo>
                    <a:pt x="76214" y="90702"/>
                  </a:lnTo>
                  <a:cubicBezTo>
                    <a:pt x="79936" y="93590"/>
                    <a:pt x="85142" y="93590"/>
                    <a:pt x="88865" y="90702"/>
                  </a:cubicBezTo>
                  <a:lnTo>
                    <a:pt x="89835" y="89845"/>
                  </a:lnTo>
                  <a:lnTo>
                    <a:pt x="92858" y="86822"/>
                  </a:lnTo>
                  <a:lnTo>
                    <a:pt x="92858" y="144462"/>
                  </a:lnTo>
                  <a:lnTo>
                    <a:pt x="92930" y="145669"/>
                  </a:lnTo>
                  <a:cubicBezTo>
                    <a:pt x="93548" y="150860"/>
                    <a:pt x="97949" y="154769"/>
                    <a:pt x="103177" y="154769"/>
                  </a:cubicBezTo>
                  <a:cubicBezTo>
                    <a:pt x="108404" y="154769"/>
                    <a:pt x="112806" y="150860"/>
                    <a:pt x="113423" y="145669"/>
                  </a:cubicBezTo>
                  <a:lnTo>
                    <a:pt x="113496" y="144462"/>
                  </a:lnTo>
                  <a:lnTo>
                    <a:pt x="113496" y="61912"/>
                  </a:lnTo>
                  <a:lnTo>
                    <a:pt x="113434" y="60736"/>
                  </a:lnTo>
                  <a:close/>
                </a:path>
              </a:pathLst>
            </a:custGeom>
            <a:solidFill>
              <a:schemeClr val="accent1"/>
            </a:solidFill>
            <a:ln>
              <a:noFill/>
            </a:ln>
          </p:spPr>
        </p:sp>
        <p:sp>
          <p:nvSpPr>
            <p:cNvPr id="13" name="TextBox 13"/>
            <p:cNvSpPr txBox="1"/>
            <p:nvPr/>
          </p:nvSpPr>
          <p:spPr>
            <a:xfrm>
              <a:off x="924306" y="184404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编辑题目</a:t>
              </a:r>
            </a:p>
          </p:txBody>
        </p:sp>
        <p:sp>
          <p:nvSpPr>
            <p:cNvPr id="14" name="Rectangle 14"/>
            <p:cNvSpPr/>
            <p:nvPr/>
          </p:nvSpPr>
          <p:spPr>
            <a:xfrm>
              <a:off x="609600" y="2190750"/>
              <a:ext cx="3448050" cy="2190750"/>
            </a:xfrm>
            <a:prstGeom prst="roundRect">
              <a:avLst>
                <a:gd name="adj" fmla="val 7826"/>
              </a:avLst>
            </a:prstGeom>
            <a:solidFill>
              <a:schemeClr val="lt2"/>
            </a:solidFill>
            <a:ln w="9525">
              <a:solidFill>
                <a:schemeClr val="accent6"/>
              </a:solidFill>
            </a:ln>
          </p:spPr>
        </p:sp>
        <p:pic>
          <p:nvPicPr>
            <p:cNvPr id="15" name="Image 15"/>
            <p:cNvPicPr>
              <a:picLocks noChangeAspect="1"/>
            </p:cNvPicPr>
            <p:nvPr/>
          </p:nvPicPr>
          <p:blipFill>
            <a:blip r:embed="rId2"/>
            <a:stretch>
              <a:fillRect/>
            </a:stretch>
          </p:blipFill>
          <p:spPr>
            <a:xfrm>
              <a:off x="609600" y="2208609"/>
              <a:ext cx="3448050" cy="2155031"/>
            </a:xfrm>
            <a:prstGeom prst="rect">
              <a:avLst/>
            </a:prstGeom>
          </p:spPr>
        </p:pic>
        <p:sp>
          <p:nvSpPr>
            <p:cNvPr id="16" name="TextBox 16"/>
            <p:cNvSpPr txBox="1"/>
            <p:nvPr/>
          </p:nvSpPr>
          <p:spPr>
            <a:xfrm>
              <a:off x="602742" y="4502468"/>
              <a:ext cx="189966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勾中哪个就是标准答案，</a:t>
              </a:r>
              <a:br/>
              <a:r>
                <a:rPr lang="zh-CN" sz="1350" dirty="0">
                  <a:solidFill>
                    <a:schemeClr val="dk1"/>
                  </a:solidFill>
                  <a:latin typeface="+mn-lt"/>
                  <a:ea typeface="+mn-ea"/>
                  <a:cs typeface="+mn-cs"/>
                </a:rPr>
                <a:t>无需另填答案字段</a:t>
              </a:r>
            </a:p>
          </p:txBody>
        </p:sp>
      </p:grpSp>
      <p:grpSp>
        <p:nvGrpSpPr>
          <p:cNvPr id="23" name="Group 23"/>
          <p:cNvGrpSpPr/>
          <p:nvPr/>
        </p:nvGrpSpPr>
        <p:grpSpPr>
          <a:xfrm>
            <a:off x="4355592" y="1844040"/>
            <a:ext cx="3454908" cy="3151061"/>
            <a:chOff x="4355592" y="1844040"/>
            <a:chExt cx="3454908" cy="3151061"/>
          </a:xfrm>
        </p:grpSpPr>
        <p:sp>
          <p:nvSpPr>
            <p:cNvPr id="18" name="Freeform 18"/>
            <p:cNvSpPr/>
            <p:nvPr/>
          </p:nvSpPr>
          <p:spPr>
            <a:xfrm>
              <a:off x="4383098" y="1868487"/>
              <a:ext cx="206364" cy="206374"/>
            </a:xfrm>
            <a:custGeom>
              <a:avLst/>
              <a:gdLst/>
              <a:ahLst/>
              <a:cxnLst/>
              <a:rect l="l" t="t" r="r" b="b"/>
              <a:pathLst>
                <a:path w="206364" h="206374">
                  <a:moveTo>
                    <a:pt x="103177" y="0"/>
                  </a:moveTo>
                  <a:lnTo>
                    <a:pt x="109801" y="52"/>
                  </a:lnTo>
                  <a:lnTo>
                    <a:pt x="116158" y="227"/>
                  </a:lnTo>
                  <a:lnTo>
                    <a:pt x="119243" y="361"/>
                  </a:lnTo>
                  <a:lnTo>
                    <a:pt x="125218" y="712"/>
                  </a:lnTo>
                  <a:lnTo>
                    <a:pt x="130924" y="1187"/>
                  </a:lnTo>
                  <a:cubicBezTo>
                    <a:pt x="179288" y="5882"/>
                    <a:pt x="199543" y="25260"/>
                    <a:pt x="204868" y="72448"/>
                  </a:cubicBezTo>
                  <a:lnTo>
                    <a:pt x="205177" y="75440"/>
                  </a:lnTo>
                  <a:lnTo>
                    <a:pt x="205652" y="81146"/>
                  </a:lnTo>
                  <a:lnTo>
                    <a:pt x="206075" y="88648"/>
                  </a:lnTo>
                  <a:lnTo>
                    <a:pt x="206137" y="90196"/>
                  </a:lnTo>
                  <a:lnTo>
                    <a:pt x="206312" y="96563"/>
                  </a:lnTo>
                  <a:lnTo>
                    <a:pt x="206364" y="103187"/>
                  </a:lnTo>
                  <a:lnTo>
                    <a:pt x="206312" y="109812"/>
                  </a:lnTo>
                  <a:lnTo>
                    <a:pt x="206137" y="116168"/>
                  </a:lnTo>
                  <a:lnTo>
                    <a:pt x="206003" y="119253"/>
                  </a:lnTo>
                  <a:lnTo>
                    <a:pt x="205652" y="125228"/>
                  </a:lnTo>
                  <a:lnTo>
                    <a:pt x="205177" y="130934"/>
                  </a:lnTo>
                  <a:cubicBezTo>
                    <a:pt x="200482" y="179298"/>
                    <a:pt x="181104" y="199554"/>
                    <a:pt x="133916" y="204878"/>
                  </a:cubicBezTo>
                  <a:lnTo>
                    <a:pt x="130924" y="205188"/>
                  </a:lnTo>
                  <a:lnTo>
                    <a:pt x="125218" y="205662"/>
                  </a:lnTo>
                  <a:lnTo>
                    <a:pt x="117716" y="206085"/>
                  </a:lnTo>
                  <a:lnTo>
                    <a:pt x="116168" y="206147"/>
                  </a:lnTo>
                  <a:lnTo>
                    <a:pt x="109801" y="206323"/>
                  </a:lnTo>
                  <a:lnTo>
                    <a:pt x="103177" y="206374"/>
                  </a:lnTo>
                  <a:lnTo>
                    <a:pt x="96552" y="206323"/>
                  </a:lnTo>
                  <a:lnTo>
                    <a:pt x="90196" y="206147"/>
                  </a:lnTo>
                  <a:lnTo>
                    <a:pt x="87111" y="206013"/>
                  </a:lnTo>
                  <a:lnTo>
                    <a:pt x="81136" y="205662"/>
                  </a:lnTo>
                  <a:lnTo>
                    <a:pt x="75430" y="205188"/>
                  </a:lnTo>
                  <a:cubicBezTo>
                    <a:pt x="27066" y="200493"/>
                    <a:pt x="6810" y="181114"/>
                    <a:pt x="1486" y="133927"/>
                  </a:cubicBezTo>
                  <a:lnTo>
                    <a:pt x="1176" y="130934"/>
                  </a:lnTo>
                  <a:lnTo>
                    <a:pt x="702" y="125228"/>
                  </a:lnTo>
                  <a:lnTo>
                    <a:pt x="279" y="117726"/>
                  </a:lnTo>
                  <a:lnTo>
                    <a:pt x="217" y="116178"/>
                  </a:lnTo>
                  <a:lnTo>
                    <a:pt x="41" y="109812"/>
                  </a:lnTo>
                  <a:lnTo>
                    <a:pt x="0" y="106530"/>
                  </a:lnTo>
                  <a:lnTo>
                    <a:pt x="0" y="99844"/>
                  </a:lnTo>
                  <a:lnTo>
                    <a:pt x="41" y="96563"/>
                  </a:lnTo>
                  <a:lnTo>
                    <a:pt x="217" y="90206"/>
                  </a:lnTo>
                  <a:lnTo>
                    <a:pt x="351" y="87121"/>
                  </a:lnTo>
                  <a:lnTo>
                    <a:pt x="702" y="81146"/>
                  </a:lnTo>
                  <a:lnTo>
                    <a:pt x="1176" y="75440"/>
                  </a:lnTo>
                  <a:cubicBezTo>
                    <a:pt x="5871" y="27076"/>
                    <a:pt x="25250" y="6821"/>
                    <a:pt x="72437" y="1496"/>
                  </a:cubicBezTo>
                  <a:lnTo>
                    <a:pt x="75430" y="1187"/>
                  </a:lnTo>
                  <a:lnTo>
                    <a:pt x="81136" y="712"/>
                  </a:lnTo>
                  <a:lnTo>
                    <a:pt x="88638" y="289"/>
                  </a:lnTo>
                  <a:lnTo>
                    <a:pt x="90186" y="227"/>
                  </a:lnTo>
                  <a:lnTo>
                    <a:pt x="96552" y="52"/>
                  </a:lnTo>
                  <a:cubicBezTo>
                    <a:pt x="98719" y="21"/>
                    <a:pt x="100927" y="0"/>
                    <a:pt x="103177" y="0"/>
                  </a:cubicBezTo>
                  <a:close/>
                  <a:moveTo>
                    <a:pt x="113496" y="51594"/>
                  </a:moveTo>
                  <a:lnTo>
                    <a:pt x="82539" y="51594"/>
                  </a:lnTo>
                  <a:lnTo>
                    <a:pt x="81332" y="51666"/>
                  </a:lnTo>
                  <a:cubicBezTo>
                    <a:pt x="76141" y="52283"/>
                    <a:pt x="72232" y="56685"/>
                    <a:pt x="72232" y="61912"/>
                  </a:cubicBezTo>
                  <a:cubicBezTo>
                    <a:pt x="72232" y="67140"/>
                    <a:pt x="76141" y="71541"/>
                    <a:pt x="81332" y="72159"/>
                  </a:cubicBezTo>
                  <a:lnTo>
                    <a:pt x="82539" y="72231"/>
                  </a:lnTo>
                  <a:lnTo>
                    <a:pt x="113496" y="72231"/>
                  </a:lnTo>
                  <a:lnTo>
                    <a:pt x="113496" y="92868"/>
                  </a:lnTo>
                  <a:lnTo>
                    <a:pt x="92858" y="92868"/>
                  </a:lnTo>
                  <a:lnTo>
                    <a:pt x="91310" y="92920"/>
                  </a:lnTo>
                  <a:cubicBezTo>
                    <a:pt x="81158" y="93683"/>
                    <a:pt x="73079" y="101736"/>
                    <a:pt x="72283" y="111886"/>
                  </a:cubicBezTo>
                  <a:lnTo>
                    <a:pt x="72221" y="113506"/>
                  </a:lnTo>
                  <a:lnTo>
                    <a:pt x="72221" y="134143"/>
                  </a:lnTo>
                  <a:lnTo>
                    <a:pt x="72272" y="135691"/>
                  </a:lnTo>
                  <a:cubicBezTo>
                    <a:pt x="73035" y="145844"/>
                    <a:pt x="81088" y="153923"/>
                    <a:pt x="91238" y="154719"/>
                  </a:cubicBezTo>
                  <a:lnTo>
                    <a:pt x="92858" y="154781"/>
                  </a:lnTo>
                  <a:lnTo>
                    <a:pt x="123814" y="154781"/>
                  </a:lnTo>
                  <a:lnTo>
                    <a:pt x="125022" y="154709"/>
                  </a:lnTo>
                  <a:cubicBezTo>
                    <a:pt x="130212" y="154091"/>
                    <a:pt x="134122" y="149689"/>
                    <a:pt x="134122" y="144462"/>
                  </a:cubicBezTo>
                  <a:cubicBezTo>
                    <a:pt x="134122" y="139235"/>
                    <a:pt x="130212" y="134833"/>
                    <a:pt x="125022" y="134216"/>
                  </a:cubicBezTo>
                  <a:lnTo>
                    <a:pt x="123814" y="134143"/>
                  </a:lnTo>
                  <a:lnTo>
                    <a:pt x="92858" y="134143"/>
                  </a:lnTo>
                  <a:lnTo>
                    <a:pt x="92858" y="113506"/>
                  </a:lnTo>
                  <a:lnTo>
                    <a:pt x="113496" y="113506"/>
                  </a:lnTo>
                  <a:lnTo>
                    <a:pt x="115043" y="113454"/>
                  </a:lnTo>
                  <a:cubicBezTo>
                    <a:pt x="125196" y="112691"/>
                    <a:pt x="133275" y="104638"/>
                    <a:pt x="134071" y="94489"/>
                  </a:cubicBezTo>
                  <a:lnTo>
                    <a:pt x="134133" y="92868"/>
                  </a:lnTo>
                  <a:lnTo>
                    <a:pt x="134133" y="72231"/>
                  </a:lnTo>
                  <a:lnTo>
                    <a:pt x="134081" y="70683"/>
                  </a:lnTo>
                  <a:cubicBezTo>
                    <a:pt x="133318" y="60531"/>
                    <a:pt x="125266" y="52452"/>
                    <a:pt x="115116" y="51656"/>
                  </a:cubicBezTo>
                  <a:lnTo>
                    <a:pt x="113496" y="51594"/>
                  </a:lnTo>
                  <a:close/>
                </a:path>
              </a:pathLst>
            </a:custGeom>
            <a:solidFill>
              <a:schemeClr val="accent1"/>
            </a:solidFill>
            <a:ln>
              <a:noFill/>
            </a:ln>
          </p:spPr>
        </p:sp>
        <p:sp>
          <p:nvSpPr>
            <p:cNvPr id="19" name="TextBox 19"/>
            <p:cNvSpPr txBox="1"/>
            <p:nvPr/>
          </p:nvSpPr>
          <p:spPr>
            <a:xfrm>
              <a:off x="4677156" y="184404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手动组卷</a:t>
              </a:r>
            </a:p>
          </p:txBody>
        </p:sp>
        <p:sp>
          <p:nvSpPr>
            <p:cNvPr id="20" name="Rectangle 20"/>
            <p:cNvSpPr/>
            <p:nvPr/>
          </p:nvSpPr>
          <p:spPr>
            <a:xfrm>
              <a:off x="4362450" y="2190750"/>
              <a:ext cx="3448050" cy="2190750"/>
            </a:xfrm>
            <a:prstGeom prst="roundRect">
              <a:avLst>
                <a:gd name="adj" fmla="val 7826"/>
              </a:avLst>
            </a:prstGeom>
            <a:solidFill>
              <a:schemeClr val="lt2"/>
            </a:solidFill>
            <a:ln w="9525">
              <a:solidFill>
                <a:schemeClr val="accent6"/>
              </a:solidFill>
            </a:ln>
          </p:spPr>
        </p:sp>
        <p:pic>
          <p:nvPicPr>
            <p:cNvPr id="21" name="Image 21"/>
            <p:cNvPicPr>
              <a:picLocks noChangeAspect="1"/>
            </p:cNvPicPr>
            <p:nvPr/>
          </p:nvPicPr>
          <p:blipFill>
            <a:blip r:embed="rId3"/>
            <a:stretch>
              <a:fillRect/>
            </a:stretch>
          </p:blipFill>
          <p:spPr>
            <a:xfrm>
              <a:off x="4521654" y="2190750"/>
              <a:ext cx="3129643" cy="2190750"/>
            </a:xfrm>
            <a:prstGeom prst="rect">
              <a:avLst/>
            </a:prstGeom>
          </p:spPr>
        </p:pic>
        <p:sp>
          <p:nvSpPr>
            <p:cNvPr id="22" name="TextBox 22"/>
            <p:cNvSpPr txBox="1"/>
            <p:nvPr/>
          </p:nvSpPr>
          <p:spPr>
            <a:xfrm>
              <a:off x="4355592" y="4502468"/>
              <a:ext cx="231114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总分由各题分值实时汇总为 40</a:t>
              </a:r>
              <a:br/>
              <a:r>
                <a:rPr lang="zh-CN" sz="1350" dirty="0">
                  <a:solidFill>
                    <a:schemeClr val="dk1"/>
                  </a:solidFill>
                  <a:latin typeface="+mn-lt"/>
                  <a:ea typeface="+mn-ea"/>
                  <a:cs typeface="+mn-cs"/>
                </a:rPr>
                <a:t>不允许单独填一个不一致的值</a:t>
              </a:r>
            </a:p>
          </p:txBody>
        </p:sp>
      </p:grpSp>
      <p:grpSp>
        <p:nvGrpSpPr>
          <p:cNvPr id="29" name="Group 29"/>
          <p:cNvGrpSpPr/>
          <p:nvPr/>
        </p:nvGrpSpPr>
        <p:grpSpPr>
          <a:xfrm>
            <a:off x="8108442" y="1844040"/>
            <a:ext cx="3454908" cy="3151061"/>
            <a:chOff x="8108442" y="1844040"/>
            <a:chExt cx="3454908" cy="3151061"/>
          </a:xfrm>
        </p:grpSpPr>
        <p:sp>
          <p:nvSpPr>
            <p:cNvPr id="24" name="Freeform 24"/>
            <p:cNvSpPr/>
            <p:nvPr/>
          </p:nvSpPr>
          <p:spPr>
            <a:xfrm>
              <a:off x="8135948" y="1868487"/>
              <a:ext cx="206364" cy="206374"/>
            </a:xfrm>
            <a:custGeom>
              <a:avLst/>
              <a:gdLst/>
              <a:ahLst/>
              <a:cxnLst/>
              <a:rect l="l" t="t" r="r" b="b"/>
              <a:pathLst>
                <a:path w="206364" h="206374">
                  <a:moveTo>
                    <a:pt x="103177" y="0"/>
                  </a:moveTo>
                  <a:lnTo>
                    <a:pt x="109801" y="52"/>
                  </a:lnTo>
                  <a:lnTo>
                    <a:pt x="116158" y="227"/>
                  </a:lnTo>
                  <a:lnTo>
                    <a:pt x="119243" y="361"/>
                  </a:lnTo>
                  <a:lnTo>
                    <a:pt x="125218" y="712"/>
                  </a:lnTo>
                  <a:lnTo>
                    <a:pt x="130924" y="1187"/>
                  </a:lnTo>
                  <a:cubicBezTo>
                    <a:pt x="179288" y="5882"/>
                    <a:pt x="199543" y="25260"/>
                    <a:pt x="204868" y="72448"/>
                  </a:cubicBezTo>
                  <a:lnTo>
                    <a:pt x="205177" y="75440"/>
                  </a:lnTo>
                  <a:lnTo>
                    <a:pt x="205652" y="81146"/>
                  </a:lnTo>
                  <a:lnTo>
                    <a:pt x="206075" y="88648"/>
                  </a:lnTo>
                  <a:lnTo>
                    <a:pt x="206137" y="90196"/>
                  </a:lnTo>
                  <a:lnTo>
                    <a:pt x="206312" y="96563"/>
                  </a:lnTo>
                  <a:lnTo>
                    <a:pt x="206364" y="103187"/>
                  </a:lnTo>
                  <a:lnTo>
                    <a:pt x="206312" y="109812"/>
                  </a:lnTo>
                  <a:lnTo>
                    <a:pt x="206137" y="116168"/>
                  </a:lnTo>
                  <a:lnTo>
                    <a:pt x="206003" y="119253"/>
                  </a:lnTo>
                  <a:lnTo>
                    <a:pt x="205652" y="125228"/>
                  </a:lnTo>
                  <a:lnTo>
                    <a:pt x="205177" y="130934"/>
                  </a:lnTo>
                  <a:cubicBezTo>
                    <a:pt x="200482" y="179298"/>
                    <a:pt x="181104" y="199554"/>
                    <a:pt x="133916" y="204878"/>
                  </a:cubicBezTo>
                  <a:lnTo>
                    <a:pt x="130924" y="205188"/>
                  </a:lnTo>
                  <a:lnTo>
                    <a:pt x="125218" y="205662"/>
                  </a:lnTo>
                  <a:lnTo>
                    <a:pt x="117716" y="206085"/>
                  </a:lnTo>
                  <a:lnTo>
                    <a:pt x="116168" y="206147"/>
                  </a:lnTo>
                  <a:lnTo>
                    <a:pt x="109801" y="206323"/>
                  </a:lnTo>
                  <a:lnTo>
                    <a:pt x="103177" y="206374"/>
                  </a:lnTo>
                  <a:lnTo>
                    <a:pt x="96552" y="206323"/>
                  </a:lnTo>
                  <a:lnTo>
                    <a:pt x="90196" y="206147"/>
                  </a:lnTo>
                  <a:lnTo>
                    <a:pt x="87111" y="206013"/>
                  </a:lnTo>
                  <a:lnTo>
                    <a:pt x="81136" y="205662"/>
                  </a:lnTo>
                  <a:lnTo>
                    <a:pt x="75430" y="205188"/>
                  </a:lnTo>
                  <a:cubicBezTo>
                    <a:pt x="27066" y="200493"/>
                    <a:pt x="6810" y="181114"/>
                    <a:pt x="1486" y="133927"/>
                  </a:cubicBezTo>
                  <a:lnTo>
                    <a:pt x="1176" y="130934"/>
                  </a:lnTo>
                  <a:lnTo>
                    <a:pt x="702" y="125228"/>
                  </a:lnTo>
                  <a:lnTo>
                    <a:pt x="279" y="117726"/>
                  </a:lnTo>
                  <a:lnTo>
                    <a:pt x="217" y="116178"/>
                  </a:lnTo>
                  <a:lnTo>
                    <a:pt x="41" y="109812"/>
                  </a:lnTo>
                  <a:lnTo>
                    <a:pt x="0" y="106530"/>
                  </a:lnTo>
                  <a:lnTo>
                    <a:pt x="0" y="99844"/>
                  </a:lnTo>
                  <a:lnTo>
                    <a:pt x="41" y="96563"/>
                  </a:lnTo>
                  <a:lnTo>
                    <a:pt x="217" y="90206"/>
                  </a:lnTo>
                  <a:lnTo>
                    <a:pt x="351" y="87121"/>
                  </a:lnTo>
                  <a:lnTo>
                    <a:pt x="702" y="81146"/>
                  </a:lnTo>
                  <a:lnTo>
                    <a:pt x="1176" y="75440"/>
                  </a:lnTo>
                  <a:cubicBezTo>
                    <a:pt x="5871" y="27076"/>
                    <a:pt x="25250" y="6821"/>
                    <a:pt x="72437" y="1496"/>
                  </a:cubicBezTo>
                  <a:lnTo>
                    <a:pt x="75430" y="1187"/>
                  </a:lnTo>
                  <a:lnTo>
                    <a:pt x="81136" y="712"/>
                  </a:lnTo>
                  <a:lnTo>
                    <a:pt x="88638" y="289"/>
                  </a:lnTo>
                  <a:lnTo>
                    <a:pt x="90186" y="227"/>
                  </a:lnTo>
                  <a:lnTo>
                    <a:pt x="96552" y="52"/>
                  </a:lnTo>
                  <a:cubicBezTo>
                    <a:pt x="98719" y="21"/>
                    <a:pt x="100927" y="0"/>
                    <a:pt x="103177" y="0"/>
                  </a:cubicBezTo>
                  <a:close/>
                  <a:moveTo>
                    <a:pt x="113496" y="51594"/>
                  </a:moveTo>
                  <a:lnTo>
                    <a:pt x="92858" y="51594"/>
                  </a:lnTo>
                  <a:lnTo>
                    <a:pt x="91310" y="51645"/>
                  </a:lnTo>
                  <a:cubicBezTo>
                    <a:pt x="80541" y="52455"/>
                    <a:pt x="72217" y="61431"/>
                    <a:pt x="72221" y="72231"/>
                  </a:cubicBezTo>
                  <a:cubicBezTo>
                    <a:pt x="72202" y="77482"/>
                    <a:pt x="76130" y="81909"/>
                    <a:pt x="81345" y="82516"/>
                  </a:cubicBezTo>
                  <a:cubicBezTo>
                    <a:pt x="86560" y="83124"/>
                    <a:pt x="91400" y="79718"/>
                    <a:pt x="92590" y="74604"/>
                  </a:cubicBezTo>
                  <a:lnTo>
                    <a:pt x="92796" y="73438"/>
                  </a:lnTo>
                  <a:lnTo>
                    <a:pt x="92858" y="72231"/>
                  </a:lnTo>
                  <a:lnTo>
                    <a:pt x="113496" y="72231"/>
                  </a:lnTo>
                  <a:lnTo>
                    <a:pt x="113496" y="92868"/>
                  </a:lnTo>
                  <a:lnTo>
                    <a:pt x="92858" y="92868"/>
                  </a:lnTo>
                  <a:lnTo>
                    <a:pt x="91486" y="92941"/>
                  </a:lnTo>
                  <a:cubicBezTo>
                    <a:pt x="80022" y="94179"/>
                    <a:pt x="79578" y="110792"/>
                    <a:pt x="90165" y="113217"/>
                  </a:cubicBezTo>
                  <a:lnTo>
                    <a:pt x="91486" y="113434"/>
                  </a:lnTo>
                  <a:lnTo>
                    <a:pt x="92858" y="113506"/>
                  </a:lnTo>
                  <a:lnTo>
                    <a:pt x="113496" y="113506"/>
                  </a:lnTo>
                  <a:lnTo>
                    <a:pt x="113496" y="134143"/>
                  </a:lnTo>
                  <a:lnTo>
                    <a:pt x="92858" y="134143"/>
                  </a:lnTo>
                  <a:lnTo>
                    <a:pt x="92786" y="132936"/>
                  </a:lnTo>
                  <a:cubicBezTo>
                    <a:pt x="92141" y="127515"/>
                    <a:pt x="87385" y="123534"/>
                    <a:pt x="81935" y="123854"/>
                  </a:cubicBezTo>
                  <a:cubicBezTo>
                    <a:pt x="76485" y="124174"/>
                    <a:pt x="72227" y="128684"/>
                    <a:pt x="72221" y="134143"/>
                  </a:cubicBezTo>
                  <a:cubicBezTo>
                    <a:pt x="72217" y="144943"/>
                    <a:pt x="80541" y="153919"/>
                    <a:pt x="91310" y="154729"/>
                  </a:cubicBezTo>
                  <a:lnTo>
                    <a:pt x="92858" y="154781"/>
                  </a:lnTo>
                  <a:lnTo>
                    <a:pt x="113496" y="154781"/>
                  </a:lnTo>
                  <a:lnTo>
                    <a:pt x="115043" y="154729"/>
                  </a:lnTo>
                  <a:cubicBezTo>
                    <a:pt x="125196" y="153966"/>
                    <a:pt x="133275" y="145913"/>
                    <a:pt x="134071" y="135763"/>
                  </a:cubicBezTo>
                  <a:lnTo>
                    <a:pt x="134133" y="134143"/>
                  </a:lnTo>
                  <a:lnTo>
                    <a:pt x="134133" y="113506"/>
                  </a:lnTo>
                  <a:lnTo>
                    <a:pt x="134081" y="111958"/>
                  </a:lnTo>
                  <a:cubicBezTo>
                    <a:pt x="133901" y="109579"/>
                    <a:pt x="133308" y="107250"/>
                    <a:pt x="132327" y="105076"/>
                  </a:cubicBezTo>
                  <a:lnTo>
                    <a:pt x="131553" y="103507"/>
                  </a:lnTo>
                  <a:lnTo>
                    <a:pt x="131357" y="103177"/>
                  </a:lnTo>
                  <a:lnTo>
                    <a:pt x="131564" y="102867"/>
                  </a:lnTo>
                  <a:cubicBezTo>
                    <a:pt x="132958" y="100337"/>
                    <a:pt x="133809" y="97542"/>
                    <a:pt x="134061" y="94664"/>
                  </a:cubicBezTo>
                  <a:lnTo>
                    <a:pt x="134133" y="92868"/>
                  </a:lnTo>
                  <a:lnTo>
                    <a:pt x="134133" y="72231"/>
                  </a:lnTo>
                  <a:lnTo>
                    <a:pt x="134081" y="70683"/>
                  </a:lnTo>
                  <a:cubicBezTo>
                    <a:pt x="133318" y="60531"/>
                    <a:pt x="125266" y="52452"/>
                    <a:pt x="115116" y="51656"/>
                  </a:cubicBezTo>
                  <a:lnTo>
                    <a:pt x="113496" y="51594"/>
                  </a:lnTo>
                  <a:close/>
                </a:path>
              </a:pathLst>
            </a:custGeom>
            <a:solidFill>
              <a:schemeClr val="accent1"/>
            </a:solidFill>
            <a:ln>
              <a:noFill/>
            </a:ln>
          </p:spPr>
        </p:sp>
        <p:sp>
          <p:nvSpPr>
            <p:cNvPr id="25" name="TextBox 25"/>
            <p:cNvSpPr txBox="1"/>
            <p:nvPr/>
          </p:nvSpPr>
          <p:spPr>
            <a:xfrm>
              <a:off x="8430006" y="184404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创建考试</a:t>
              </a:r>
            </a:p>
          </p:txBody>
        </p:sp>
        <p:sp>
          <p:nvSpPr>
            <p:cNvPr id="26" name="Rectangle 26"/>
            <p:cNvSpPr/>
            <p:nvPr/>
          </p:nvSpPr>
          <p:spPr>
            <a:xfrm>
              <a:off x="8115300" y="2190750"/>
              <a:ext cx="3448050" cy="2190750"/>
            </a:xfrm>
            <a:prstGeom prst="roundRect">
              <a:avLst>
                <a:gd name="adj" fmla="val 7826"/>
              </a:avLst>
            </a:prstGeom>
            <a:solidFill>
              <a:schemeClr val="lt2"/>
            </a:solidFill>
            <a:ln w="9525">
              <a:solidFill>
                <a:schemeClr val="accent6"/>
              </a:solidFill>
            </a:ln>
          </p:spPr>
        </p:sp>
        <p:pic>
          <p:nvPicPr>
            <p:cNvPr id="27" name="Image 27"/>
            <p:cNvPicPr>
              <a:picLocks noChangeAspect="1"/>
            </p:cNvPicPr>
            <p:nvPr/>
          </p:nvPicPr>
          <p:blipFill>
            <a:blip r:embed="rId4"/>
            <a:stretch>
              <a:fillRect/>
            </a:stretch>
          </p:blipFill>
          <p:spPr>
            <a:xfrm>
              <a:off x="8115300" y="2208609"/>
              <a:ext cx="3448050" cy="2155031"/>
            </a:xfrm>
            <a:prstGeom prst="rect">
              <a:avLst/>
            </a:prstGeom>
          </p:spPr>
        </p:pic>
        <p:sp>
          <p:nvSpPr>
            <p:cNvPr id="28" name="TextBox 28"/>
            <p:cNvSpPr txBox="1"/>
            <p:nvPr/>
          </p:nvSpPr>
          <p:spPr>
            <a:xfrm>
              <a:off x="8108442" y="4502468"/>
              <a:ext cx="172821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只有草稿有发布操作，</a:t>
              </a:r>
              <a:br/>
              <a:r>
                <a:rPr lang="zh-CN" sz="1350" dirty="0">
                  <a:solidFill>
                    <a:schemeClr val="dk1"/>
                  </a:solidFill>
                  <a:latin typeface="+mn-lt"/>
                  <a:ea typeface="+mn-ea"/>
                  <a:cs typeface="+mn-cs"/>
                </a:rPr>
                <a:t>已发布不提供撤回</a:t>
              </a:r>
            </a:p>
          </p:txBody>
        </p:sp>
      </p:grpSp>
      <p:grpSp>
        <p:nvGrpSpPr>
          <p:cNvPr id="32" name="Group 32"/>
          <p:cNvGrpSpPr/>
          <p:nvPr/>
        </p:nvGrpSpPr>
        <p:grpSpPr>
          <a:xfrm>
            <a:off x="609600" y="5105400"/>
            <a:ext cx="10972800" cy="501967"/>
            <a:chOff x="609600" y="5105400"/>
            <a:chExt cx="10972800" cy="501967"/>
          </a:xfrm>
        </p:grpSpPr>
        <p:sp>
          <p:nvSpPr>
            <p:cNvPr id="30" name="Rectangle 30"/>
            <p:cNvSpPr/>
            <p:nvPr/>
          </p:nvSpPr>
          <p:spPr>
            <a:xfrm>
              <a:off x="609600" y="5105400"/>
              <a:ext cx="10972800" cy="457200"/>
            </a:xfrm>
            <a:prstGeom prst="roundRect">
              <a:avLst>
                <a:gd name="adj" fmla="val 37500"/>
              </a:avLst>
            </a:prstGeom>
            <a:solidFill>
              <a:srgbClr val="E7EDF4"/>
            </a:solidFill>
            <a:ln>
              <a:noFill/>
            </a:ln>
          </p:spPr>
        </p:sp>
        <p:sp>
          <p:nvSpPr>
            <p:cNvPr id="31" name="TextBox 31"/>
            <p:cNvSpPr txBox="1"/>
            <p:nvPr/>
          </p:nvSpPr>
          <p:spPr>
            <a:xfrm>
              <a:off x="826770" y="5167312"/>
              <a:ext cx="8711946"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三条入题库的入口共用同一套校验：手工、AI 草稿、批量导入</a:t>
              </a:r>
            </a:p>
          </p:txBody>
        </p:sp>
      </p:grpSp>
      <p:grpSp>
        <p:nvGrpSpPr>
          <p:cNvPr id="36" name="Group 36"/>
          <p:cNvGrpSpPr/>
          <p:nvPr/>
        </p:nvGrpSpPr>
        <p:grpSpPr>
          <a:xfrm>
            <a:off x="603885" y="6172200"/>
            <a:ext cx="10984230" cy="308134"/>
            <a:chOff x="603885" y="6172200"/>
            <a:chExt cx="10984230" cy="308134"/>
          </a:xfrm>
        </p:grpSpPr>
        <p:sp>
          <p:nvSpPr>
            <p:cNvPr id="33" name="Line 33"/>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4" name="TextBox 34"/>
            <p:cNvSpPr txBox="1"/>
            <p:nvPr/>
          </p:nvSpPr>
          <p:spPr>
            <a:xfrm>
              <a:off x="603885" y="6260306"/>
              <a:ext cx="6514043"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截图采集：2026-09-04 Chrome 152 · 真实 MySQL · docs/images/screenshots/06 · 11 · 12</a:t>
              </a:r>
            </a:p>
          </p:txBody>
        </p:sp>
        <p:sp>
          <p:nvSpPr>
            <p:cNvPr id="35" name="TextBox 35"/>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13 / 21</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6"/>
            </a:solidFill>
            <a:ln>
              <a:noFill/>
            </a:ln>
          </p:spPr>
        </p:sp>
        <p:sp>
          <p:nvSpPr>
            <p:cNvPr id="3" name="Rectangle 3"/>
            <p:cNvSpPr/>
            <p:nvPr/>
          </p:nvSpPr>
          <p:spPr>
            <a:xfrm>
              <a:off x="914400" y="342900"/>
              <a:ext cx="247650" cy="76200"/>
            </a:xfrm>
            <a:prstGeom prst="roundRect">
              <a:avLst>
                <a:gd name="adj" fmla="val 50000"/>
              </a:avLst>
            </a:prstGeom>
            <a:solidFill>
              <a:schemeClr val="accent6"/>
            </a:solidFill>
            <a:ln>
              <a:noFill/>
            </a:ln>
          </p:spPr>
        </p:sp>
        <p:sp>
          <p:nvSpPr>
            <p:cNvPr id="4" name="Rectangle 4"/>
            <p:cNvSpPr/>
            <p:nvPr/>
          </p:nvSpPr>
          <p:spPr>
            <a:xfrm>
              <a:off x="1219200" y="342900"/>
              <a:ext cx="247650" cy="76200"/>
            </a:xfrm>
            <a:prstGeom prst="roundRect">
              <a:avLst>
                <a:gd name="adj" fmla="val 50000"/>
              </a:avLst>
            </a:prstGeom>
            <a:solidFill>
              <a:schemeClr val="accent2"/>
            </a:solidFill>
            <a:ln>
              <a:noFill/>
            </a:ln>
          </p:spPr>
        </p:sp>
        <p:sp>
          <p:nvSpPr>
            <p:cNvPr id="5" name="Rectangle 5"/>
            <p:cNvSpPr/>
            <p:nvPr/>
          </p:nvSpPr>
          <p:spPr>
            <a:xfrm>
              <a:off x="1524000" y="342900"/>
              <a:ext cx="247650" cy="76200"/>
            </a:xfrm>
            <a:prstGeom prst="roundRect">
              <a:avLst>
                <a:gd name="adj" fmla="val 50000"/>
              </a:avLst>
            </a:prstGeom>
            <a:solidFill>
              <a:schemeClr val="accent6"/>
            </a:solidFill>
            <a:ln>
              <a:noFill/>
            </a:ln>
          </p:spPr>
        </p:sp>
        <p:sp>
          <p:nvSpPr>
            <p:cNvPr id="6" name="Rectangle 6"/>
            <p:cNvSpPr/>
            <p:nvPr/>
          </p:nvSpPr>
          <p:spPr>
            <a:xfrm>
              <a:off x="1828800" y="342900"/>
              <a:ext cx="247650" cy="76200"/>
            </a:xfrm>
            <a:prstGeom prst="roundRect">
              <a:avLst>
                <a:gd name="adj" fmla="val 50000"/>
              </a:avLst>
            </a:prstGeom>
            <a:solidFill>
              <a:schemeClr val="accent6"/>
            </a:solidFill>
            <a:ln>
              <a:noFill/>
            </a:ln>
          </p:spPr>
        </p:sp>
        <p:sp>
          <p:nvSpPr>
            <p:cNvPr id="7" name="Rectangle 7"/>
            <p:cNvSpPr/>
            <p:nvPr/>
          </p:nvSpPr>
          <p:spPr>
            <a:xfrm>
              <a:off x="2133600" y="342900"/>
              <a:ext cx="247650" cy="76200"/>
            </a:xfrm>
            <a:prstGeom prst="roundRect">
              <a:avLst>
                <a:gd name="adj" fmla="val 50000"/>
              </a:avLst>
            </a:prstGeom>
            <a:solidFill>
              <a:schemeClr val="accent6"/>
            </a:solidFill>
            <a:ln>
              <a:noFill/>
            </a:ln>
          </p:spPr>
        </p:sp>
        <p:sp>
          <p:nvSpPr>
            <p:cNvPr id="8" name="TextBox 8"/>
            <p:cNvSpPr txBox="1"/>
            <p:nvPr/>
          </p:nvSpPr>
          <p:spPr>
            <a:xfrm>
              <a:off x="2507742" y="311468"/>
              <a:ext cx="113139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四 · 系统演示</a:t>
              </a:r>
            </a:p>
          </p:txBody>
        </p:sp>
        <p:sp>
          <p:nvSpPr>
            <p:cNvPr id="9" name="TextBox 9"/>
            <p:cNvSpPr txBox="1"/>
            <p:nvPr/>
          </p:nvSpPr>
          <p:spPr>
            <a:xfrm>
              <a:off x="593598" y="726758"/>
              <a:ext cx="690484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系统演示 · 学生：答题、恢复、交卷</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7" name="Group 17"/>
          <p:cNvGrpSpPr/>
          <p:nvPr/>
        </p:nvGrpSpPr>
        <p:grpSpPr>
          <a:xfrm>
            <a:off x="602742" y="1844040"/>
            <a:ext cx="3454908" cy="3151061"/>
            <a:chOff x="602742" y="1844040"/>
            <a:chExt cx="3454908" cy="3151061"/>
          </a:xfrm>
        </p:grpSpPr>
        <p:sp>
          <p:nvSpPr>
            <p:cNvPr id="12" name="Freeform 12"/>
            <p:cNvSpPr/>
            <p:nvPr/>
          </p:nvSpPr>
          <p:spPr>
            <a:xfrm>
              <a:off x="630248" y="1868487"/>
              <a:ext cx="206364" cy="206374"/>
            </a:xfrm>
            <a:custGeom>
              <a:avLst/>
              <a:gdLst/>
              <a:ahLst/>
              <a:cxnLst/>
              <a:rect l="l" t="t" r="r" b="b"/>
              <a:pathLst>
                <a:path w="206364" h="206374">
                  <a:moveTo>
                    <a:pt x="103177" y="0"/>
                  </a:moveTo>
                  <a:lnTo>
                    <a:pt x="109801" y="52"/>
                  </a:lnTo>
                  <a:lnTo>
                    <a:pt x="116158" y="227"/>
                  </a:lnTo>
                  <a:lnTo>
                    <a:pt x="119243" y="361"/>
                  </a:lnTo>
                  <a:lnTo>
                    <a:pt x="125218" y="712"/>
                  </a:lnTo>
                  <a:lnTo>
                    <a:pt x="130924" y="1187"/>
                  </a:lnTo>
                  <a:cubicBezTo>
                    <a:pt x="179288" y="5882"/>
                    <a:pt x="199543" y="25260"/>
                    <a:pt x="204868" y="72448"/>
                  </a:cubicBezTo>
                  <a:lnTo>
                    <a:pt x="205177" y="75440"/>
                  </a:lnTo>
                  <a:lnTo>
                    <a:pt x="205652" y="81146"/>
                  </a:lnTo>
                  <a:lnTo>
                    <a:pt x="206075" y="88648"/>
                  </a:lnTo>
                  <a:lnTo>
                    <a:pt x="206137" y="90196"/>
                  </a:lnTo>
                  <a:lnTo>
                    <a:pt x="206312" y="96563"/>
                  </a:lnTo>
                  <a:lnTo>
                    <a:pt x="206364" y="103187"/>
                  </a:lnTo>
                  <a:lnTo>
                    <a:pt x="206312" y="109812"/>
                  </a:lnTo>
                  <a:lnTo>
                    <a:pt x="206137" y="116168"/>
                  </a:lnTo>
                  <a:lnTo>
                    <a:pt x="206003" y="119253"/>
                  </a:lnTo>
                  <a:lnTo>
                    <a:pt x="205652" y="125228"/>
                  </a:lnTo>
                  <a:lnTo>
                    <a:pt x="205177" y="130934"/>
                  </a:lnTo>
                  <a:cubicBezTo>
                    <a:pt x="200482" y="179298"/>
                    <a:pt x="181104" y="199554"/>
                    <a:pt x="133916" y="204878"/>
                  </a:cubicBezTo>
                  <a:lnTo>
                    <a:pt x="130924" y="205188"/>
                  </a:lnTo>
                  <a:lnTo>
                    <a:pt x="125218" y="205662"/>
                  </a:lnTo>
                  <a:lnTo>
                    <a:pt x="117716" y="206085"/>
                  </a:lnTo>
                  <a:lnTo>
                    <a:pt x="116168" y="206147"/>
                  </a:lnTo>
                  <a:lnTo>
                    <a:pt x="109801" y="206323"/>
                  </a:lnTo>
                  <a:lnTo>
                    <a:pt x="103177" y="206374"/>
                  </a:lnTo>
                  <a:lnTo>
                    <a:pt x="96552" y="206323"/>
                  </a:lnTo>
                  <a:lnTo>
                    <a:pt x="90196" y="206147"/>
                  </a:lnTo>
                  <a:lnTo>
                    <a:pt x="87111" y="206013"/>
                  </a:lnTo>
                  <a:lnTo>
                    <a:pt x="81136" y="205662"/>
                  </a:lnTo>
                  <a:lnTo>
                    <a:pt x="75430" y="205188"/>
                  </a:lnTo>
                  <a:cubicBezTo>
                    <a:pt x="27066" y="200493"/>
                    <a:pt x="6810" y="181114"/>
                    <a:pt x="1486" y="133927"/>
                  </a:cubicBezTo>
                  <a:lnTo>
                    <a:pt x="1176" y="130934"/>
                  </a:lnTo>
                  <a:lnTo>
                    <a:pt x="702" y="125228"/>
                  </a:lnTo>
                  <a:lnTo>
                    <a:pt x="279" y="117726"/>
                  </a:lnTo>
                  <a:lnTo>
                    <a:pt x="217" y="116178"/>
                  </a:lnTo>
                  <a:lnTo>
                    <a:pt x="41" y="109812"/>
                  </a:lnTo>
                  <a:lnTo>
                    <a:pt x="0" y="106530"/>
                  </a:lnTo>
                  <a:lnTo>
                    <a:pt x="0" y="99844"/>
                  </a:lnTo>
                  <a:lnTo>
                    <a:pt x="41" y="96563"/>
                  </a:lnTo>
                  <a:lnTo>
                    <a:pt x="217" y="90206"/>
                  </a:lnTo>
                  <a:lnTo>
                    <a:pt x="351" y="87121"/>
                  </a:lnTo>
                  <a:lnTo>
                    <a:pt x="702" y="81146"/>
                  </a:lnTo>
                  <a:lnTo>
                    <a:pt x="1176" y="75440"/>
                  </a:lnTo>
                  <a:cubicBezTo>
                    <a:pt x="5871" y="27076"/>
                    <a:pt x="25250" y="6821"/>
                    <a:pt x="72437" y="1496"/>
                  </a:cubicBezTo>
                  <a:lnTo>
                    <a:pt x="75430" y="1187"/>
                  </a:lnTo>
                  <a:lnTo>
                    <a:pt x="81136" y="712"/>
                  </a:lnTo>
                  <a:lnTo>
                    <a:pt x="88638" y="289"/>
                  </a:lnTo>
                  <a:lnTo>
                    <a:pt x="90186" y="227"/>
                  </a:lnTo>
                  <a:lnTo>
                    <a:pt x="96552" y="52"/>
                  </a:lnTo>
                  <a:cubicBezTo>
                    <a:pt x="98719" y="21"/>
                    <a:pt x="100927" y="0"/>
                    <a:pt x="103177" y="0"/>
                  </a:cubicBezTo>
                  <a:close/>
                  <a:moveTo>
                    <a:pt x="113434" y="60736"/>
                  </a:moveTo>
                  <a:cubicBezTo>
                    <a:pt x="112577" y="52718"/>
                    <a:pt x="103032" y="48766"/>
                    <a:pt x="96748" y="53822"/>
                  </a:cubicBezTo>
                  <a:lnTo>
                    <a:pt x="95882" y="54617"/>
                  </a:lnTo>
                  <a:lnTo>
                    <a:pt x="75244" y="75254"/>
                  </a:lnTo>
                  <a:lnTo>
                    <a:pt x="74388" y="76224"/>
                  </a:lnTo>
                  <a:cubicBezTo>
                    <a:pt x="71500" y="79947"/>
                    <a:pt x="71500" y="85153"/>
                    <a:pt x="74388" y="88875"/>
                  </a:cubicBezTo>
                  <a:lnTo>
                    <a:pt x="75244" y="89845"/>
                  </a:lnTo>
                  <a:lnTo>
                    <a:pt x="76214" y="90702"/>
                  </a:lnTo>
                  <a:cubicBezTo>
                    <a:pt x="79936" y="93590"/>
                    <a:pt x="85142" y="93590"/>
                    <a:pt x="88865" y="90702"/>
                  </a:cubicBezTo>
                  <a:lnTo>
                    <a:pt x="89835" y="89845"/>
                  </a:lnTo>
                  <a:lnTo>
                    <a:pt x="92858" y="86822"/>
                  </a:lnTo>
                  <a:lnTo>
                    <a:pt x="92858" y="144462"/>
                  </a:lnTo>
                  <a:lnTo>
                    <a:pt x="92930" y="145669"/>
                  </a:lnTo>
                  <a:cubicBezTo>
                    <a:pt x="93548" y="150860"/>
                    <a:pt x="97949" y="154769"/>
                    <a:pt x="103177" y="154769"/>
                  </a:cubicBezTo>
                  <a:cubicBezTo>
                    <a:pt x="108404" y="154769"/>
                    <a:pt x="112806" y="150860"/>
                    <a:pt x="113423" y="145669"/>
                  </a:cubicBezTo>
                  <a:lnTo>
                    <a:pt x="113496" y="144462"/>
                  </a:lnTo>
                  <a:lnTo>
                    <a:pt x="113496" y="61912"/>
                  </a:lnTo>
                  <a:lnTo>
                    <a:pt x="113434" y="60736"/>
                  </a:lnTo>
                  <a:close/>
                </a:path>
              </a:pathLst>
            </a:custGeom>
            <a:solidFill>
              <a:schemeClr val="accent1"/>
            </a:solidFill>
            <a:ln>
              <a:noFill/>
            </a:ln>
          </p:spPr>
        </p:sp>
        <p:sp>
          <p:nvSpPr>
            <p:cNvPr id="13" name="TextBox 13"/>
            <p:cNvSpPr txBox="1"/>
            <p:nvPr/>
          </p:nvSpPr>
          <p:spPr>
            <a:xfrm>
              <a:off x="924306" y="184404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单题作答</a:t>
              </a:r>
            </a:p>
          </p:txBody>
        </p:sp>
        <p:sp>
          <p:nvSpPr>
            <p:cNvPr id="14" name="Rectangle 14"/>
            <p:cNvSpPr/>
            <p:nvPr/>
          </p:nvSpPr>
          <p:spPr>
            <a:xfrm>
              <a:off x="609600" y="2190750"/>
              <a:ext cx="3448050" cy="2190750"/>
            </a:xfrm>
            <a:prstGeom prst="roundRect">
              <a:avLst>
                <a:gd name="adj" fmla="val 7826"/>
              </a:avLst>
            </a:prstGeom>
            <a:solidFill>
              <a:schemeClr val="lt2"/>
            </a:solidFill>
            <a:ln w="9525">
              <a:solidFill>
                <a:schemeClr val="accent6"/>
              </a:solidFill>
            </a:ln>
          </p:spPr>
        </p:sp>
        <p:pic>
          <p:nvPicPr>
            <p:cNvPr id="15" name="Image 15"/>
            <p:cNvPicPr>
              <a:picLocks noChangeAspect="1"/>
            </p:cNvPicPr>
            <p:nvPr/>
          </p:nvPicPr>
          <p:blipFill>
            <a:blip r:embed="rId2"/>
            <a:stretch>
              <a:fillRect/>
            </a:stretch>
          </p:blipFill>
          <p:spPr>
            <a:xfrm>
              <a:off x="609600" y="2306832"/>
              <a:ext cx="3448050" cy="1958586"/>
            </a:xfrm>
            <a:prstGeom prst="rect">
              <a:avLst/>
            </a:prstGeom>
          </p:spPr>
        </p:pic>
        <p:sp>
          <p:nvSpPr>
            <p:cNvPr id="16" name="TextBox 16"/>
            <p:cNvSpPr txBox="1"/>
            <p:nvPr/>
          </p:nvSpPr>
          <p:spPr>
            <a:xfrm>
              <a:off x="602742" y="4502468"/>
              <a:ext cx="2465451"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单题作答 + 题号导航 + 剩余时间</a:t>
              </a:r>
              <a:br/>
              <a:r>
                <a:rPr lang="zh-CN" sz="1350" dirty="0">
                  <a:solidFill>
                    <a:schemeClr val="dk1"/>
                  </a:solidFill>
                  <a:latin typeface="+mn-lt"/>
                  <a:ea typeface="+mn-ea"/>
                  <a:cs typeface="+mn-cs"/>
                </a:rPr>
                <a:t>题号按未答/已答/当前三态着色</a:t>
              </a:r>
            </a:p>
          </p:txBody>
        </p:sp>
      </p:grpSp>
      <p:grpSp>
        <p:nvGrpSpPr>
          <p:cNvPr id="23" name="Group 23"/>
          <p:cNvGrpSpPr/>
          <p:nvPr/>
        </p:nvGrpSpPr>
        <p:grpSpPr>
          <a:xfrm>
            <a:off x="4355592" y="1844040"/>
            <a:ext cx="3454908" cy="3151061"/>
            <a:chOff x="4355592" y="1844040"/>
            <a:chExt cx="3454908" cy="3151061"/>
          </a:xfrm>
        </p:grpSpPr>
        <p:sp>
          <p:nvSpPr>
            <p:cNvPr id="18" name="Freeform 18"/>
            <p:cNvSpPr/>
            <p:nvPr/>
          </p:nvSpPr>
          <p:spPr>
            <a:xfrm>
              <a:off x="4383098" y="1868487"/>
              <a:ext cx="206364" cy="206374"/>
            </a:xfrm>
            <a:custGeom>
              <a:avLst/>
              <a:gdLst/>
              <a:ahLst/>
              <a:cxnLst/>
              <a:rect l="l" t="t" r="r" b="b"/>
              <a:pathLst>
                <a:path w="206364" h="206374">
                  <a:moveTo>
                    <a:pt x="103177" y="0"/>
                  </a:moveTo>
                  <a:lnTo>
                    <a:pt x="109801" y="52"/>
                  </a:lnTo>
                  <a:lnTo>
                    <a:pt x="116158" y="227"/>
                  </a:lnTo>
                  <a:lnTo>
                    <a:pt x="119243" y="361"/>
                  </a:lnTo>
                  <a:lnTo>
                    <a:pt x="125218" y="712"/>
                  </a:lnTo>
                  <a:lnTo>
                    <a:pt x="130924" y="1187"/>
                  </a:lnTo>
                  <a:cubicBezTo>
                    <a:pt x="179288" y="5882"/>
                    <a:pt x="199543" y="25260"/>
                    <a:pt x="204868" y="72448"/>
                  </a:cubicBezTo>
                  <a:lnTo>
                    <a:pt x="205177" y="75440"/>
                  </a:lnTo>
                  <a:lnTo>
                    <a:pt x="205652" y="81146"/>
                  </a:lnTo>
                  <a:lnTo>
                    <a:pt x="206075" y="88648"/>
                  </a:lnTo>
                  <a:lnTo>
                    <a:pt x="206137" y="90196"/>
                  </a:lnTo>
                  <a:lnTo>
                    <a:pt x="206312" y="96563"/>
                  </a:lnTo>
                  <a:lnTo>
                    <a:pt x="206364" y="103187"/>
                  </a:lnTo>
                  <a:lnTo>
                    <a:pt x="206312" y="109812"/>
                  </a:lnTo>
                  <a:lnTo>
                    <a:pt x="206137" y="116168"/>
                  </a:lnTo>
                  <a:lnTo>
                    <a:pt x="206003" y="119253"/>
                  </a:lnTo>
                  <a:lnTo>
                    <a:pt x="205652" y="125228"/>
                  </a:lnTo>
                  <a:lnTo>
                    <a:pt x="205177" y="130934"/>
                  </a:lnTo>
                  <a:cubicBezTo>
                    <a:pt x="200482" y="179298"/>
                    <a:pt x="181104" y="199554"/>
                    <a:pt x="133916" y="204878"/>
                  </a:cubicBezTo>
                  <a:lnTo>
                    <a:pt x="130924" y="205188"/>
                  </a:lnTo>
                  <a:lnTo>
                    <a:pt x="125218" y="205662"/>
                  </a:lnTo>
                  <a:lnTo>
                    <a:pt x="117716" y="206085"/>
                  </a:lnTo>
                  <a:lnTo>
                    <a:pt x="116168" y="206147"/>
                  </a:lnTo>
                  <a:lnTo>
                    <a:pt x="109801" y="206323"/>
                  </a:lnTo>
                  <a:lnTo>
                    <a:pt x="103177" y="206374"/>
                  </a:lnTo>
                  <a:lnTo>
                    <a:pt x="96552" y="206323"/>
                  </a:lnTo>
                  <a:lnTo>
                    <a:pt x="90196" y="206147"/>
                  </a:lnTo>
                  <a:lnTo>
                    <a:pt x="87111" y="206013"/>
                  </a:lnTo>
                  <a:lnTo>
                    <a:pt x="81136" y="205662"/>
                  </a:lnTo>
                  <a:lnTo>
                    <a:pt x="75430" y="205188"/>
                  </a:lnTo>
                  <a:cubicBezTo>
                    <a:pt x="27066" y="200493"/>
                    <a:pt x="6810" y="181114"/>
                    <a:pt x="1486" y="133927"/>
                  </a:cubicBezTo>
                  <a:lnTo>
                    <a:pt x="1176" y="130934"/>
                  </a:lnTo>
                  <a:lnTo>
                    <a:pt x="702" y="125228"/>
                  </a:lnTo>
                  <a:lnTo>
                    <a:pt x="279" y="117726"/>
                  </a:lnTo>
                  <a:lnTo>
                    <a:pt x="217" y="116178"/>
                  </a:lnTo>
                  <a:lnTo>
                    <a:pt x="41" y="109812"/>
                  </a:lnTo>
                  <a:lnTo>
                    <a:pt x="0" y="106530"/>
                  </a:lnTo>
                  <a:lnTo>
                    <a:pt x="0" y="99844"/>
                  </a:lnTo>
                  <a:lnTo>
                    <a:pt x="41" y="96563"/>
                  </a:lnTo>
                  <a:lnTo>
                    <a:pt x="217" y="90206"/>
                  </a:lnTo>
                  <a:lnTo>
                    <a:pt x="351" y="87121"/>
                  </a:lnTo>
                  <a:lnTo>
                    <a:pt x="702" y="81146"/>
                  </a:lnTo>
                  <a:lnTo>
                    <a:pt x="1176" y="75440"/>
                  </a:lnTo>
                  <a:cubicBezTo>
                    <a:pt x="5871" y="27076"/>
                    <a:pt x="25250" y="6821"/>
                    <a:pt x="72437" y="1496"/>
                  </a:cubicBezTo>
                  <a:lnTo>
                    <a:pt x="75430" y="1187"/>
                  </a:lnTo>
                  <a:lnTo>
                    <a:pt x="81136" y="712"/>
                  </a:lnTo>
                  <a:lnTo>
                    <a:pt x="88638" y="289"/>
                  </a:lnTo>
                  <a:lnTo>
                    <a:pt x="90186" y="227"/>
                  </a:lnTo>
                  <a:lnTo>
                    <a:pt x="96552" y="52"/>
                  </a:lnTo>
                  <a:cubicBezTo>
                    <a:pt x="98719" y="21"/>
                    <a:pt x="100927" y="0"/>
                    <a:pt x="103177" y="0"/>
                  </a:cubicBezTo>
                  <a:close/>
                  <a:moveTo>
                    <a:pt x="113496" y="51594"/>
                  </a:moveTo>
                  <a:lnTo>
                    <a:pt x="82539" y="51594"/>
                  </a:lnTo>
                  <a:lnTo>
                    <a:pt x="81332" y="51666"/>
                  </a:lnTo>
                  <a:cubicBezTo>
                    <a:pt x="76141" y="52283"/>
                    <a:pt x="72232" y="56685"/>
                    <a:pt x="72232" y="61912"/>
                  </a:cubicBezTo>
                  <a:cubicBezTo>
                    <a:pt x="72232" y="67140"/>
                    <a:pt x="76141" y="71541"/>
                    <a:pt x="81332" y="72159"/>
                  </a:cubicBezTo>
                  <a:lnTo>
                    <a:pt x="82539" y="72231"/>
                  </a:lnTo>
                  <a:lnTo>
                    <a:pt x="113496" y="72231"/>
                  </a:lnTo>
                  <a:lnTo>
                    <a:pt x="113496" y="92868"/>
                  </a:lnTo>
                  <a:lnTo>
                    <a:pt x="92858" y="92868"/>
                  </a:lnTo>
                  <a:lnTo>
                    <a:pt x="91310" y="92920"/>
                  </a:lnTo>
                  <a:cubicBezTo>
                    <a:pt x="81158" y="93683"/>
                    <a:pt x="73079" y="101736"/>
                    <a:pt x="72283" y="111886"/>
                  </a:cubicBezTo>
                  <a:lnTo>
                    <a:pt x="72221" y="113506"/>
                  </a:lnTo>
                  <a:lnTo>
                    <a:pt x="72221" y="134143"/>
                  </a:lnTo>
                  <a:lnTo>
                    <a:pt x="72272" y="135691"/>
                  </a:lnTo>
                  <a:cubicBezTo>
                    <a:pt x="73035" y="145844"/>
                    <a:pt x="81088" y="153923"/>
                    <a:pt x="91238" y="154719"/>
                  </a:cubicBezTo>
                  <a:lnTo>
                    <a:pt x="92858" y="154781"/>
                  </a:lnTo>
                  <a:lnTo>
                    <a:pt x="123814" y="154781"/>
                  </a:lnTo>
                  <a:lnTo>
                    <a:pt x="125022" y="154709"/>
                  </a:lnTo>
                  <a:cubicBezTo>
                    <a:pt x="130212" y="154091"/>
                    <a:pt x="134122" y="149689"/>
                    <a:pt x="134122" y="144462"/>
                  </a:cubicBezTo>
                  <a:cubicBezTo>
                    <a:pt x="134122" y="139235"/>
                    <a:pt x="130212" y="134833"/>
                    <a:pt x="125022" y="134216"/>
                  </a:cubicBezTo>
                  <a:lnTo>
                    <a:pt x="123814" y="134143"/>
                  </a:lnTo>
                  <a:lnTo>
                    <a:pt x="92858" y="134143"/>
                  </a:lnTo>
                  <a:lnTo>
                    <a:pt x="92858" y="113506"/>
                  </a:lnTo>
                  <a:lnTo>
                    <a:pt x="113496" y="113506"/>
                  </a:lnTo>
                  <a:lnTo>
                    <a:pt x="115043" y="113454"/>
                  </a:lnTo>
                  <a:cubicBezTo>
                    <a:pt x="125196" y="112691"/>
                    <a:pt x="133275" y="104638"/>
                    <a:pt x="134071" y="94489"/>
                  </a:cubicBezTo>
                  <a:lnTo>
                    <a:pt x="134133" y="92868"/>
                  </a:lnTo>
                  <a:lnTo>
                    <a:pt x="134133" y="72231"/>
                  </a:lnTo>
                  <a:lnTo>
                    <a:pt x="134081" y="70683"/>
                  </a:lnTo>
                  <a:cubicBezTo>
                    <a:pt x="133318" y="60531"/>
                    <a:pt x="125266" y="52452"/>
                    <a:pt x="115116" y="51656"/>
                  </a:cubicBezTo>
                  <a:lnTo>
                    <a:pt x="113496" y="51594"/>
                  </a:lnTo>
                  <a:close/>
                </a:path>
              </a:pathLst>
            </a:custGeom>
            <a:solidFill>
              <a:schemeClr val="accent1"/>
            </a:solidFill>
            <a:ln>
              <a:noFill/>
            </a:ln>
          </p:spPr>
        </p:sp>
        <p:sp>
          <p:nvSpPr>
            <p:cNvPr id="19" name="TextBox 19"/>
            <p:cNvSpPr txBox="1"/>
            <p:nvPr/>
          </p:nvSpPr>
          <p:spPr>
            <a:xfrm>
              <a:off x="4677156" y="184404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刷新恢复</a:t>
              </a:r>
            </a:p>
          </p:txBody>
        </p:sp>
        <p:sp>
          <p:nvSpPr>
            <p:cNvPr id="20" name="Rectangle 20"/>
            <p:cNvSpPr/>
            <p:nvPr/>
          </p:nvSpPr>
          <p:spPr>
            <a:xfrm>
              <a:off x="4362450" y="2190750"/>
              <a:ext cx="3448050" cy="2190750"/>
            </a:xfrm>
            <a:prstGeom prst="roundRect">
              <a:avLst>
                <a:gd name="adj" fmla="val 7826"/>
              </a:avLst>
            </a:prstGeom>
            <a:solidFill>
              <a:schemeClr val="lt2"/>
            </a:solidFill>
            <a:ln w="9525">
              <a:solidFill>
                <a:schemeClr val="accent6"/>
              </a:solidFill>
            </a:ln>
          </p:spPr>
        </p:sp>
        <p:pic>
          <p:nvPicPr>
            <p:cNvPr id="21" name="Image 21"/>
            <p:cNvPicPr>
              <a:picLocks noChangeAspect="1"/>
            </p:cNvPicPr>
            <p:nvPr/>
          </p:nvPicPr>
          <p:blipFill>
            <a:blip r:embed="rId3"/>
            <a:stretch>
              <a:fillRect/>
            </a:stretch>
          </p:blipFill>
          <p:spPr>
            <a:xfrm>
              <a:off x="4362450" y="2306832"/>
              <a:ext cx="3448050" cy="1958586"/>
            </a:xfrm>
            <a:prstGeom prst="rect">
              <a:avLst/>
            </a:prstGeom>
          </p:spPr>
        </p:pic>
        <p:sp>
          <p:nvSpPr>
            <p:cNvPr id="22" name="TextBox 22"/>
            <p:cNvSpPr txBox="1"/>
            <p:nvPr/>
          </p:nvSpPr>
          <p:spPr>
            <a:xfrm>
              <a:off x="4355592" y="4502468"/>
              <a:ext cx="2405444"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整页刷新后答案全部还在</a:t>
              </a:r>
              <a:br/>
              <a:r>
                <a:rPr lang="zh-CN" sz="1350" dirty="0">
                  <a:solidFill>
                    <a:schemeClr val="dk1"/>
                  </a:solidFill>
                  <a:latin typeface="+mn-lt"/>
                  <a:ea typeface="+mn-ea"/>
                  <a:cs typeface="+mn-cs"/>
                </a:rPr>
                <a:t>已答 4/4，倒计时按服务端续算</a:t>
              </a:r>
            </a:p>
          </p:txBody>
        </p:sp>
      </p:grpSp>
      <p:grpSp>
        <p:nvGrpSpPr>
          <p:cNvPr id="29" name="Group 29"/>
          <p:cNvGrpSpPr/>
          <p:nvPr/>
        </p:nvGrpSpPr>
        <p:grpSpPr>
          <a:xfrm>
            <a:off x="8108442" y="1844040"/>
            <a:ext cx="3454908" cy="3151061"/>
            <a:chOff x="8108442" y="1844040"/>
            <a:chExt cx="3454908" cy="3151061"/>
          </a:xfrm>
        </p:grpSpPr>
        <p:sp>
          <p:nvSpPr>
            <p:cNvPr id="24" name="Freeform 24"/>
            <p:cNvSpPr/>
            <p:nvPr/>
          </p:nvSpPr>
          <p:spPr>
            <a:xfrm>
              <a:off x="8135948" y="1868487"/>
              <a:ext cx="206364" cy="206374"/>
            </a:xfrm>
            <a:custGeom>
              <a:avLst/>
              <a:gdLst/>
              <a:ahLst/>
              <a:cxnLst/>
              <a:rect l="l" t="t" r="r" b="b"/>
              <a:pathLst>
                <a:path w="206364" h="206374">
                  <a:moveTo>
                    <a:pt x="103177" y="0"/>
                  </a:moveTo>
                  <a:lnTo>
                    <a:pt x="109801" y="52"/>
                  </a:lnTo>
                  <a:lnTo>
                    <a:pt x="116158" y="227"/>
                  </a:lnTo>
                  <a:lnTo>
                    <a:pt x="119243" y="361"/>
                  </a:lnTo>
                  <a:lnTo>
                    <a:pt x="125218" y="712"/>
                  </a:lnTo>
                  <a:lnTo>
                    <a:pt x="130924" y="1187"/>
                  </a:lnTo>
                  <a:cubicBezTo>
                    <a:pt x="179288" y="5882"/>
                    <a:pt x="199543" y="25260"/>
                    <a:pt x="204868" y="72448"/>
                  </a:cubicBezTo>
                  <a:lnTo>
                    <a:pt x="205177" y="75440"/>
                  </a:lnTo>
                  <a:lnTo>
                    <a:pt x="205652" y="81146"/>
                  </a:lnTo>
                  <a:lnTo>
                    <a:pt x="206075" y="88648"/>
                  </a:lnTo>
                  <a:lnTo>
                    <a:pt x="206137" y="90196"/>
                  </a:lnTo>
                  <a:lnTo>
                    <a:pt x="206312" y="96563"/>
                  </a:lnTo>
                  <a:lnTo>
                    <a:pt x="206364" y="103187"/>
                  </a:lnTo>
                  <a:lnTo>
                    <a:pt x="206312" y="109812"/>
                  </a:lnTo>
                  <a:lnTo>
                    <a:pt x="206137" y="116168"/>
                  </a:lnTo>
                  <a:lnTo>
                    <a:pt x="206003" y="119253"/>
                  </a:lnTo>
                  <a:lnTo>
                    <a:pt x="205652" y="125228"/>
                  </a:lnTo>
                  <a:lnTo>
                    <a:pt x="205177" y="130934"/>
                  </a:lnTo>
                  <a:cubicBezTo>
                    <a:pt x="200482" y="179298"/>
                    <a:pt x="181104" y="199554"/>
                    <a:pt x="133916" y="204878"/>
                  </a:cubicBezTo>
                  <a:lnTo>
                    <a:pt x="130924" y="205188"/>
                  </a:lnTo>
                  <a:lnTo>
                    <a:pt x="125218" y="205662"/>
                  </a:lnTo>
                  <a:lnTo>
                    <a:pt x="117716" y="206085"/>
                  </a:lnTo>
                  <a:lnTo>
                    <a:pt x="116168" y="206147"/>
                  </a:lnTo>
                  <a:lnTo>
                    <a:pt x="109801" y="206323"/>
                  </a:lnTo>
                  <a:lnTo>
                    <a:pt x="103177" y="206374"/>
                  </a:lnTo>
                  <a:lnTo>
                    <a:pt x="96552" y="206323"/>
                  </a:lnTo>
                  <a:lnTo>
                    <a:pt x="90196" y="206147"/>
                  </a:lnTo>
                  <a:lnTo>
                    <a:pt x="87111" y="206013"/>
                  </a:lnTo>
                  <a:lnTo>
                    <a:pt x="81136" y="205662"/>
                  </a:lnTo>
                  <a:lnTo>
                    <a:pt x="75430" y="205188"/>
                  </a:lnTo>
                  <a:cubicBezTo>
                    <a:pt x="27066" y="200493"/>
                    <a:pt x="6810" y="181114"/>
                    <a:pt x="1486" y="133927"/>
                  </a:cubicBezTo>
                  <a:lnTo>
                    <a:pt x="1176" y="130934"/>
                  </a:lnTo>
                  <a:lnTo>
                    <a:pt x="702" y="125228"/>
                  </a:lnTo>
                  <a:lnTo>
                    <a:pt x="279" y="117726"/>
                  </a:lnTo>
                  <a:lnTo>
                    <a:pt x="217" y="116178"/>
                  </a:lnTo>
                  <a:lnTo>
                    <a:pt x="41" y="109812"/>
                  </a:lnTo>
                  <a:lnTo>
                    <a:pt x="0" y="106530"/>
                  </a:lnTo>
                  <a:lnTo>
                    <a:pt x="0" y="99844"/>
                  </a:lnTo>
                  <a:lnTo>
                    <a:pt x="41" y="96563"/>
                  </a:lnTo>
                  <a:lnTo>
                    <a:pt x="217" y="90206"/>
                  </a:lnTo>
                  <a:lnTo>
                    <a:pt x="351" y="87121"/>
                  </a:lnTo>
                  <a:lnTo>
                    <a:pt x="702" y="81146"/>
                  </a:lnTo>
                  <a:lnTo>
                    <a:pt x="1176" y="75440"/>
                  </a:lnTo>
                  <a:cubicBezTo>
                    <a:pt x="5871" y="27076"/>
                    <a:pt x="25250" y="6821"/>
                    <a:pt x="72437" y="1496"/>
                  </a:cubicBezTo>
                  <a:lnTo>
                    <a:pt x="75430" y="1187"/>
                  </a:lnTo>
                  <a:lnTo>
                    <a:pt x="81136" y="712"/>
                  </a:lnTo>
                  <a:lnTo>
                    <a:pt x="88638" y="289"/>
                  </a:lnTo>
                  <a:lnTo>
                    <a:pt x="90186" y="227"/>
                  </a:lnTo>
                  <a:lnTo>
                    <a:pt x="96552" y="52"/>
                  </a:lnTo>
                  <a:cubicBezTo>
                    <a:pt x="98719" y="21"/>
                    <a:pt x="100927" y="0"/>
                    <a:pt x="103177" y="0"/>
                  </a:cubicBezTo>
                  <a:close/>
                  <a:moveTo>
                    <a:pt x="113496" y="51594"/>
                  </a:moveTo>
                  <a:lnTo>
                    <a:pt x="92858" y="51594"/>
                  </a:lnTo>
                  <a:lnTo>
                    <a:pt x="91310" y="51645"/>
                  </a:lnTo>
                  <a:cubicBezTo>
                    <a:pt x="80541" y="52455"/>
                    <a:pt x="72217" y="61431"/>
                    <a:pt x="72221" y="72231"/>
                  </a:cubicBezTo>
                  <a:cubicBezTo>
                    <a:pt x="72202" y="77482"/>
                    <a:pt x="76130" y="81909"/>
                    <a:pt x="81345" y="82516"/>
                  </a:cubicBezTo>
                  <a:cubicBezTo>
                    <a:pt x="86560" y="83124"/>
                    <a:pt x="91400" y="79718"/>
                    <a:pt x="92590" y="74604"/>
                  </a:cubicBezTo>
                  <a:lnTo>
                    <a:pt x="92796" y="73438"/>
                  </a:lnTo>
                  <a:lnTo>
                    <a:pt x="92858" y="72231"/>
                  </a:lnTo>
                  <a:lnTo>
                    <a:pt x="113496" y="72231"/>
                  </a:lnTo>
                  <a:lnTo>
                    <a:pt x="113496" y="92868"/>
                  </a:lnTo>
                  <a:lnTo>
                    <a:pt x="92858" y="92868"/>
                  </a:lnTo>
                  <a:lnTo>
                    <a:pt x="91486" y="92941"/>
                  </a:lnTo>
                  <a:cubicBezTo>
                    <a:pt x="80022" y="94179"/>
                    <a:pt x="79578" y="110792"/>
                    <a:pt x="90165" y="113217"/>
                  </a:cubicBezTo>
                  <a:lnTo>
                    <a:pt x="91486" y="113434"/>
                  </a:lnTo>
                  <a:lnTo>
                    <a:pt x="92858" y="113506"/>
                  </a:lnTo>
                  <a:lnTo>
                    <a:pt x="113496" y="113506"/>
                  </a:lnTo>
                  <a:lnTo>
                    <a:pt x="113496" y="134143"/>
                  </a:lnTo>
                  <a:lnTo>
                    <a:pt x="92858" y="134143"/>
                  </a:lnTo>
                  <a:lnTo>
                    <a:pt x="92786" y="132936"/>
                  </a:lnTo>
                  <a:cubicBezTo>
                    <a:pt x="92141" y="127515"/>
                    <a:pt x="87385" y="123534"/>
                    <a:pt x="81935" y="123854"/>
                  </a:cubicBezTo>
                  <a:cubicBezTo>
                    <a:pt x="76485" y="124174"/>
                    <a:pt x="72227" y="128684"/>
                    <a:pt x="72221" y="134143"/>
                  </a:cubicBezTo>
                  <a:cubicBezTo>
                    <a:pt x="72217" y="144943"/>
                    <a:pt x="80541" y="153919"/>
                    <a:pt x="91310" y="154729"/>
                  </a:cubicBezTo>
                  <a:lnTo>
                    <a:pt x="92858" y="154781"/>
                  </a:lnTo>
                  <a:lnTo>
                    <a:pt x="113496" y="154781"/>
                  </a:lnTo>
                  <a:lnTo>
                    <a:pt x="115043" y="154729"/>
                  </a:lnTo>
                  <a:cubicBezTo>
                    <a:pt x="125196" y="153966"/>
                    <a:pt x="133275" y="145913"/>
                    <a:pt x="134071" y="135763"/>
                  </a:cubicBezTo>
                  <a:lnTo>
                    <a:pt x="134133" y="134143"/>
                  </a:lnTo>
                  <a:lnTo>
                    <a:pt x="134133" y="113506"/>
                  </a:lnTo>
                  <a:lnTo>
                    <a:pt x="134081" y="111958"/>
                  </a:lnTo>
                  <a:cubicBezTo>
                    <a:pt x="133901" y="109579"/>
                    <a:pt x="133308" y="107250"/>
                    <a:pt x="132327" y="105076"/>
                  </a:cubicBezTo>
                  <a:lnTo>
                    <a:pt x="131553" y="103507"/>
                  </a:lnTo>
                  <a:lnTo>
                    <a:pt x="131357" y="103177"/>
                  </a:lnTo>
                  <a:lnTo>
                    <a:pt x="131564" y="102867"/>
                  </a:lnTo>
                  <a:cubicBezTo>
                    <a:pt x="132958" y="100337"/>
                    <a:pt x="133809" y="97542"/>
                    <a:pt x="134061" y="94664"/>
                  </a:cubicBezTo>
                  <a:lnTo>
                    <a:pt x="134133" y="92868"/>
                  </a:lnTo>
                  <a:lnTo>
                    <a:pt x="134133" y="72231"/>
                  </a:lnTo>
                  <a:lnTo>
                    <a:pt x="134081" y="70683"/>
                  </a:lnTo>
                  <a:cubicBezTo>
                    <a:pt x="133318" y="60531"/>
                    <a:pt x="125266" y="52452"/>
                    <a:pt x="115116" y="51656"/>
                  </a:cubicBezTo>
                  <a:lnTo>
                    <a:pt x="113496" y="51594"/>
                  </a:lnTo>
                  <a:close/>
                </a:path>
              </a:pathLst>
            </a:custGeom>
            <a:solidFill>
              <a:schemeClr val="accent1"/>
            </a:solidFill>
            <a:ln>
              <a:noFill/>
            </a:ln>
          </p:spPr>
        </p:sp>
        <p:sp>
          <p:nvSpPr>
            <p:cNvPr id="25" name="TextBox 25"/>
            <p:cNvSpPr txBox="1"/>
            <p:nvPr/>
          </p:nvSpPr>
          <p:spPr>
            <a:xfrm>
              <a:off x="8430006" y="184404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交卷判分</a:t>
              </a:r>
            </a:p>
          </p:txBody>
        </p:sp>
        <p:sp>
          <p:nvSpPr>
            <p:cNvPr id="26" name="Rectangle 26"/>
            <p:cNvSpPr/>
            <p:nvPr/>
          </p:nvSpPr>
          <p:spPr>
            <a:xfrm>
              <a:off x="8115300" y="2190750"/>
              <a:ext cx="3448050" cy="2190750"/>
            </a:xfrm>
            <a:prstGeom prst="roundRect">
              <a:avLst>
                <a:gd name="adj" fmla="val 7826"/>
              </a:avLst>
            </a:prstGeom>
            <a:solidFill>
              <a:schemeClr val="lt2"/>
            </a:solidFill>
            <a:ln w="9525">
              <a:solidFill>
                <a:schemeClr val="accent6"/>
              </a:solidFill>
            </a:ln>
          </p:spPr>
        </p:sp>
        <p:pic>
          <p:nvPicPr>
            <p:cNvPr id="27" name="Image 27"/>
            <p:cNvPicPr>
              <a:picLocks noChangeAspect="1"/>
            </p:cNvPicPr>
            <p:nvPr/>
          </p:nvPicPr>
          <p:blipFill>
            <a:blip r:embed="rId4"/>
            <a:stretch>
              <a:fillRect/>
            </a:stretch>
          </p:blipFill>
          <p:spPr>
            <a:xfrm>
              <a:off x="8115300" y="2306832"/>
              <a:ext cx="3448050" cy="1958586"/>
            </a:xfrm>
            <a:prstGeom prst="rect">
              <a:avLst/>
            </a:prstGeom>
          </p:spPr>
        </p:pic>
        <p:sp>
          <p:nvSpPr>
            <p:cNvPr id="28" name="TextBox 28"/>
            <p:cNvSpPr txBox="1"/>
            <p:nvPr/>
          </p:nvSpPr>
          <p:spPr>
            <a:xfrm>
              <a:off x="8108442" y="4502468"/>
              <a:ext cx="2019681"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交卷提示客观题得分 20 分</a:t>
              </a:r>
              <a:br/>
              <a:r>
                <a:rPr lang="zh-CN" sz="1350" dirty="0">
                  <a:solidFill>
                    <a:schemeClr val="dk1"/>
                  </a:solidFill>
                  <a:latin typeface="+mn-lt"/>
                  <a:ea typeface="+mn-ea"/>
                  <a:cs typeface="+mn-cs"/>
                </a:rPr>
                <a:t>简答题等待教师评阅</a:t>
              </a:r>
            </a:p>
          </p:txBody>
        </p:sp>
      </p:grpSp>
      <p:grpSp>
        <p:nvGrpSpPr>
          <p:cNvPr id="32" name="Group 32"/>
          <p:cNvGrpSpPr/>
          <p:nvPr/>
        </p:nvGrpSpPr>
        <p:grpSpPr>
          <a:xfrm>
            <a:off x="609600" y="5105400"/>
            <a:ext cx="10972800" cy="501967"/>
            <a:chOff x="609600" y="5105400"/>
            <a:chExt cx="10972800" cy="501967"/>
          </a:xfrm>
        </p:grpSpPr>
        <p:sp>
          <p:nvSpPr>
            <p:cNvPr id="30" name="Rectangle 30"/>
            <p:cNvSpPr/>
            <p:nvPr/>
          </p:nvSpPr>
          <p:spPr>
            <a:xfrm>
              <a:off x="609600" y="5105400"/>
              <a:ext cx="10972800" cy="457200"/>
            </a:xfrm>
            <a:prstGeom prst="roundRect">
              <a:avLst>
                <a:gd name="adj" fmla="val 37500"/>
              </a:avLst>
            </a:prstGeom>
            <a:solidFill>
              <a:srgbClr val="E7EDF4"/>
            </a:solidFill>
            <a:ln>
              <a:noFill/>
            </a:ln>
          </p:spPr>
        </p:sp>
        <p:sp>
          <p:nvSpPr>
            <p:cNvPr id="31" name="TextBox 31"/>
            <p:cNvSpPr txBox="1"/>
            <p:nvPr/>
          </p:nvSpPr>
          <p:spPr>
            <a:xfrm>
              <a:off x="826770" y="5167312"/>
              <a:ext cx="729234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答案随时同步到服务端，所以超时兜底判的不是空白卷</a:t>
              </a:r>
            </a:p>
          </p:txBody>
        </p:sp>
      </p:grpSp>
      <p:grpSp>
        <p:nvGrpSpPr>
          <p:cNvPr id="36" name="Group 36"/>
          <p:cNvGrpSpPr/>
          <p:nvPr/>
        </p:nvGrpSpPr>
        <p:grpSpPr>
          <a:xfrm>
            <a:off x="603885" y="6172200"/>
            <a:ext cx="10984230" cy="308134"/>
            <a:chOff x="603885" y="6172200"/>
            <a:chExt cx="10984230" cy="308134"/>
          </a:xfrm>
        </p:grpSpPr>
        <p:sp>
          <p:nvSpPr>
            <p:cNvPr id="33" name="Line 33"/>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4" name="TextBox 34"/>
            <p:cNvSpPr txBox="1"/>
            <p:nvPr/>
          </p:nvSpPr>
          <p:spPr>
            <a:xfrm>
              <a:off x="603885" y="6260306"/>
              <a:ext cx="6514043"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截图采集：2026-09-04 Chrome 152 · 真实 MySQL · docs/images/screenshots/14 · 16 · 17</a:t>
              </a:r>
            </a:p>
          </p:txBody>
        </p:sp>
        <p:sp>
          <p:nvSpPr>
            <p:cNvPr id="35" name="TextBox 35"/>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14 / 21</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6"/>
            </a:solidFill>
            <a:ln>
              <a:noFill/>
            </a:ln>
          </p:spPr>
        </p:sp>
        <p:sp>
          <p:nvSpPr>
            <p:cNvPr id="3" name="Rectangle 3"/>
            <p:cNvSpPr/>
            <p:nvPr/>
          </p:nvSpPr>
          <p:spPr>
            <a:xfrm>
              <a:off x="914400" y="342900"/>
              <a:ext cx="247650" cy="76200"/>
            </a:xfrm>
            <a:prstGeom prst="roundRect">
              <a:avLst>
                <a:gd name="adj" fmla="val 50000"/>
              </a:avLst>
            </a:prstGeom>
            <a:solidFill>
              <a:schemeClr val="accent6"/>
            </a:solidFill>
            <a:ln>
              <a:noFill/>
            </a:ln>
          </p:spPr>
        </p:sp>
        <p:sp>
          <p:nvSpPr>
            <p:cNvPr id="4" name="Rectangle 4"/>
            <p:cNvSpPr/>
            <p:nvPr/>
          </p:nvSpPr>
          <p:spPr>
            <a:xfrm>
              <a:off x="1219200" y="342900"/>
              <a:ext cx="247650" cy="76200"/>
            </a:xfrm>
            <a:prstGeom prst="roundRect">
              <a:avLst>
                <a:gd name="adj" fmla="val 50000"/>
              </a:avLst>
            </a:prstGeom>
            <a:solidFill>
              <a:schemeClr val="accent6"/>
            </a:solidFill>
            <a:ln>
              <a:noFill/>
            </a:ln>
          </p:spPr>
        </p:sp>
        <p:sp>
          <p:nvSpPr>
            <p:cNvPr id="5" name="Rectangle 5"/>
            <p:cNvSpPr/>
            <p:nvPr/>
          </p:nvSpPr>
          <p:spPr>
            <a:xfrm>
              <a:off x="1524000" y="342900"/>
              <a:ext cx="247650" cy="76200"/>
            </a:xfrm>
            <a:prstGeom prst="roundRect">
              <a:avLst>
                <a:gd name="adj" fmla="val 50000"/>
              </a:avLst>
            </a:prstGeom>
            <a:solidFill>
              <a:schemeClr val="accent6"/>
            </a:solidFill>
            <a:ln>
              <a:noFill/>
            </a:ln>
          </p:spPr>
        </p:sp>
        <p:sp>
          <p:nvSpPr>
            <p:cNvPr id="6" name="Rectangle 6"/>
            <p:cNvSpPr/>
            <p:nvPr/>
          </p:nvSpPr>
          <p:spPr>
            <a:xfrm>
              <a:off x="1828800" y="342900"/>
              <a:ext cx="247650" cy="76200"/>
            </a:xfrm>
            <a:prstGeom prst="roundRect">
              <a:avLst>
                <a:gd name="adj" fmla="val 50000"/>
              </a:avLst>
            </a:prstGeom>
            <a:solidFill>
              <a:schemeClr val="accent2"/>
            </a:solidFill>
            <a:ln>
              <a:noFill/>
            </a:ln>
          </p:spPr>
        </p:sp>
        <p:sp>
          <p:nvSpPr>
            <p:cNvPr id="7" name="Rectangle 7"/>
            <p:cNvSpPr/>
            <p:nvPr/>
          </p:nvSpPr>
          <p:spPr>
            <a:xfrm>
              <a:off x="2133600" y="342900"/>
              <a:ext cx="247650" cy="76200"/>
            </a:xfrm>
            <a:prstGeom prst="roundRect">
              <a:avLst>
                <a:gd name="adj" fmla="val 50000"/>
              </a:avLst>
            </a:prstGeom>
            <a:solidFill>
              <a:schemeClr val="accent2"/>
            </a:solidFill>
            <a:ln>
              <a:noFill/>
            </a:ln>
          </p:spPr>
        </p:sp>
        <p:sp>
          <p:nvSpPr>
            <p:cNvPr id="8" name="TextBox 8"/>
            <p:cNvSpPr txBox="1"/>
            <p:nvPr/>
          </p:nvSpPr>
          <p:spPr>
            <a:xfrm>
              <a:off x="2507742" y="311468"/>
              <a:ext cx="113139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四 · 系统演示</a:t>
              </a:r>
            </a:p>
          </p:txBody>
        </p:sp>
        <p:sp>
          <p:nvSpPr>
            <p:cNvPr id="9" name="TextBox 9"/>
            <p:cNvSpPr txBox="1"/>
            <p:nvPr/>
          </p:nvSpPr>
          <p:spPr>
            <a:xfrm>
              <a:off x="593598" y="726758"/>
              <a:ext cx="648079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系统演示 · 阅卷、公布与竞赛排名</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7" name="Group 17"/>
          <p:cNvGrpSpPr/>
          <p:nvPr/>
        </p:nvGrpSpPr>
        <p:grpSpPr>
          <a:xfrm>
            <a:off x="602742" y="1844040"/>
            <a:ext cx="3454908" cy="3151061"/>
            <a:chOff x="602742" y="1844040"/>
            <a:chExt cx="3454908" cy="3151061"/>
          </a:xfrm>
        </p:grpSpPr>
        <p:sp>
          <p:nvSpPr>
            <p:cNvPr id="12" name="Freeform 12"/>
            <p:cNvSpPr/>
            <p:nvPr/>
          </p:nvSpPr>
          <p:spPr>
            <a:xfrm>
              <a:off x="630248" y="1868487"/>
              <a:ext cx="206364" cy="206374"/>
            </a:xfrm>
            <a:custGeom>
              <a:avLst/>
              <a:gdLst/>
              <a:ahLst/>
              <a:cxnLst/>
              <a:rect l="l" t="t" r="r" b="b"/>
              <a:pathLst>
                <a:path w="206364" h="206374">
                  <a:moveTo>
                    <a:pt x="103177" y="0"/>
                  </a:moveTo>
                  <a:lnTo>
                    <a:pt x="109801" y="52"/>
                  </a:lnTo>
                  <a:lnTo>
                    <a:pt x="116158" y="227"/>
                  </a:lnTo>
                  <a:lnTo>
                    <a:pt x="119243" y="361"/>
                  </a:lnTo>
                  <a:lnTo>
                    <a:pt x="125218" y="712"/>
                  </a:lnTo>
                  <a:lnTo>
                    <a:pt x="130924" y="1187"/>
                  </a:lnTo>
                  <a:cubicBezTo>
                    <a:pt x="179288" y="5882"/>
                    <a:pt x="199543" y="25260"/>
                    <a:pt x="204868" y="72448"/>
                  </a:cubicBezTo>
                  <a:lnTo>
                    <a:pt x="205177" y="75440"/>
                  </a:lnTo>
                  <a:lnTo>
                    <a:pt x="205652" y="81146"/>
                  </a:lnTo>
                  <a:lnTo>
                    <a:pt x="206075" y="88648"/>
                  </a:lnTo>
                  <a:lnTo>
                    <a:pt x="206137" y="90196"/>
                  </a:lnTo>
                  <a:lnTo>
                    <a:pt x="206312" y="96563"/>
                  </a:lnTo>
                  <a:lnTo>
                    <a:pt x="206364" y="103187"/>
                  </a:lnTo>
                  <a:lnTo>
                    <a:pt x="206312" y="109812"/>
                  </a:lnTo>
                  <a:lnTo>
                    <a:pt x="206137" y="116168"/>
                  </a:lnTo>
                  <a:lnTo>
                    <a:pt x="206003" y="119253"/>
                  </a:lnTo>
                  <a:lnTo>
                    <a:pt x="205652" y="125228"/>
                  </a:lnTo>
                  <a:lnTo>
                    <a:pt x="205177" y="130934"/>
                  </a:lnTo>
                  <a:cubicBezTo>
                    <a:pt x="200482" y="179298"/>
                    <a:pt x="181104" y="199554"/>
                    <a:pt x="133916" y="204878"/>
                  </a:cubicBezTo>
                  <a:lnTo>
                    <a:pt x="130924" y="205188"/>
                  </a:lnTo>
                  <a:lnTo>
                    <a:pt x="125218" y="205662"/>
                  </a:lnTo>
                  <a:lnTo>
                    <a:pt x="117716" y="206085"/>
                  </a:lnTo>
                  <a:lnTo>
                    <a:pt x="116168" y="206147"/>
                  </a:lnTo>
                  <a:lnTo>
                    <a:pt x="109801" y="206323"/>
                  </a:lnTo>
                  <a:lnTo>
                    <a:pt x="103177" y="206374"/>
                  </a:lnTo>
                  <a:lnTo>
                    <a:pt x="96552" y="206323"/>
                  </a:lnTo>
                  <a:lnTo>
                    <a:pt x="90196" y="206147"/>
                  </a:lnTo>
                  <a:lnTo>
                    <a:pt x="87111" y="206013"/>
                  </a:lnTo>
                  <a:lnTo>
                    <a:pt x="81136" y="205662"/>
                  </a:lnTo>
                  <a:lnTo>
                    <a:pt x="75430" y="205188"/>
                  </a:lnTo>
                  <a:cubicBezTo>
                    <a:pt x="27066" y="200493"/>
                    <a:pt x="6810" y="181114"/>
                    <a:pt x="1486" y="133927"/>
                  </a:cubicBezTo>
                  <a:lnTo>
                    <a:pt x="1176" y="130934"/>
                  </a:lnTo>
                  <a:lnTo>
                    <a:pt x="702" y="125228"/>
                  </a:lnTo>
                  <a:lnTo>
                    <a:pt x="279" y="117726"/>
                  </a:lnTo>
                  <a:lnTo>
                    <a:pt x="217" y="116178"/>
                  </a:lnTo>
                  <a:lnTo>
                    <a:pt x="41" y="109812"/>
                  </a:lnTo>
                  <a:lnTo>
                    <a:pt x="0" y="106530"/>
                  </a:lnTo>
                  <a:lnTo>
                    <a:pt x="0" y="99844"/>
                  </a:lnTo>
                  <a:lnTo>
                    <a:pt x="41" y="96563"/>
                  </a:lnTo>
                  <a:lnTo>
                    <a:pt x="217" y="90206"/>
                  </a:lnTo>
                  <a:lnTo>
                    <a:pt x="351" y="87121"/>
                  </a:lnTo>
                  <a:lnTo>
                    <a:pt x="702" y="81146"/>
                  </a:lnTo>
                  <a:lnTo>
                    <a:pt x="1176" y="75440"/>
                  </a:lnTo>
                  <a:cubicBezTo>
                    <a:pt x="5871" y="27076"/>
                    <a:pt x="25250" y="6821"/>
                    <a:pt x="72437" y="1496"/>
                  </a:cubicBezTo>
                  <a:lnTo>
                    <a:pt x="75430" y="1187"/>
                  </a:lnTo>
                  <a:lnTo>
                    <a:pt x="81136" y="712"/>
                  </a:lnTo>
                  <a:lnTo>
                    <a:pt x="88638" y="289"/>
                  </a:lnTo>
                  <a:lnTo>
                    <a:pt x="90186" y="227"/>
                  </a:lnTo>
                  <a:lnTo>
                    <a:pt x="96552" y="52"/>
                  </a:lnTo>
                  <a:cubicBezTo>
                    <a:pt x="98719" y="21"/>
                    <a:pt x="100927" y="0"/>
                    <a:pt x="103177" y="0"/>
                  </a:cubicBezTo>
                  <a:close/>
                  <a:moveTo>
                    <a:pt x="113434" y="60736"/>
                  </a:moveTo>
                  <a:cubicBezTo>
                    <a:pt x="112577" y="52718"/>
                    <a:pt x="103032" y="48766"/>
                    <a:pt x="96748" y="53822"/>
                  </a:cubicBezTo>
                  <a:lnTo>
                    <a:pt x="95882" y="54617"/>
                  </a:lnTo>
                  <a:lnTo>
                    <a:pt x="75244" y="75254"/>
                  </a:lnTo>
                  <a:lnTo>
                    <a:pt x="74388" y="76224"/>
                  </a:lnTo>
                  <a:cubicBezTo>
                    <a:pt x="71500" y="79947"/>
                    <a:pt x="71500" y="85153"/>
                    <a:pt x="74388" y="88875"/>
                  </a:cubicBezTo>
                  <a:lnTo>
                    <a:pt x="75244" y="89845"/>
                  </a:lnTo>
                  <a:lnTo>
                    <a:pt x="76214" y="90702"/>
                  </a:lnTo>
                  <a:cubicBezTo>
                    <a:pt x="79936" y="93590"/>
                    <a:pt x="85142" y="93590"/>
                    <a:pt x="88865" y="90702"/>
                  </a:cubicBezTo>
                  <a:lnTo>
                    <a:pt x="89835" y="89845"/>
                  </a:lnTo>
                  <a:lnTo>
                    <a:pt x="92858" y="86822"/>
                  </a:lnTo>
                  <a:lnTo>
                    <a:pt x="92858" y="144462"/>
                  </a:lnTo>
                  <a:lnTo>
                    <a:pt x="92930" y="145669"/>
                  </a:lnTo>
                  <a:cubicBezTo>
                    <a:pt x="93548" y="150860"/>
                    <a:pt x="97949" y="154769"/>
                    <a:pt x="103177" y="154769"/>
                  </a:cubicBezTo>
                  <a:cubicBezTo>
                    <a:pt x="108404" y="154769"/>
                    <a:pt x="112806" y="150860"/>
                    <a:pt x="113423" y="145669"/>
                  </a:cubicBezTo>
                  <a:lnTo>
                    <a:pt x="113496" y="144462"/>
                  </a:lnTo>
                  <a:lnTo>
                    <a:pt x="113496" y="61912"/>
                  </a:lnTo>
                  <a:lnTo>
                    <a:pt x="113434" y="60736"/>
                  </a:lnTo>
                  <a:close/>
                </a:path>
              </a:pathLst>
            </a:custGeom>
            <a:solidFill>
              <a:schemeClr val="accent1"/>
            </a:solidFill>
            <a:ln>
              <a:noFill/>
            </a:ln>
          </p:spPr>
        </p:sp>
        <p:sp>
          <p:nvSpPr>
            <p:cNvPr id="13" name="TextBox 13"/>
            <p:cNvSpPr txBox="1"/>
            <p:nvPr/>
          </p:nvSpPr>
          <p:spPr>
            <a:xfrm>
              <a:off x="924306" y="184404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主观题评分</a:t>
              </a:r>
            </a:p>
          </p:txBody>
        </p:sp>
        <p:sp>
          <p:nvSpPr>
            <p:cNvPr id="14" name="Rectangle 14"/>
            <p:cNvSpPr/>
            <p:nvPr/>
          </p:nvSpPr>
          <p:spPr>
            <a:xfrm>
              <a:off x="609600" y="2190750"/>
              <a:ext cx="3448050" cy="2190750"/>
            </a:xfrm>
            <a:prstGeom prst="roundRect">
              <a:avLst>
                <a:gd name="adj" fmla="val 7826"/>
              </a:avLst>
            </a:prstGeom>
            <a:solidFill>
              <a:schemeClr val="lt2"/>
            </a:solidFill>
            <a:ln w="9525">
              <a:solidFill>
                <a:schemeClr val="accent6"/>
              </a:solidFill>
            </a:ln>
          </p:spPr>
        </p:sp>
        <p:pic>
          <p:nvPicPr>
            <p:cNvPr id="15" name="Image 15"/>
            <p:cNvPicPr>
              <a:picLocks noChangeAspect="1"/>
            </p:cNvPicPr>
            <p:nvPr/>
          </p:nvPicPr>
          <p:blipFill>
            <a:blip r:embed="rId2"/>
            <a:stretch>
              <a:fillRect/>
            </a:stretch>
          </p:blipFill>
          <p:spPr>
            <a:xfrm>
              <a:off x="609600" y="2306832"/>
              <a:ext cx="3448050" cy="1958586"/>
            </a:xfrm>
            <a:prstGeom prst="rect">
              <a:avLst/>
            </a:prstGeom>
          </p:spPr>
        </p:pic>
        <p:sp>
          <p:nvSpPr>
            <p:cNvPr id="16" name="TextBox 16"/>
            <p:cNvSpPr txBox="1"/>
            <p:nvPr/>
          </p:nvSpPr>
          <p:spPr>
            <a:xfrm>
              <a:off x="602742" y="4502468"/>
              <a:ext cx="2165414"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简答评 8 分后总分立刻变 28</a:t>
              </a:r>
              <a:br/>
              <a:r>
                <a:rPr lang="zh-CN" sz="1350" dirty="0">
                  <a:solidFill>
                    <a:schemeClr val="dk1"/>
                  </a:solidFill>
                  <a:latin typeface="+mn-lt"/>
                  <a:ea typeface="+mn-ea"/>
                  <a:cs typeface="+mn-cs"/>
                </a:rPr>
                <a:t>公布按钮随即解禁</a:t>
              </a:r>
            </a:p>
          </p:txBody>
        </p:sp>
      </p:grpSp>
      <p:grpSp>
        <p:nvGrpSpPr>
          <p:cNvPr id="23" name="Group 23"/>
          <p:cNvGrpSpPr/>
          <p:nvPr/>
        </p:nvGrpSpPr>
        <p:grpSpPr>
          <a:xfrm>
            <a:off x="4355592" y="1844040"/>
            <a:ext cx="3454908" cy="3151061"/>
            <a:chOff x="4355592" y="1844040"/>
            <a:chExt cx="3454908" cy="3151061"/>
          </a:xfrm>
        </p:grpSpPr>
        <p:sp>
          <p:nvSpPr>
            <p:cNvPr id="18" name="Freeform 18"/>
            <p:cNvSpPr/>
            <p:nvPr/>
          </p:nvSpPr>
          <p:spPr>
            <a:xfrm>
              <a:off x="4383098" y="1868487"/>
              <a:ext cx="206364" cy="206374"/>
            </a:xfrm>
            <a:custGeom>
              <a:avLst/>
              <a:gdLst/>
              <a:ahLst/>
              <a:cxnLst/>
              <a:rect l="l" t="t" r="r" b="b"/>
              <a:pathLst>
                <a:path w="206364" h="206374">
                  <a:moveTo>
                    <a:pt x="103177" y="0"/>
                  </a:moveTo>
                  <a:lnTo>
                    <a:pt x="109801" y="52"/>
                  </a:lnTo>
                  <a:lnTo>
                    <a:pt x="116158" y="227"/>
                  </a:lnTo>
                  <a:lnTo>
                    <a:pt x="119243" y="361"/>
                  </a:lnTo>
                  <a:lnTo>
                    <a:pt x="125218" y="712"/>
                  </a:lnTo>
                  <a:lnTo>
                    <a:pt x="130924" y="1187"/>
                  </a:lnTo>
                  <a:cubicBezTo>
                    <a:pt x="179288" y="5882"/>
                    <a:pt x="199543" y="25260"/>
                    <a:pt x="204868" y="72448"/>
                  </a:cubicBezTo>
                  <a:lnTo>
                    <a:pt x="205177" y="75440"/>
                  </a:lnTo>
                  <a:lnTo>
                    <a:pt x="205652" y="81146"/>
                  </a:lnTo>
                  <a:lnTo>
                    <a:pt x="206075" y="88648"/>
                  </a:lnTo>
                  <a:lnTo>
                    <a:pt x="206137" y="90196"/>
                  </a:lnTo>
                  <a:lnTo>
                    <a:pt x="206312" y="96563"/>
                  </a:lnTo>
                  <a:lnTo>
                    <a:pt x="206364" y="103187"/>
                  </a:lnTo>
                  <a:lnTo>
                    <a:pt x="206312" y="109812"/>
                  </a:lnTo>
                  <a:lnTo>
                    <a:pt x="206137" y="116168"/>
                  </a:lnTo>
                  <a:lnTo>
                    <a:pt x="206003" y="119253"/>
                  </a:lnTo>
                  <a:lnTo>
                    <a:pt x="205652" y="125228"/>
                  </a:lnTo>
                  <a:lnTo>
                    <a:pt x="205177" y="130934"/>
                  </a:lnTo>
                  <a:cubicBezTo>
                    <a:pt x="200482" y="179298"/>
                    <a:pt x="181104" y="199554"/>
                    <a:pt x="133916" y="204878"/>
                  </a:cubicBezTo>
                  <a:lnTo>
                    <a:pt x="130924" y="205188"/>
                  </a:lnTo>
                  <a:lnTo>
                    <a:pt x="125218" y="205662"/>
                  </a:lnTo>
                  <a:lnTo>
                    <a:pt x="117716" y="206085"/>
                  </a:lnTo>
                  <a:lnTo>
                    <a:pt x="116168" y="206147"/>
                  </a:lnTo>
                  <a:lnTo>
                    <a:pt x="109801" y="206323"/>
                  </a:lnTo>
                  <a:lnTo>
                    <a:pt x="103177" y="206374"/>
                  </a:lnTo>
                  <a:lnTo>
                    <a:pt x="96552" y="206323"/>
                  </a:lnTo>
                  <a:lnTo>
                    <a:pt x="90196" y="206147"/>
                  </a:lnTo>
                  <a:lnTo>
                    <a:pt x="87111" y="206013"/>
                  </a:lnTo>
                  <a:lnTo>
                    <a:pt x="81136" y="205662"/>
                  </a:lnTo>
                  <a:lnTo>
                    <a:pt x="75430" y="205188"/>
                  </a:lnTo>
                  <a:cubicBezTo>
                    <a:pt x="27066" y="200493"/>
                    <a:pt x="6810" y="181114"/>
                    <a:pt x="1486" y="133927"/>
                  </a:cubicBezTo>
                  <a:lnTo>
                    <a:pt x="1176" y="130934"/>
                  </a:lnTo>
                  <a:lnTo>
                    <a:pt x="702" y="125228"/>
                  </a:lnTo>
                  <a:lnTo>
                    <a:pt x="279" y="117726"/>
                  </a:lnTo>
                  <a:lnTo>
                    <a:pt x="217" y="116178"/>
                  </a:lnTo>
                  <a:lnTo>
                    <a:pt x="41" y="109812"/>
                  </a:lnTo>
                  <a:lnTo>
                    <a:pt x="0" y="106530"/>
                  </a:lnTo>
                  <a:lnTo>
                    <a:pt x="0" y="99844"/>
                  </a:lnTo>
                  <a:lnTo>
                    <a:pt x="41" y="96563"/>
                  </a:lnTo>
                  <a:lnTo>
                    <a:pt x="217" y="90206"/>
                  </a:lnTo>
                  <a:lnTo>
                    <a:pt x="351" y="87121"/>
                  </a:lnTo>
                  <a:lnTo>
                    <a:pt x="702" y="81146"/>
                  </a:lnTo>
                  <a:lnTo>
                    <a:pt x="1176" y="75440"/>
                  </a:lnTo>
                  <a:cubicBezTo>
                    <a:pt x="5871" y="27076"/>
                    <a:pt x="25250" y="6821"/>
                    <a:pt x="72437" y="1496"/>
                  </a:cubicBezTo>
                  <a:lnTo>
                    <a:pt x="75430" y="1187"/>
                  </a:lnTo>
                  <a:lnTo>
                    <a:pt x="81136" y="712"/>
                  </a:lnTo>
                  <a:lnTo>
                    <a:pt x="88638" y="289"/>
                  </a:lnTo>
                  <a:lnTo>
                    <a:pt x="90186" y="227"/>
                  </a:lnTo>
                  <a:lnTo>
                    <a:pt x="96552" y="52"/>
                  </a:lnTo>
                  <a:cubicBezTo>
                    <a:pt x="98719" y="21"/>
                    <a:pt x="100927" y="0"/>
                    <a:pt x="103177" y="0"/>
                  </a:cubicBezTo>
                  <a:close/>
                  <a:moveTo>
                    <a:pt x="113496" y="51594"/>
                  </a:moveTo>
                  <a:lnTo>
                    <a:pt x="82539" y="51594"/>
                  </a:lnTo>
                  <a:lnTo>
                    <a:pt x="81332" y="51666"/>
                  </a:lnTo>
                  <a:cubicBezTo>
                    <a:pt x="76141" y="52283"/>
                    <a:pt x="72232" y="56685"/>
                    <a:pt x="72232" y="61912"/>
                  </a:cubicBezTo>
                  <a:cubicBezTo>
                    <a:pt x="72232" y="67140"/>
                    <a:pt x="76141" y="71541"/>
                    <a:pt x="81332" y="72159"/>
                  </a:cubicBezTo>
                  <a:lnTo>
                    <a:pt x="82539" y="72231"/>
                  </a:lnTo>
                  <a:lnTo>
                    <a:pt x="113496" y="72231"/>
                  </a:lnTo>
                  <a:lnTo>
                    <a:pt x="113496" y="92868"/>
                  </a:lnTo>
                  <a:lnTo>
                    <a:pt x="92858" y="92868"/>
                  </a:lnTo>
                  <a:lnTo>
                    <a:pt x="91310" y="92920"/>
                  </a:lnTo>
                  <a:cubicBezTo>
                    <a:pt x="81158" y="93683"/>
                    <a:pt x="73079" y="101736"/>
                    <a:pt x="72283" y="111886"/>
                  </a:cubicBezTo>
                  <a:lnTo>
                    <a:pt x="72221" y="113506"/>
                  </a:lnTo>
                  <a:lnTo>
                    <a:pt x="72221" y="134143"/>
                  </a:lnTo>
                  <a:lnTo>
                    <a:pt x="72272" y="135691"/>
                  </a:lnTo>
                  <a:cubicBezTo>
                    <a:pt x="73035" y="145844"/>
                    <a:pt x="81088" y="153923"/>
                    <a:pt x="91238" y="154719"/>
                  </a:cubicBezTo>
                  <a:lnTo>
                    <a:pt x="92858" y="154781"/>
                  </a:lnTo>
                  <a:lnTo>
                    <a:pt x="123814" y="154781"/>
                  </a:lnTo>
                  <a:lnTo>
                    <a:pt x="125022" y="154709"/>
                  </a:lnTo>
                  <a:cubicBezTo>
                    <a:pt x="130212" y="154091"/>
                    <a:pt x="134122" y="149689"/>
                    <a:pt x="134122" y="144462"/>
                  </a:cubicBezTo>
                  <a:cubicBezTo>
                    <a:pt x="134122" y="139235"/>
                    <a:pt x="130212" y="134833"/>
                    <a:pt x="125022" y="134216"/>
                  </a:cubicBezTo>
                  <a:lnTo>
                    <a:pt x="123814" y="134143"/>
                  </a:lnTo>
                  <a:lnTo>
                    <a:pt x="92858" y="134143"/>
                  </a:lnTo>
                  <a:lnTo>
                    <a:pt x="92858" y="113506"/>
                  </a:lnTo>
                  <a:lnTo>
                    <a:pt x="113496" y="113506"/>
                  </a:lnTo>
                  <a:lnTo>
                    <a:pt x="115043" y="113454"/>
                  </a:lnTo>
                  <a:cubicBezTo>
                    <a:pt x="125196" y="112691"/>
                    <a:pt x="133275" y="104638"/>
                    <a:pt x="134071" y="94489"/>
                  </a:cubicBezTo>
                  <a:lnTo>
                    <a:pt x="134133" y="92868"/>
                  </a:lnTo>
                  <a:lnTo>
                    <a:pt x="134133" y="72231"/>
                  </a:lnTo>
                  <a:lnTo>
                    <a:pt x="134081" y="70683"/>
                  </a:lnTo>
                  <a:cubicBezTo>
                    <a:pt x="133318" y="60531"/>
                    <a:pt x="125266" y="52452"/>
                    <a:pt x="115116" y="51656"/>
                  </a:cubicBezTo>
                  <a:lnTo>
                    <a:pt x="113496" y="51594"/>
                  </a:lnTo>
                  <a:close/>
                </a:path>
              </a:pathLst>
            </a:custGeom>
            <a:solidFill>
              <a:schemeClr val="accent1"/>
            </a:solidFill>
            <a:ln>
              <a:noFill/>
            </a:ln>
          </p:spPr>
        </p:sp>
        <p:sp>
          <p:nvSpPr>
            <p:cNvPr id="19" name="TextBox 19"/>
            <p:cNvSpPr txBox="1"/>
            <p:nvPr/>
          </p:nvSpPr>
          <p:spPr>
            <a:xfrm>
              <a:off x="4677156" y="184404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公布成绩</a:t>
              </a:r>
            </a:p>
          </p:txBody>
        </p:sp>
        <p:sp>
          <p:nvSpPr>
            <p:cNvPr id="20" name="Rectangle 20"/>
            <p:cNvSpPr/>
            <p:nvPr/>
          </p:nvSpPr>
          <p:spPr>
            <a:xfrm>
              <a:off x="4362450" y="2190750"/>
              <a:ext cx="3448050" cy="2190750"/>
            </a:xfrm>
            <a:prstGeom prst="roundRect">
              <a:avLst>
                <a:gd name="adj" fmla="val 7826"/>
              </a:avLst>
            </a:prstGeom>
            <a:solidFill>
              <a:schemeClr val="lt2"/>
            </a:solidFill>
            <a:ln w="9525">
              <a:solidFill>
                <a:schemeClr val="accent6"/>
              </a:solidFill>
            </a:ln>
          </p:spPr>
        </p:sp>
        <p:pic>
          <p:nvPicPr>
            <p:cNvPr id="21" name="Image 21"/>
            <p:cNvPicPr>
              <a:picLocks noChangeAspect="1"/>
            </p:cNvPicPr>
            <p:nvPr/>
          </p:nvPicPr>
          <p:blipFill>
            <a:blip r:embed="rId3"/>
            <a:stretch>
              <a:fillRect/>
            </a:stretch>
          </p:blipFill>
          <p:spPr>
            <a:xfrm>
              <a:off x="4362450" y="2306832"/>
              <a:ext cx="3448050" cy="1958586"/>
            </a:xfrm>
            <a:prstGeom prst="rect">
              <a:avLst/>
            </a:prstGeom>
          </p:spPr>
        </p:pic>
        <p:sp>
          <p:nvSpPr>
            <p:cNvPr id="22" name="TextBox 22"/>
            <p:cNvSpPr txBox="1"/>
            <p:nvPr/>
          </p:nvSpPr>
          <p:spPr>
            <a:xfrm>
              <a:off x="4355592" y="4502468"/>
              <a:ext cx="189966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公布后平均 28 / 最高 28</a:t>
              </a:r>
              <a:br/>
              <a:r>
                <a:rPr lang="zh-CN" sz="1350" dirty="0">
                  <a:solidFill>
                    <a:schemeClr val="dk1"/>
                  </a:solidFill>
                  <a:latin typeface="+mn-lt"/>
                  <a:ea typeface="+mn-ea"/>
                  <a:cs typeface="+mn-cs"/>
                </a:rPr>
                <a:t>状态变已评分，按钮禁用</a:t>
              </a:r>
            </a:p>
          </p:txBody>
        </p:sp>
      </p:grpSp>
      <p:grpSp>
        <p:nvGrpSpPr>
          <p:cNvPr id="29" name="Group 29"/>
          <p:cNvGrpSpPr/>
          <p:nvPr/>
        </p:nvGrpSpPr>
        <p:grpSpPr>
          <a:xfrm>
            <a:off x="8108442" y="1844040"/>
            <a:ext cx="3454908" cy="3151061"/>
            <a:chOff x="8108442" y="1844040"/>
            <a:chExt cx="3454908" cy="3151061"/>
          </a:xfrm>
        </p:grpSpPr>
        <p:sp>
          <p:nvSpPr>
            <p:cNvPr id="24" name="Freeform 24"/>
            <p:cNvSpPr/>
            <p:nvPr/>
          </p:nvSpPr>
          <p:spPr>
            <a:xfrm>
              <a:off x="8135948" y="1868487"/>
              <a:ext cx="206364" cy="206374"/>
            </a:xfrm>
            <a:custGeom>
              <a:avLst/>
              <a:gdLst/>
              <a:ahLst/>
              <a:cxnLst/>
              <a:rect l="l" t="t" r="r" b="b"/>
              <a:pathLst>
                <a:path w="206364" h="206374">
                  <a:moveTo>
                    <a:pt x="103177" y="0"/>
                  </a:moveTo>
                  <a:lnTo>
                    <a:pt x="109801" y="52"/>
                  </a:lnTo>
                  <a:lnTo>
                    <a:pt x="116158" y="227"/>
                  </a:lnTo>
                  <a:lnTo>
                    <a:pt x="119243" y="361"/>
                  </a:lnTo>
                  <a:lnTo>
                    <a:pt x="125218" y="712"/>
                  </a:lnTo>
                  <a:lnTo>
                    <a:pt x="130924" y="1187"/>
                  </a:lnTo>
                  <a:cubicBezTo>
                    <a:pt x="179288" y="5882"/>
                    <a:pt x="199543" y="25260"/>
                    <a:pt x="204868" y="72448"/>
                  </a:cubicBezTo>
                  <a:lnTo>
                    <a:pt x="205177" y="75440"/>
                  </a:lnTo>
                  <a:lnTo>
                    <a:pt x="205652" y="81146"/>
                  </a:lnTo>
                  <a:lnTo>
                    <a:pt x="206075" y="88648"/>
                  </a:lnTo>
                  <a:lnTo>
                    <a:pt x="206137" y="90196"/>
                  </a:lnTo>
                  <a:lnTo>
                    <a:pt x="206312" y="96563"/>
                  </a:lnTo>
                  <a:lnTo>
                    <a:pt x="206364" y="103187"/>
                  </a:lnTo>
                  <a:lnTo>
                    <a:pt x="206312" y="109812"/>
                  </a:lnTo>
                  <a:lnTo>
                    <a:pt x="206137" y="116168"/>
                  </a:lnTo>
                  <a:lnTo>
                    <a:pt x="206003" y="119253"/>
                  </a:lnTo>
                  <a:lnTo>
                    <a:pt x="205652" y="125228"/>
                  </a:lnTo>
                  <a:lnTo>
                    <a:pt x="205177" y="130934"/>
                  </a:lnTo>
                  <a:cubicBezTo>
                    <a:pt x="200482" y="179298"/>
                    <a:pt x="181104" y="199554"/>
                    <a:pt x="133916" y="204878"/>
                  </a:cubicBezTo>
                  <a:lnTo>
                    <a:pt x="130924" y="205188"/>
                  </a:lnTo>
                  <a:lnTo>
                    <a:pt x="125218" y="205662"/>
                  </a:lnTo>
                  <a:lnTo>
                    <a:pt x="117716" y="206085"/>
                  </a:lnTo>
                  <a:lnTo>
                    <a:pt x="116168" y="206147"/>
                  </a:lnTo>
                  <a:lnTo>
                    <a:pt x="109801" y="206323"/>
                  </a:lnTo>
                  <a:lnTo>
                    <a:pt x="103177" y="206374"/>
                  </a:lnTo>
                  <a:lnTo>
                    <a:pt x="96552" y="206323"/>
                  </a:lnTo>
                  <a:lnTo>
                    <a:pt x="90196" y="206147"/>
                  </a:lnTo>
                  <a:lnTo>
                    <a:pt x="87111" y="206013"/>
                  </a:lnTo>
                  <a:lnTo>
                    <a:pt x="81136" y="205662"/>
                  </a:lnTo>
                  <a:lnTo>
                    <a:pt x="75430" y="205188"/>
                  </a:lnTo>
                  <a:cubicBezTo>
                    <a:pt x="27066" y="200493"/>
                    <a:pt x="6810" y="181114"/>
                    <a:pt x="1486" y="133927"/>
                  </a:cubicBezTo>
                  <a:lnTo>
                    <a:pt x="1176" y="130934"/>
                  </a:lnTo>
                  <a:lnTo>
                    <a:pt x="702" y="125228"/>
                  </a:lnTo>
                  <a:lnTo>
                    <a:pt x="279" y="117726"/>
                  </a:lnTo>
                  <a:lnTo>
                    <a:pt x="217" y="116178"/>
                  </a:lnTo>
                  <a:lnTo>
                    <a:pt x="41" y="109812"/>
                  </a:lnTo>
                  <a:lnTo>
                    <a:pt x="0" y="106530"/>
                  </a:lnTo>
                  <a:lnTo>
                    <a:pt x="0" y="99844"/>
                  </a:lnTo>
                  <a:lnTo>
                    <a:pt x="41" y="96563"/>
                  </a:lnTo>
                  <a:lnTo>
                    <a:pt x="217" y="90206"/>
                  </a:lnTo>
                  <a:lnTo>
                    <a:pt x="351" y="87121"/>
                  </a:lnTo>
                  <a:lnTo>
                    <a:pt x="702" y="81146"/>
                  </a:lnTo>
                  <a:lnTo>
                    <a:pt x="1176" y="75440"/>
                  </a:lnTo>
                  <a:cubicBezTo>
                    <a:pt x="5871" y="27076"/>
                    <a:pt x="25250" y="6821"/>
                    <a:pt x="72437" y="1496"/>
                  </a:cubicBezTo>
                  <a:lnTo>
                    <a:pt x="75430" y="1187"/>
                  </a:lnTo>
                  <a:lnTo>
                    <a:pt x="81136" y="712"/>
                  </a:lnTo>
                  <a:lnTo>
                    <a:pt x="88638" y="289"/>
                  </a:lnTo>
                  <a:lnTo>
                    <a:pt x="90186" y="227"/>
                  </a:lnTo>
                  <a:lnTo>
                    <a:pt x="96552" y="52"/>
                  </a:lnTo>
                  <a:cubicBezTo>
                    <a:pt x="98719" y="21"/>
                    <a:pt x="100927" y="0"/>
                    <a:pt x="103177" y="0"/>
                  </a:cubicBezTo>
                  <a:close/>
                  <a:moveTo>
                    <a:pt x="113496" y="51594"/>
                  </a:moveTo>
                  <a:lnTo>
                    <a:pt x="92858" y="51594"/>
                  </a:lnTo>
                  <a:lnTo>
                    <a:pt x="91310" y="51645"/>
                  </a:lnTo>
                  <a:cubicBezTo>
                    <a:pt x="80541" y="52455"/>
                    <a:pt x="72217" y="61431"/>
                    <a:pt x="72221" y="72231"/>
                  </a:cubicBezTo>
                  <a:cubicBezTo>
                    <a:pt x="72202" y="77482"/>
                    <a:pt x="76130" y="81909"/>
                    <a:pt x="81345" y="82516"/>
                  </a:cubicBezTo>
                  <a:cubicBezTo>
                    <a:pt x="86560" y="83124"/>
                    <a:pt x="91400" y="79718"/>
                    <a:pt x="92590" y="74604"/>
                  </a:cubicBezTo>
                  <a:lnTo>
                    <a:pt x="92796" y="73438"/>
                  </a:lnTo>
                  <a:lnTo>
                    <a:pt x="92858" y="72231"/>
                  </a:lnTo>
                  <a:lnTo>
                    <a:pt x="113496" y="72231"/>
                  </a:lnTo>
                  <a:lnTo>
                    <a:pt x="113496" y="92868"/>
                  </a:lnTo>
                  <a:lnTo>
                    <a:pt x="92858" y="92868"/>
                  </a:lnTo>
                  <a:lnTo>
                    <a:pt x="91486" y="92941"/>
                  </a:lnTo>
                  <a:cubicBezTo>
                    <a:pt x="80022" y="94179"/>
                    <a:pt x="79578" y="110792"/>
                    <a:pt x="90165" y="113217"/>
                  </a:cubicBezTo>
                  <a:lnTo>
                    <a:pt x="91486" y="113434"/>
                  </a:lnTo>
                  <a:lnTo>
                    <a:pt x="92858" y="113506"/>
                  </a:lnTo>
                  <a:lnTo>
                    <a:pt x="113496" y="113506"/>
                  </a:lnTo>
                  <a:lnTo>
                    <a:pt x="113496" y="134143"/>
                  </a:lnTo>
                  <a:lnTo>
                    <a:pt x="92858" y="134143"/>
                  </a:lnTo>
                  <a:lnTo>
                    <a:pt x="92786" y="132936"/>
                  </a:lnTo>
                  <a:cubicBezTo>
                    <a:pt x="92141" y="127515"/>
                    <a:pt x="87385" y="123534"/>
                    <a:pt x="81935" y="123854"/>
                  </a:cubicBezTo>
                  <a:cubicBezTo>
                    <a:pt x="76485" y="124174"/>
                    <a:pt x="72227" y="128684"/>
                    <a:pt x="72221" y="134143"/>
                  </a:cubicBezTo>
                  <a:cubicBezTo>
                    <a:pt x="72217" y="144943"/>
                    <a:pt x="80541" y="153919"/>
                    <a:pt x="91310" y="154729"/>
                  </a:cubicBezTo>
                  <a:lnTo>
                    <a:pt x="92858" y="154781"/>
                  </a:lnTo>
                  <a:lnTo>
                    <a:pt x="113496" y="154781"/>
                  </a:lnTo>
                  <a:lnTo>
                    <a:pt x="115043" y="154729"/>
                  </a:lnTo>
                  <a:cubicBezTo>
                    <a:pt x="125196" y="153966"/>
                    <a:pt x="133275" y="145913"/>
                    <a:pt x="134071" y="135763"/>
                  </a:cubicBezTo>
                  <a:lnTo>
                    <a:pt x="134133" y="134143"/>
                  </a:lnTo>
                  <a:lnTo>
                    <a:pt x="134133" y="113506"/>
                  </a:lnTo>
                  <a:lnTo>
                    <a:pt x="134081" y="111958"/>
                  </a:lnTo>
                  <a:cubicBezTo>
                    <a:pt x="133901" y="109579"/>
                    <a:pt x="133308" y="107250"/>
                    <a:pt x="132327" y="105076"/>
                  </a:cubicBezTo>
                  <a:lnTo>
                    <a:pt x="131553" y="103507"/>
                  </a:lnTo>
                  <a:lnTo>
                    <a:pt x="131357" y="103177"/>
                  </a:lnTo>
                  <a:lnTo>
                    <a:pt x="131564" y="102867"/>
                  </a:lnTo>
                  <a:cubicBezTo>
                    <a:pt x="132958" y="100337"/>
                    <a:pt x="133809" y="97542"/>
                    <a:pt x="134061" y="94664"/>
                  </a:cubicBezTo>
                  <a:lnTo>
                    <a:pt x="134133" y="92868"/>
                  </a:lnTo>
                  <a:lnTo>
                    <a:pt x="134133" y="72231"/>
                  </a:lnTo>
                  <a:lnTo>
                    <a:pt x="134081" y="70683"/>
                  </a:lnTo>
                  <a:cubicBezTo>
                    <a:pt x="133318" y="60531"/>
                    <a:pt x="125266" y="52452"/>
                    <a:pt x="115116" y="51656"/>
                  </a:cubicBezTo>
                  <a:lnTo>
                    <a:pt x="113496" y="51594"/>
                  </a:lnTo>
                  <a:close/>
                </a:path>
              </a:pathLst>
            </a:custGeom>
            <a:solidFill>
              <a:schemeClr val="accent2"/>
            </a:solidFill>
            <a:ln>
              <a:noFill/>
            </a:ln>
          </p:spPr>
        </p:sp>
        <p:sp>
          <p:nvSpPr>
            <p:cNvPr id="25" name="TextBox 25"/>
            <p:cNvSpPr txBox="1"/>
            <p:nvPr/>
          </p:nvSpPr>
          <p:spPr>
            <a:xfrm>
              <a:off x="8430006" y="1844040"/>
              <a:ext cx="987552"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竞赛排名</a:t>
              </a:r>
            </a:p>
          </p:txBody>
        </p:sp>
        <p:sp>
          <p:nvSpPr>
            <p:cNvPr id="26" name="Rectangle 26"/>
            <p:cNvSpPr/>
            <p:nvPr/>
          </p:nvSpPr>
          <p:spPr>
            <a:xfrm>
              <a:off x="8115300" y="2190750"/>
              <a:ext cx="3448050" cy="2190750"/>
            </a:xfrm>
            <a:prstGeom prst="roundRect">
              <a:avLst>
                <a:gd name="adj" fmla="val 7826"/>
              </a:avLst>
            </a:prstGeom>
            <a:solidFill>
              <a:schemeClr val="lt2"/>
            </a:solidFill>
            <a:ln w="9525">
              <a:solidFill>
                <a:schemeClr val="accent6"/>
              </a:solidFill>
            </a:ln>
          </p:spPr>
        </p:sp>
        <p:pic>
          <p:nvPicPr>
            <p:cNvPr id="27" name="Image 27"/>
            <p:cNvPicPr>
              <a:picLocks noChangeAspect="1"/>
            </p:cNvPicPr>
            <p:nvPr/>
          </p:nvPicPr>
          <p:blipFill>
            <a:blip r:embed="rId4"/>
            <a:stretch>
              <a:fillRect/>
            </a:stretch>
          </p:blipFill>
          <p:spPr>
            <a:xfrm>
              <a:off x="8115300" y="2223563"/>
              <a:ext cx="3448050" cy="2125125"/>
            </a:xfrm>
            <a:prstGeom prst="rect">
              <a:avLst/>
            </a:prstGeom>
          </p:spPr>
        </p:pic>
        <p:sp>
          <p:nvSpPr>
            <p:cNvPr id="28" name="TextBox 28"/>
            <p:cNvSpPr txBox="1"/>
            <p:nvPr/>
          </p:nvSpPr>
          <p:spPr>
            <a:xfrm>
              <a:off x="8108442" y="4502468"/>
              <a:ext cx="2834068"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四人 20/10/10/0 → 名次 1、2、2、4</a:t>
              </a:r>
              <a:br/>
              <a:r>
                <a:rPr lang="zh-CN" sz="1350" dirty="0">
                  <a:solidFill>
                    <a:schemeClr val="dk1"/>
                  </a:solidFill>
                  <a:latin typeface="+mn-lt"/>
                  <a:ea typeface="+mn-ea"/>
                  <a:cs typeface="+mn-cs"/>
                </a:rPr>
                <a:t>并列第 2 占用了第 3 名的位置</a:t>
              </a:r>
            </a:p>
          </p:txBody>
        </p:sp>
      </p:grpSp>
      <p:grpSp>
        <p:nvGrpSpPr>
          <p:cNvPr id="32" name="Group 32"/>
          <p:cNvGrpSpPr/>
          <p:nvPr/>
        </p:nvGrpSpPr>
        <p:grpSpPr>
          <a:xfrm>
            <a:off x="609600" y="5105400"/>
            <a:ext cx="10972800" cy="501967"/>
            <a:chOff x="609600" y="5105400"/>
            <a:chExt cx="10972800" cy="501967"/>
          </a:xfrm>
        </p:grpSpPr>
        <p:sp>
          <p:nvSpPr>
            <p:cNvPr id="30" name="Rectangle 30"/>
            <p:cNvSpPr/>
            <p:nvPr/>
          </p:nvSpPr>
          <p:spPr>
            <a:xfrm>
              <a:off x="609600" y="5105400"/>
              <a:ext cx="10972800" cy="457200"/>
            </a:xfrm>
            <a:prstGeom prst="roundRect">
              <a:avLst>
                <a:gd name="adj" fmla="val 37500"/>
              </a:avLst>
            </a:prstGeom>
            <a:solidFill>
              <a:srgbClr val="E7EDF4"/>
            </a:solidFill>
            <a:ln>
              <a:noFill/>
            </a:ln>
          </p:spPr>
        </p:sp>
        <p:sp>
          <p:nvSpPr>
            <p:cNvPr id="31" name="TextBox 31"/>
            <p:cNvSpPr txBox="1"/>
            <p:nvPr/>
          </p:nvSpPr>
          <p:spPr>
            <a:xfrm>
              <a:off x="826770" y="5167312"/>
              <a:ext cx="789813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同分并列占用名次，与体育比赛和教务场景的通行规则一致</a:t>
              </a:r>
            </a:p>
          </p:txBody>
        </p:sp>
      </p:grpSp>
      <p:grpSp>
        <p:nvGrpSpPr>
          <p:cNvPr id="36" name="Group 36"/>
          <p:cNvGrpSpPr/>
          <p:nvPr/>
        </p:nvGrpSpPr>
        <p:grpSpPr>
          <a:xfrm>
            <a:off x="603885" y="6172200"/>
            <a:ext cx="10984230" cy="308134"/>
            <a:chOff x="603885" y="6172200"/>
            <a:chExt cx="10984230" cy="308134"/>
          </a:xfrm>
        </p:grpSpPr>
        <p:sp>
          <p:nvSpPr>
            <p:cNvPr id="33" name="Line 33"/>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34" name="TextBox 34"/>
            <p:cNvSpPr txBox="1"/>
            <p:nvPr/>
          </p:nvSpPr>
          <p:spPr>
            <a:xfrm>
              <a:off x="603885" y="6260306"/>
              <a:ext cx="6514043"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截图采集：2026-09-04 Chrome 152 · 真实 MySQL · docs/images/screenshots/20 · 21 · 22</a:t>
              </a:r>
            </a:p>
          </p:txBody>
        </p:sp>
        <p:sp>
          <p:nvSpPr>
            <p:cNvPr id="35" name="TextBox 35"/>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15 / 21</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2"/>
            </a:solidFill>
            <a:ln>
              <a:noFill/>
            </a:ln>
          </p:spPr>
        </p:sp>
        <p:sp>
          <p:nvSpPr>
            <p:cNvPr id="3" name="Rectangle 3"/>
            <p:cNvSpPr/>
            <p:nvPr/>
          </p:nvSpPr>
          <p:spPr>
            <a:xfrm>
              <a:off x="914400" y="342900"/>
              <a:ext cx="247650" cy="76200"/>
            </a:xfrm>
            <a:prstGeom prst="roundRect">
              <a:avLst>
                <a:gd name="adj" fmla="val 50000"/>
              </a:avLst>
            </a:prstGeom>
            <a:solidFill>
              <a:schemeClr val="accent6"/>
            </a:solidFill>
            <a:ln>
              <a:noFill/>
            </a:ln>
          </p:spPr>
        </p:sp>
        <p:sp>
          <p:nvSpPr>
            <p:cNvPr id="4" name="Rectangle 4"/>
            <p:cNvSpPr/>
            <p:nvPr/>
          </p:nvSpPr>
          <p:spPr>
            <a:xfrm>
              <a:off x="1219200" y="342900"/>
              <a:ext cx="247650" cy="76200"/>
            </a:xfrm>
            <a:prstGeom prst="roundRect">
              <a:avLst>
                <a:gd name="adj" fmla="val 50000"/>
              </a:avLst>
            </a:prstGeom>
            <a:solidFill>
              <a:schemeClr val="accent6"/>
            </a:solidFill>
            <a:ln>
              <a:noFill/>
            </a:ln>
          </p:spPr>
        </p:sp>
        <p:sp>
          <p:nvSpPr>
            <p:cNvPr id="5" name="Rectangle 5"/>
            <p:cNvSpPr/>
            <p:nvPr/>
          </p:nvSpPr>
          <p:spPr>
            <a:xfrm>
              <a:off x="1524000" y="342900"/>
              <a:ext cx="247650" cy="76200"/>
            </a:xfrm>
            <a:prstGeom prst="roundRect">
              <a:avLst>
                <a:gd name="adj" fmla="val 50000"/>
              </a:avLst>
            </a:prstGeom>
            <a:solidFill>
              <a:schemeClr val="accent6"/>
            </a:solidFill>
            <a:ln>
              <a:noFill/>
            </a:ln>
          </p:spPr>
        </p:sp>
        <p:sp>
          <p:nvSpPr>
            <p:cNvPr id="6" name="Rectangle 6"/>
            <p:cNvSpPr/>
            <p:nvPr/>
          </p:nvSpPr>
          <p:spPr>
            <a:xfrm>
              <a:off x="1828800" y="342900"/>
              <a:ext cx="247650" cy="76200"/>
            </a:xfrm>
            <a:prstGeom prst="roundRect">
              <a:avLst>
                <a:gd name="adj" fmla="val 50000"/>
              </a:avLst>
            </a:prstGeom>
            <a:solidFill>
              <a:schemeClr val="accent6"/>
            </a:solidFill>
            <a:ln>
              <a:noFill/>
            </a:ln>
          </p:spPr>
        </p:sp>
        <p:sp>
          <p:nvSpPr>
            <p:cNvPr id="7" name="Rectangle 7"/>
            <p:cNvSpPr/>
            <p:nvPr/>
          </p:nvSpPr>
          <p:spPr>
            <a:xfrm>
              <a:off x="2133600" y="342900"/>
              <a:ext cx="247650" cy="76200"/>
            </a:xfrm>
            <a:prstGeom prst="roundRect">
              <a:avLst>
                <a:gd name="adj" fmla="val 50000"/>
              </a:avLst>
            </a:prstGeom>
            <a:solidFill>
              <a:schemeClr val="accent6"/>
            </a:solidFill>
            <a:ln>
              <a:noFill/>
            </a:ln>
          </p:spPr>
        </p:sp>
        <p:sp>
          <p:nvSpPr>
            <p:cNvPr id="8" name="TextBox 8"/>
            <p:cNvSpPr txBox="1"/>
            <p:nvPr/>
          </p:nvSpPr>
          <p:spPr>
            <a:xfrm>
              <a:off x="2507742" y="311468"/>
              <a:ext cx="113139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四 · 系统演示</a:t>
              </a:r>
            </a:p>
          </p:txBody>
        </p:sp>
        <p:sp>
          <p:nvSpPr>
            <p:cNvPr id="9" name="TextBox 9"/>
            <p:cNvSpPr txBox="1"/>
            <p:nvPr/>
          </p:nvSpPr>
          <p:spPr>
            <a:xfrm>
              <a:off x="593598" y="726758"/>
              <a:ext cx="693878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系统演示 · AI 辅助出题与批量导入</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6" name="Group 16"/>
          <p:cNvGrpSpPr/>
          <p:nvPr/>
        </p:nvGrpSpPr>
        <p:grpSpPr>
          <a:xfrm>
            <a:off x="609600" y="1828800"/>
            <a:ext cx="2895600" cy="1809750"/>
            <a:chOff x="609600" y="1828800"/>
            <a:chExt cx="2895600" cy="1809750"/>
          </a:xfrm>
        </p:grpSpPr>
        <p:sp>
          <p:nvSpPr>
            <p:cNvPr id="12" name="Rectangle 12"/>
            <p:cNvSpPr/>
            <p:nvPr/>
          </p:nvSpPr>
          <p:spPr>
            <a:xfrm>
              <a:off x="609600" y="1828800"/>
              <a:ext cx="2895600" cy="1809750"/>
            </a:xfrm>
            <a:prstGeom prst="roundRect">
              <a:avLst>
                <a:gd name="adj" fmla="val 7368"/>
              </a:avLst>
            </a:prstGeom>
            <a:solidFill>
              <a:schemeClr val="lt2"/>
            </a:solidFill>
            <a:ln w="9525">
              <a:solidFill>
                <a:schemeClr val="accent6"/>
              </a:solidFill>
            </a:ln>
          </p:spPr>
        </p:sp>
        <p:pic>
          <p:nvPicPr>
            <p:cNvPr id="13" name="Image 13"/>
            <p:cNvPicPr>
              <a:picLocks noChangeAspect="1"/>
            </p:cNvPicPr>
            <p:nvPr/>
          </p:nvPicPr>
          <p:blipFill>
            <a:blip r:embed="rId2"/>
            <a:stretch>
              <a:fillRect/>
            </a:stretch>
          </p:blipFill>
          <p:spPr>
            <a:xfrm>
              <a:off x="609600" y="1851206"/>
              <a:ext cx="2895600" cy="1764937"/>
            </a:xfrm>
            <a:prstGeom prst="rect">
              <a:avLst/>
            </a:prstGeom>
          </p:spPr>
        </p:pic>
        <p:sp>
          <p:nvSpPr>
            <p:cNvPr id="14" name="Ellipse 14"/>
            <p:cNvSpPr/>
            <p:nvPr/>
          </p:nvSpPr>
          <p:spPr>
            <a:xfrm>
              <a:off x="666750" y="1885950"/>
              <a:ext cx="266700" cy="266700"/>
            </a:xfrm>
            <a:prstGeom prst="ellipse">
              <a:avLst/>
            </a:prstGeom>
            <a:solidFill>
              <a:schemeClr val="accent1"/>
            </a:solidFill>
            <a:ln>
              <a:noFill/>
            </a:ln>
          </p:spPr>
        </p:sp>
        <p:sp>
          <p:nvSpPr>
            <p:cNvPr id="15" name="TextBox 15"/>
            <p:cNvSpPr txBox="1"/>
            <p:nvPr/>
          </p:nvSpPr>
          <p:spPr>
            <a:xfrm>
              <a:off x="743264" y="193071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1</a:t>
              </a:r>
            </a:p>
          </p:txBody>
        </p:sp>
      </p:grpSp>
      <p:grpSp>
        <p:nvGrpSpPr>
          <p:cNvPr id="21" name="Group 21"/>
          <p:cNvGrpSpPr/>
          <p:nvPr/>
        </p:nvGrpSpPr>
        <p:grpSpPr>
          <a:xfrm>
            <a:off x="3810000" y="1828800"/>
            <a:ext cx="2895600" cy="1809750"/>
            <a:chOff x="3810000" y="1828800"/>
            <a:chExt cx="2895600" cy="1809750"/>
          </a:xfrm>
        </p:grpSpPr>
        <p:sp>
          <p:nvSpPr>
            <p:cNvPr id="17" name="Rectangle 17"/>
            <p:cNvSpPr/>
            <p:nvPr/>
          </p:nvSpPr>
          <p:spPr>
            <a:xfrm>
              <a:off x="3810000" y="1828800"/>
              <a:ext cx="2895600" cy="1809750"/>
            </a:xfrm>
            <a:prstGeom prst="roundRect">
              <a:avLst>
                <a:gd name="adj" fmla="val 7368"/>
              </a:avLst>
            </a:prstGeom>
            <a:solidFill>
              <a:schemeClr val="lt2"/>
            </a:solidFill>
            <a:ln w="9525">
              <a:solidFill>
                <a:schemeClr val="accent6"/>
              </a:solidFill>
            </a:ln>
          </p:spPr>
        </p:sp>
        <p:pic>
          <p:nvPicPr>
            <p:cNvPr id="18" name="Image 18"/>
            <p:cNvPicPr>
              <a:picLocks noChangeAspect="1"/>
            </p:cNvPicPr>
            <p:nvPr/>
          </p:nvPicPr>
          <p:blipFill>
            <a:blip r:embed="rId3"/>
            <a:stretch>
              <a:fillRect/>
            </a:stretch>
          </p:blipFill>
          <p:spPr>
            <a:xfrm>
              <a:off x="3810000" y="1828800"/>
              <a:ext cx="2895600" cy="1809750"/>
            </a:xfrm>
            <a:prstGeom prst="rect">
              <a:avLst/>
            </a:prstGeom>
          </p:spPr>
        </p:pic>
        <p:sp>
          <p:nvSpPr>
            <p:cNvPr id="19" name="Ellipse 19"/>
            <p:cNvSpPr/>
            <p:nvPr/>
          </p:nvSpPr>
          <p:spPr>
            <a:xfrm>
              <a:off x="3867150" y="1885950"/>
              <a:ext cx="266700" cy="266700"/>
            </a:xfrm>
            <a:prstGeom prst="ellipse">
              <a:avLst/>
            </a:prstGeom>
            <a:solidFill>
              <a:schemeClr val="accent1"/>
            </a:solidFill>
            <a:ln>
              <a:noFill/>
            </a:ln>
          </p:spPr>
        </p:sp>
        <p:sp>
          <p:nvSpPr>
            <p:cNvPr id="20" name="TextBox 20"/>
            <p:cNvSpPr txBox="1"/>
            <p:nvPr/>
          </p:nvSpPr>
          <p:spPr>
            <a:xfrm>
              <a:off x="3943664" y="193071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2</a:t>
              </a:r>
            </a:p>
          </p:txBody>
        </p:sp>
      </p:grpSp>
      <p:grpSp>
        <p:nvGrpSpPr>
          <p:cNvPr id="26" name="Group 26"/>
          <p:cNvGrpSpPr/>
          <p:nvPr/>
        </p:nvGrpSpPr>
        <p:grpSpPr>
          <a:xfrm>
            <a:off x="609600" y="3752850"/>
            <a:ext cx="2895600" cy="1809750"/>
            <a:chOff x="609600" y="3752850"/>
            <a:chExt cx="2895600" cy="1809750"/>
          </a:xfrm>
        </p:grpSpPr>
        <p:sp>
          <p:nvSpPr>
            <p:cNvPr id="22" name="Rectangle 22"/>
            <p:cNvSpPr/>
            <p:nvPr/>
          </p:nvSpPr>
          <p:spPr>
            <a:xfrm>
              <a:off x="609600" y="3752850"/>
              <a:ext cx="2895600" cy="1809750"/>
            </a:xfrm>
            <a:prstGeom prst="roundRect">
              <a:avLst>
                <a:gd name="adj" fmla="val 7368"/>
              </a:avLst>
            </a:prstGeom>
            <a:solidFill>
              <a:schemeClr val="lt2"/>
            </a:solidFill>
            <a:ln w="9525">
              <a:solidFill>
                <a:schemeClr val="accent6"/>
              </a:solidFill>
            </a:ln>
          </p:spPr>
        </p:sp>
        <p:pic>
          <p:nvPicPr>
            <p:cNvPr id="23" name="Image 23"/>
            <p:cNvPicPr>
              <a:picLocks noChangeAspect="1"/>
            </p:cNvPicPr>
            <p:nvPr/>
          </p:nvPicPr>
          <p:blipFill>
            <a:blip r:embed="rId4"/>
            <a:stretch>
              <a:fillRect/>
            </a:stretch>
          </p:blipFill>
          <p:spPr>
            <a:xfrm>
              <a:off x="609600" y="3752850"/>
              <a:ext cx="2895600" cy="1809750"/>
            </a:xfrm>
            <a:prstGeom prst="rect">
              <a:avLst/>
            </a:prstGeom>
          </p:spPr>
        </p:pic>
        <p:sp>
          <p:nvSpPr>
            <p:cNvPr id="24" name="Ellipse 24"/>
            <p:cNvSpPr/>
            <p:nvPr/>
          </p:nvSpPr>
          <p:spPr>
            <a:xfrm>
              <a:off x="666750" y="3810000"/>
              <a:ext cx="266700" cy="266700"/>
            </a:xfrm>
            <a:prstGeom prst="ellipse">
              <a:avLst/>
            </a:prstGeom>
            <a:solidFill>
              <a:schemeClr val="accent1"/>
            </a:solidFill>
            <a:ln>
              <a:noFill/>
            </a:ln>
          </p:spPr>
        </p:sp>
        <p:sp>
          <p:nvSpPr>
            <p:cNvPr id="25" name="TextBox 25"/>
            <p:cNvSpPr txBox="1"/>
            <p:nvPr/>
          </p:nvSpPr>
          <p:spPr>
            <a:xfrm>
              <a:off x="743264" y="385476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3</a:t>
              </a:r>
            </a:p>
          </p:txBody>
        </p:sp>
      </p:grpSp>
      <p:grpSp>
        <p:nvGrpSpPr>
          <p:cNvPr id="31" name="Group 31"/>
          <p:cNvGrpSpPr/>
          <p:nvPr/>
        </p:nvGrpSpPr>
        <p:grpSpPr>
          <a:xfrm>
            <a:off x="3810000" y="3752850"/>
            <a:ext cx="2895600" cy="1809750"/>
            <a:chOff x="3810000" y="3752850"/>
            <a:chExt cx="2895600" cy="1809750"/>
          </a:xfrm>
        </p:grpSpPr>
        <p:sp>
          <p:nvSpPr>
            <p:cNvPr id="27" name="Rectangle 27"/>
            <p:cNvSpPr/>
            <p:nvPr/>
          </p:nvSpPr>
          <p:spPr>
            <a:xfrm>
              <a:off x="3810000" y="3752850"/>
              <a:ext cx="2895600" cy="1809750"/>
            </a:xfrm>
            <a:prstGeom prst="roundRect">
              <a:avLst>
                <a:gd name="adj" fmla="val 7368"/>
              </a:avLst>
            </a:prstGeom>
            <a:solidFill>
              <a:schemeClr val="lt2"/>
            </a:solidFill>
            <a:ln w="9525">
              <a:solidFill>
                <a:schemeClr val="accent6"/>
              </a:solidFill>
            </a:ln>
          </p:spPr>
        </p:sp>
        <p:pic>
          <p:nvPicPr>
            <p:cNvPr id="28" name="Image 28"/>
            <p:cNvPicPr>
              <a:picLocks noChangeAspect="1"/>
            </p:cNvPicPr>
            <p:nvPr/>
          </p:nvPicPr>
          <p:blipFill>
            <a:blip r:embed="rId5"/>
            <a:stretch>
              <a:fillRect/>
            </a:stretch>
          </p:blipFill>
          <p:spPr>
            <a:xfrm>
              <a:off x="3810000" y="3752850"/>
              <a:ext cx="2895600" cy="1809750"/>
            </a:xfrm>
            <a:prstGeom prst="rect">
              <a:avLst/>
            </a:prstGeom>
          </p:spPr>
        </p:pic>
        <p:sp>
          <p:nvSpPr>
            <p:cNvPr id="29" name="Ellipse 29"/>
            <p:cNvSpPr/>
            <p:nvPr/>
          </p:nvSpPr>
          <p:spPr>
            <a:xfrm>
              <a:off x="3867150" y="3810000"/>
              <a:ext cx="266700" cy="266700"/>
            </a:xfrm>
            <a:prstGeom prst="ellipse">
              <a:avLst/>
            </a:prstGeom>
            <a:solidFill>
              <a:schemeClr val="accent1"/>
            </a:solidFill>
            <a:ln>
              <a:noFill/>
            </a:ln>
          </p:spPr>
        </p:sp>
        <p:sp>
          <p:nvSpPr>
            <p:cNvPr id="30" name="TextBox 30"/>
            <p:cNvSpPr txBox="1"/>
            <p:nvPr/>
          </p:nvSpPr>
          <p:spPr>
            <a:xfrm>
              <a:off x="3943664" y="385476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4</a:t>
              </a:r>
            </a:p>
          </p:txBody>
        </p:sp>
      </p:grpSp>
      <p:grpSp>
        <p:nvGrpSpPr>
          <p:cNvPr id="36" name="Group 36"/>
          <p:cNvGrpSpPr/>
          <p:nvPr/>
        </p:nvGrpSpPr>
        <p:grpSpPr>
          <a:xfrm>
            <a:off x="7010400" y="1844040"/>
            <a:ext cx="2761488" cy="807911"/>
            <a:chOff x="7010400" y="1844040"/>
            <a:chExt cx="2761488" cy="807911"/>
          </a:xfrm>
        </p:grpSpPr>
        <p:sp>
          <p:nvSpPr>
            <p:cNvPr id="32" name="Ellipse 32"/>
            <p:cNvSpPr/>
            <p:nvPr/>
          </p:nvSpPr>
          <p:spPr>
            <a:xfrm>
              <a:off x="7010400" y="1866900"/>
              <a:ext cx="228600" cy="228600"/>
            </a:xfrm>
            <a:prstGeom prst="ellipse">
              <a:avLst/>
            </a:prstGeom>
            <a:solidFill>
              <a:schemeClr val="accent2"/>
            </a:solidFill>
            <a:ln>
              <a:noFill/>
            </a:ln>
          </p:spPr>
        </p:sp>
        <p:sp>
          <p:nvSpPr>
            <p:cNvPr id="33" name="TextBox 33"/>
            <p:cNvSpPr txBox="1"/>
            <p:nvPr/>
          </p:nvSpPr>
          <p:spPr>
            <a:xfrm>
              <a:off x="7077522" y="1916906"/>
              <a:ext cx="94356"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mn-lt"/>
                  <a:ea typeface="+mn-ea"/>
                  <a:cs typeface="+mn-cs"/>
                </a:rPr>
                <a:t>1</a:t>
              </a:r>
            </a:p>
          </p:txBody>
        </p:sp>
        <p:sp>
          <p:nvSpPr>
            <p:cNvPr id="34" name="TextBox 34"/>
            <p:cNvSpPr txBox="1"/>
            <p:nvPr/>
          </p:nvSpPr>
          <p:spPr>
            <a:xfrm>
              <a:off x="7344156" y="1844040"/>
              <a:ext cx="135157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AI 生成草稿</a:t>
              </a:r>
            </a:p>
          </p:txBody>
        </p:sp>
        <p:sp>
          <p:nvSpPr>
            <p:cNvPr id="35" name="TextBox 35"/>
            <p:cNvSpPr txBox="1"/>
            <p:nvPr/>
          </p:nvSpPr>
          <p:spPr>
            <a:xfrm>
              <a:off x="7117842" y="2159318"/>
              <a:ext cx="265404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真实服务商 deepseek-v4-flash，</a:t>
              </a:r>
              <a:br/>
              <a:r>
                <a:rPr lang="zh-CN" sz="1350" dirty="0">
                  <a:solidFill>
                    <a:schemeClr val="dk1"/>
                  </a:solidFill>
                  <a:latin typeface="+mn-lt"/>
                  <a:ea typeface="+mn-ea"/>
                  <a:cs typeface="+mn-cs"/>
                </a:rPr>
                <a:t>2 道草稿全部通过校验、1 道入库</a:t>
              </a:r>
            </a:p>
          </p:txBody>
        </p:sp>
      </p:grpSp>
      <p:grpSp>
        <p:nvGrpSpPr>
          <p:cNvPr id="41" name="Group 41"/>
          <p:cNvGrpSpPr/>
          <p:nvPr/>
        </p:nvGrpSpPr>
        <p:grpSpPr>
          <a:xfrm>
            <a:off x="7010400" y="2758440"/>
            <a:ext cx="2770060" cy="807911"/>
            <a:chOff x="7010400" y="2758440"/>
            <a:chExt cx="2770060" cy="807911"/>
          </a:xfrm>
        </p:grpSpPr>
        <p:sp>
          <p:nvSpPr>
            <p:cNvPr id="37" name="Ellipse 37"/>
            <p:cNvSpPr/>
            <p:nvPr/>
          </p:nvSpPr>
          <p:spPr>
            <a:xfrm>
              <a:off x="7010400" y="2781300"/>
              <a:ext cx="228600" cy="228600"/>
            </a:xfrm>
            <a:prstGeom prst="ellipse">
              <a:avLst/>
            </a:prstGeom>
            <a:solidFill>
              <a:schemeClr val="accent2"/>
            </a:solidFill>
            <a:ln>
              <a:noFill/>
            </a:ln>
          </p:spPr>
        </p:sp>
        <p:sp>
          <p:nvSpPr>
            <p:cNvPr id="38" name="TextBox 38"/>
            <p:cNvSpPr txBox="1"/>
            <p:nvPr/>
          </p:nvSpPr>
          <p:spPr>
            <a:xfrm>
              <a:off x="7077522" y="2831306"/>
              <a:ext cx="94356"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mn-lt"/>
                  <a:ea typeface="+mn-ea"/>
                  <a:cs typeface="+mn-cs"/>
                </a:rPr>
                <a:t>2</a:t>
              </a:r>
            </a:p>
          </p:txBody>
        </p:sp>
        <p:sp>
          <p:nvSpPr>
            <p:cNvPr id="39" name="TextBox 39"/>
            <p:cNvSpPr txBox="1"/>
            <p:nvPr/>
          </p:nvSpPr>
          <p:spPr>
            <a:xfrm>
              <a:off x="7344156" y="275844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未配置时降级</a:t>
              </a:r>
            </a:p>
          </p:txBody>
        </p:sp>
        <p:sp>
          <p:nvSpPr>
            <p:cNvPr id="40" name="TextBox 40"/>
            <p:cNvSpPr txBox="1"/>
            <p:nvPr/>
          </p:nvSpPr>
          <p:spPr>
            <a:xfrm>
              <a:off x="7117842" y="3073718"/>
              <a:ext cx="2662618"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提示未配置 AI 密钥无法生成草稿，</a:t>
              </a:r>
              <a:br/>
              <a:r>
                <a:rPr lang="zh-CN" sz="1350" dirty="0">
                  <a:solidFill>
                    <a:schemeClr val="dk1"/>
                  </a:solidFill>
                  <a:latin typeface="+mn-lt"/>
                  <a:ea typeface="+mn-ea"/>
                  <a:cs typeface="+mn-cs"/>
                </a:rPr>
                <a:t>手工出题完全不受影响</a:t>
              </a:r>
            </a:p>
          </p:txBody>
        </p:sp>
      </p:grpSp>
      <p:grpSp>
        <p:nvGrpSpPr>
          <p:cNvPr id="46" name="Group 46"/>
          <p:cNvGrpSpPr/>
          <p:nvPr/>
        </p:nvGrpSpPr>
        <p:grpSpPr>
          <a:xfrm>
            <a:off x="7010400" y="3672840"/>
            <a:ext cx="3181540" cy="807911"/>
            <a:chOff x="7010400" y="3672840"/>
            <a:chExt cx="3181540" cy="807911"/>
          </a:xfrm>
        </p:grpSpPr>
        <p:sp>
          <p:nvSpPr>
            <p:cNvPr id="42" name="Ellipse 42"/>
            <p:cNvSpPr/>
            <p:nvPr/>
          </p:nvSpPr>
          <p:spPr>
            <a:xfrm>
              <a:off x="7010400" y="3695700"/>
              <a:ext cx="228600" cy="228600"/>
            </a:xfrm>
            <a:prstGeom prst="ellipse">
              <a:avLst/>
            </a:prstGeom>
            <a:solidFill>
              <a:schemeClr val="accent2"/>
            </a:solidFill>
            <a:ln>
              <a:noFill/>
            </a:ln>
          </p:spPr>
        </p:sp>
        <p:sp>
          <p:nvSpPr>
            <p:cNvPr id="43" name="TextBox 43"/>
            <p:cNvSpPr txBox="1"/>
            <p:nvPr/>
          </p:nvSpPr>
          <p:spPr>
            <a:xfrm>
              <a:off x="7077522" y="3745706"/>
              <a:ext cx="94356"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mn-lt"/>
                  <a:ea typeface="+mn-ea"/>
                  <a:cs typeface="+mn-cs"/>
                </a:rPr>
                <a:t>3</a:t>
              </a:r>
            </a:p>
          </p:txBody>
        </p:sp>
        <p:sp>
          <p:nvSpPr>
            <p:cNvPr id="44" name="TextBox 44"/>
            <p:cNvSpPr txBox="1"/>
            <p:nvPr/>
          </p:nvSpPr>
          <p:spPr>
            <a:xfrm>
              <a:off x="7344156" y="3672840"/>
              <a:ext cx="233344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导入预览（dryRun）</a:t>
              </a:r>
            </a:p>
          </p:txBody>
        </p:sp>
        <p:sp>
          <p:nvSpPr>
            <p:cNvPr id="45" name="TextBox 45"/>
            <p:cNvSpPr txBox="1"/>
            <p:nvPr/>
          </p:nvSpPr>
          <p:spPr>
            <a:xfrm>
              <a:off x="7117842" y="3988118"/>
              <a:ext cx="3074098"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数据行 4 / 可导入 2 / 跳过 1 / 失败 1，</a:t>
              </a:r>
              <a:br/>
              <a:r>
                <a:rPr lang="zh-CN" sz="1350" dirty="0">
                  <a:solidFill>
                    <a:schemeClr val="dk1"/>
                  </a:solidFill>
                  <a:latin typeface="+mn-lt"/>
                  <a:ea typeface="+mn-ea"/>
                  <a:cs typeface="+mn-cs"/>
                </a:rPr>
                <a:t>逐行标出原文行号与原因</a:t>
              </a:r>
            </a:p>
          </p:txBody>
        </p:sp>
      </p:grpSp>
      <p:grpSp>
        <p:nvGrpSpPr>
          <p:cNvPr id="51" name="Group 51"/>
          <p:cNvGrpSpPr/>
          <p:nvPr/>
        </p:nvGrpSpPr>
        <p:grpSpPr>
          <a:xfrm>
            <a:off x="7010400" y="4587240"/>
            <a:ext cx="2598610" cy="807911"/>
            <a:chOff x="7010400" y="4587240"/>
            <a:chExt cx="2598610" cy="807911"/>
          </a:xfrm>
        </p:grpSpPr>
        <p:sp>
          <p:nvSpPr>
            <p:cNvPr id="47" name="Ellipse 47"/>
            <p:cNvSpPr/>
            <p:nvPr/>
          </p:nvSpPr>
          <p:spPr>
            <a:xfrm>
              <a:off x="7010400" y="4610100"/>
              <a:ext cx="228600" cy="228600"/>
            </a:xfrm>
            <a:prstGeom prst="ellipse">
              <a:avLst/>
            </a:prstGeom>
            <a:solidFill>
              <a:schemeClr val="accent2"/>
            </a:solidFill>
            <a:ln>
              <a:noFill/>
            </a:ln>
          </p:spPr>
        </p:sp>
        <p:sp>
          <p:nvSpPr>
            <p:cNvPr id="48" name="TextBox 48"/>
            <p:cNvSpPr txBox="1"/>
            <p:nvPr/>
          </p:nvSpPr>
          <p:spPr>
            <a:xfrm>
              <a:off x="7077522" y="4660106"/>
              <a:ext cx="94356"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mn-lt"/>
                  <a:ea typeface="+mn-ea"/>
                  <a:cs typeface="+mn-cs"/>
                </a:rPr>
                <a:t>4</a:t>
              </a:r>
            </a:p>
          </p:txBody>
        </p:sp>
        <p:sp>
          <p:nvSpPr>
            <p:cNvPr id="49" name="TextBox 49"/>
            <p:cNvSpPr txBox="1"/>
            <p:nvPr/>
          </p:nvSpPr>
          <p:spPr>
            <a:xfrm>
              <a:off x="7344156" y="458724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导入完成</a:t>
              </a:r>
            </a:p>
          </p:txBody>
        </p:sp>
        <p:sp>
          <p:nvSpPr>
            <p:cNvPr id="50" name="TextBox 50"/>
            <p:cNvSpPr txBox="1"/>
            <p:nvPr/>
          </p:nvSpPr>
          <p:spPr>
            <a:xfrm>
              <a:off x="7117842" y="4902518"/>
              <a:ext cx="2491168"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成功 2 道、跳过 1 道、失败 1 道</a:t>
              </a:r>
              <a:br/>
              <a:r>
                <a:rPr lang="zh-CN" sz="1350" dirty="0">
                  <a:solidFill>
                    <a:schemeClr val="dk1"/>
                  </a:solidFill>
                  <a:latin typeface="+mn-lt"/>
                  <a:ea typeface="+mn-ea"/>
                  <a:cs typeface="+mn-cs"/>
                </a:rPr>
                <a:t>预览说 2 道，实际就写 2 道</a:t>
              </a:r>
            </a:p>
          </p:txBody>
        </p:sp>
      </p:grpSp>
      <p:grpSp>
        <p:nvGrpSpPr>
          <p:cNvPr id="54" name="Group 54"/>
          <p:cNvGrpSpPr/>
          <p:nvPr/>
        </p:nvGrpSpPr>
        <p:grpSpPr>
          <a:xfrm>
            <a:off x="609600" y="5676900"/>
            <a:ext cx="10972800" cy="482917"/>
            <a:chOff x="609600" y="5676900"/>
            <a:chExt cx="10972800" cy="482917"/>
          </a:xfrm>
        </p:grpSpPr>
        <p:sp>
          <p:nvSpPr>
            <p:cNvPr id="52" name="Rectangle 52"/>
            <p:cNvSpPr/>
            <p:nvPr/>
          </p:nvSpPr>
          <p:spPr>
            <a:xfrm>
              <a:off x="609600" y="5676900"/>
              <a:ext cx="10972800" cy="419100"/>
            </a:xfrm>
            <a:prstGeom prst="roundRect">
              <a:avLst>
                <a:gd name="adj" fmla="val 40909"/>
              </a:avLst>
            </a:prstGeom>
            <a:solidFill>
              <a:srgbClr val="E7EDF4"/>
            </a:solidFill>
            <a:ln>
              <a:noFill/>
            </a:ln>
          </p:spPr>
        </p:sp>
        <p:sp>
          <p:nvSpPr>
            <p:cNvPr id="53" name="TextBox 53"/>
            <p:cNvSpPr txBox="1"/>
            <p:nvPr/>
          </p:nvSpPr>
          <p:spPr>
            <a:xfrm>
              <a:off x="826770" y="5719762"/>
              <a:ext cx="910971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两条入口共用同一条边界：都不能绕过校验，都要求写库前先看清楚</a:t>
              </a:r>
            </a:p>
          </p:txBody>
        </p:sp>
      </p:grpSp>
      <p:grpSp>
        <p:nvGrpSpPr>
          <p:cNvPr id="58" name="Group 58"/>
          <p:cNvGrpSpPr/>
          <p:nvPr/>
        </p:nvGrpSpPr>
        <p:grpSpPr>
          <a:xfrm>
            <a:off x="603885" y="6172200"/>
            <a:ext cx="10984230" cy="308134"/>
            <a:chOff x="603885" y="6172200"/>
            <a:chExt cx="10984230" cy="308134"/>
          </a:xfrm>
        </p:grpSpPr>
        <p:sp>
          <p:nvSpPr>
            <p:cNvPr id="55" name="Line 55"/>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6" name="TextBox 56"/>
            <p:cNvSpPr txBox="1"/>
            <p:nvPr/>
          </p:nvSpPr>
          <p:spPr>
            <a:xfrm>
              <a:off x="603885" y="6260306"/>
              <a:ext cx="5107635"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AI 真实联调记录：docs/test-records.md 6.3 · 导入实测：同文件第 7 节</a:t>
              </a:r>
            </a:p>
          </p:txBody>
        </p:sp>
        <p:sp>
          <p:nvSpPr>
            <p:cNvPr id="57" name="TextBox 57"/>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16 / 21</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6"/>
            </a:solidFill>
            <a:ln>
              <a:noFill/>
            </a:ln>
          </p:spPr>
        </p:sp>
        <p:sp>
          <p:nvSpPr>
            <p:cNvPr id="3" name="Rectangle 3"/>
            <p:cNvSpPr/>
            <p:nvPr/>
          </p:nvSpPr>
          <p:spPr>
            <a:xfrm>
              <a:off x="914400" y="342900"/>
              <a:ext cx="247650" cy="76200"/>
            </a:xfrm>
            <a:prstGeom prst="roundRect">
              <a:avLst>
                <a:gd name="adj" fmla="val 50000"/>
              </a:avLst>
            </a:prstGeom>
            <a:solidFill>
              <a:schemeClr val="accent2"/>
            </a:solidFill>
            <a:ln>
              <a:noFill/>
            </a:ln>
          </p:spPr>
        </p:sp>
        <p:sp>
          <p:nvSpPr>
            <p:cNvPr id="4" name="Rectangle 4"/>
            <p:cNvSpPr/>
            <p:nvPr/>
          </p:nvSpPr>
          <p:spPr>
            <a:xfrm>
              <a:off x="1219200" y="342900"/>
              <a:ext cx="247650" cy="76200"/>
            </a:xfrm>
            <a:prstGeom prst="roundRect">
              <a:avLst>
                <a:gd name="adj" fmla="val 50000"/>
              </a:avLst>
            </a:prstGeom>
            <a:solidFill>
              <a:schemeClr val="accent6"/>
            </a:solidFill>
            <a:ln>
              <a:noFill/>
            </a:ln>
          </p:spPr>
        </p:sp>
        <p:sp>
          <p:nvSpPr>
            <p:cNvPr id="5" name="Rectangle 5"/>
            <p:cNvSpPr/>
            <p:nvPr/>
          </p:nvSpPr>
          <p:spPr>
            <a:xfrm>
              <a:off x="1524000" y="342900"/>
              <a:ext cx="247650" cy="76200"/>
            </a:xfrm>
            <a:prstGeom prst="roundRect">
              <a:avLst>
                <a:gd name="adj" fmla="val 50000"/>
              </a:avLst>
            </a:prstGeom>
            <a:solidFill>
              <a:schemeClr val="accent6"/>
            </a:solidFill>
            <a:ln>
              <a:noFill/>
            </a:ln>
          </p:spPr>
        </p:sp>
        <p:sp>
          <p:nvSpPr>
            <p:cNvPr id="6" name="Rectangle 6"/>
            <p:cNvSpPr/>
            <p:nvPr/>
          </p:nvSpPr>
          <p:spPr>
            <a:xfrm>
              <a:off x="1828800" y="342900"/>
              <a:ext cx="247650" cy="76200"/>
            </a:xfrm>
            <a:prstGeom prst="roundRect">
              <a:avLst>
                <a:gd name="adj" fmla="val 50000"/>
              </a:avLst>
            </a:prstGeom>
            <a:solidFill>
              <a:schemeClr val="accent6"/>
            </a:solidFill>
            <a:ln>
              <a:noFill/>
            </a:ln>
          </p:spPr>
        </p:sp>
        <p:sp>
          <p:nvSpPr>
            <p:cNvPr id="7" name="Rectangle 7"/>
            <p:cNvSpPr/>
            <p:nvPr/>
          </p:nvSpPr>
          <p:spPr>
            <a:xfrm>
              <a:off x="2133600" y="342900"/>
              <a:ext cx="247650" cy="76200"/>
            </a:xfrm>
            <a:prstGeom prst="roundRect">
              <a:avLst>
                <a:gd name="adj" fmla="val 50000"/>
              </a:avLst>
            </a:prstGeom>
            <a:solidFill>
              <a:schemeClr val="accent6"/>
            </a:solidFill>
            <a:ln>
              <a:noFill/>
            </a:ln>
          </p:spPr>
        </p:sp>
        <p:sp>
          <p:nvSpPr>
            <p:cNvPr id="8" name="TextBox 8"/>
            <p:cNvSpPr txBox="1"/>
            <p:nvPr/>
          </p:nvSpPr>
          <p:spPr>
            <a:xfrm>
              <a:off x="2507742" y="311468"/>
              <a:ext cx="1131399"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四 · 系统演示</a:t>
              </a:r>
            </a:p>
          </p:txBody>
        </p:sp>
        <p:sp>
          <p:nvSpPr>
            <p:cNvPr id="9" name="TextBox 9"/>
            <p:cNvSpPr txBox="1"/>
            <p:nvPr/>
          </p:nvSpPr>
          <p:spPr>
            <a:xfrm>
              <a:off x="593598" y="726758"/>
              <a:ext cx="563268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系统演示 · 另外四项增强功能</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16" name="Group 16"/>
          <p:cNvGrpSpPr/>
          <p:nvPr/>
        </p:nvGrpSpPr>
        <p:grpSpPr>
          <a:xfrm>
            <a:off x="609600" y="1828800"/>
            <a:ext cx="2895600" cy="1809750"/>
            <a:chOff x="609600" y="1828800"/>
            <a:chExt cx="2895600" cy="1809750"/>
          </a:xfrm>
        </p:grpSpPr>
        <p:sp>
          <p:nvSpPr>
            <p:cNvPr id="12" name="Rectangle 12"/>
            <p:cNvSpPr/>
            <p:nvPr/>
          </p:nvSpPr>
          <p:spPr>
            <a:xfrm>
              <a:off x="609600" y="1828800"/>
              <a:ext cx="2895600" cy="1809750"/>
            </a:xfrm>
            <a:prstGeom prst="roundRect">
              <a:avLst>
                <a:gd name="adj" fmla="val 7368"/>
              </a:avLst>
            </a:prstGeom>
            <a:solidFill>
              <a:schemeClr val="lt2"/>
            </a:solidFill>
            <a:ln w="9525">
              <a:solidFill>
                <a:schemeClr val="accent6"/>
              </a:solidFill>
            </a:ln>
          </p:spPr>
        </p:sp>
        <p:pic>
          <p:nvPicPr>
            <p:cNvPr id="13" name="Image 13"/>
            <p:cNvPicPr>
              <a:picLocks noChangeAspect="1"/>
            </p:cNvPicPr>
            <p:nvPr/>
          </p:nvPicPr>
          <p:blipFill>
            <a:blip r:embed="rId2"/>
            <a:stretch>
              <a:fillRect/>
            </a:stretch>
          </p:blipFill>
          <p:spPr>
            <a:xfrm>
              <a:off x="609600" y="1828800"/>
              <a:ext cx="2895600" cy="1809750"/>
            </a:xfrm>
            <a:prstGeom prst="rect">
              <a:avLst/>
            </a:prstGeom>
          </p:spPr>
        </p:pic>
        <p:sp>
          <p:nvSpPr>
            <p:cNvPr id="14" name="Ellipse 14"/>
            <p:cNvSpPr/>
            <p:nvPr/>
          </p:nvSpPr>
          <p:spPr>
            <a:xfrm>
              <a:off x="666750" y="1885950"/>
              <a:ext cx="266700" cy="266700"/>
            </a:xfrm>
            <a:prstGeom prst="ellipse">
              <a:avLst/>
            </a:prstGeom>
            <a:solidFill>
              <a:schemeClr val="accent1"/>
            </a:solidFill>
            <a:ln>
              <a:noFill/>
            </a:ln>
          </p:spPr>
        </p:sp>
        <p:sp>
          <p:nvSpPr>
            <p:cNvPr id="15" name="TextBox 15"/>
            <p:cNvSpPr txBox="1"/>
            <p:nvPr/>
          </p:nvSpPr>
          <p:spPr>
            <a:xfrm>
              <a:off x="743264" y="193071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1</a:t>
              </a:r>
            </a:p>
          </p:txBody>
        </p:sp>
      </p:grpSp>
      <p:grpSp>
        <p:nvGrpSpPr>
          <p:cNvPr id="21" name="Group 21"/>
          <p:cNvGrpSpPr/>
          <p:nvPr/>
        </p:nvGrpSpPr>
        <p:grpSpPr>
          <a:xfrm>
            <a:off x="3810000" y="1828800"/>
            <a:ext cx="2895600" cy="1809750"/>
            <a:chOff x="3810000" y="1828800"/>
            <a:chExt cx="2895600" cy="1809750"/>
          </a:xfrm>
        </p:grpSpPr>
        <p:sp>
          <p:nvSpPr>
            <p:cNvPr id="17" name="Rectangle 17"/>
            <p:cNvSpPr/>
            <p:nvPr/>
          </p:nvSpPr>
          <p:spPr>
            <a:xfrm>
              <a:off x="3810000" y="1828800"/>
              <a:ext cx="2895600" cy="1809750"/>
            </a:xfrm>
            <a:prstGeom prst="roundRect">
              <a:avLst>
                <a:gd name="adj" fmla="val 7368"/>
              </a:avLst>
            </a:prstGeom>
            <a:solidFill>
              <a:schemeClr val="lt2"/>
            </a:solidFill>
            <a:ln w="9525">
              <a:solidFill>
                <a:schemeClr val="accent6"/>
              </a:solidFill>
            </a:ln>
          </p:spPr>
        </p:sp>
        <p:pic>
          <p:nvPicPr>
            <p:cNvPr id="18" name="Image 18"/>
            <p:cNvPicPr>
              <a:picLocks noChangeAspect="1"/>
            </p:cNvPicPr>
            <p:nvPr/>
          </p:nvPicPr>
          <p:blipFill>
            <a:blip r:embed="rId3"/>
            <a:stretch>
              <a:fillRect/>
            </a:stretch>
          </p:blipFill>
          <p:spPr>
            <a:xfrm>
              <a:off x="3810000" y="1828800"/>
              <a:ext cx="2895600" cy="1809750"/>
            </a:xfrm>
            <a:prstGeom prst="rect">
              <a:avLst/>
            </a:prstGeom>
          </p:spPr>
        </p:pic>
        <p:sp>
          <p:nvSpPr>
            <p:cNvPr id="19" name="Ellipse 19"/>
            <p:cNvSpPr/>
            <p:nvPr/>
          </p:nvSpPr>
          <p:spPr>
            <a:xfrm>
              <a:off x="3867150" y="1885950"/>
              <a:ext cx="266700" cy="266700"/>
            </a:xfrm>
            <a:prstGeom prst="ellipse">
              <a:avLst/>
            </a:prstGeom>
            <a:solidFill>
              <a:schemeClr val="accent1"/>
            </a:solidFill>
            <a:ln>
              <a:noFill/>
            </a:ln>
          </p:spPr>
        </p:sp>
        <p:sp>
          <p:nvSpPr>
            <p:cNvPr id="20" name="TextBox 20"/>
            <p:cNvSpPr txBox="1"/>
            <p:nvPr/>
          </p:nvSpPr>
          <p:spPr>
            <a:xfrm>
              <a:off x="3943664" y="193071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2</a:t>
              </a:r>
            </a:p>
          </p:txBody>
        </p:sp>
      </p:grpSp>
      <p:grpSp>
        <p:nvGrpSpPr>
          <p:cNvPr id="26" name="Group 26"/>
          <p:cNvGrpSpPr/>
          <p:nvPr/>
        </p:nvGrpSpPr>
        <p:grpSpPr>
          <a:xfrm>
            <a:off x="609600" y="3752850"/>
            <a:ext cx="2895600" cy="1809750"/>
            <a:chOff x="609600" y="3752850"/>
            <a:chExt cx="2895600" cy="1809750"/>
          </a:xfrm>
        </p:grpSpPr>
        <p:sp>
          <p:nvSpPr>
            <p:cNvPr id="22" name="Rectangle 22"/>
            <p:cNvSpPr/>
            <p:nvPr/>
          </p:nvSpPr>
          <p:spPr>
            <a:xfrm>
              <a:off x="609600" y="3752850"/>
              <a:ext cx="2895600" cy="1809750"/>
            </a:xfrm>
            <a:prstGeom prst="roundRect">
              <a:avLst>
                <a:gd name="adj" fmla="val 7368"/>
              </a:avLst>
            </a:prstGeom>
            <a:solidFill>
              <a:schemeClr val="lt2"/>
            </a:solidFill>
            <a:ln w="9525">
              <a:solidFill>
                <a:schemeClr val="accent6"/>
              </a:solidFill>
            </a:ln>
          </p:spPr>
        </p:sp>
        <p:pic>
          <p:nvPicPr>
            <p:cNvPr id="23" name="Image 23"/>
            <p:cNvPicPr>
              <a:picLocks noChangeAspect="1"/>
            </p:cNvPicPr>
            <p:nvPr/>
          </p:nvPicPr>
          <p:blipFill>
            <a:blip r:embed="rId4"/>
            <a:stretch>
              <a:fillRect/>
            </a:stretch>
          </p:blipFill>
          <p:spPr>
            <a:xfrm>
              <a:off x="609600" y="3752850"/>
              <a:ext cx="2895600" cy="1809750"/>
            </a:xfrm>
            <a:prstGeom prst="rect">
              <a:avLst/>
            </a:prstGeom>
          </p:spPr>
        </p:pic>
        <p:sp>
          <p:nvSpPr>
            <p:cNvPr id="24" name="Ellipse 24"/>
            <p:cNvSpPr/>
            <p:nvPr/>
          </p:nvSpPr>
          <p:spPr>
            <a:xfrm>
              <a:off x="666750" y="3810000"/>
              <a:ext cx="266700" cy="266700"/>
            </a:xfrm>
            <a:prstGeom prst="ellipse">
              <a:avLst/>
            </a:prstGeom>
            <a:solidFill>
              <a:schemeClr val="accent1"/>
            </a:solidFill>
            <a:ln>
              <a:noFill/>
            </a:ln>
          </p:spPr>
        </p:sp>
        <p:sp>
          <p:nvSpPr>
            <p:cNvPr id="25" name="TextBox 25"/>
            <p:cNvSpPr txBox="1"/>
            <p:nvPr/>
          </p:nvSpPr>
          <p:spPr>
            <a:xfrm>
              <a:off x="743264" y="385476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3</a:t>
              </a:r>
            </a:p>
          </p:txBody>
        </p:sp>
      </p:grpSp>
      <p:grpSp>
        <p:nvGrpSpPr>
          <p:cNvPr id="31" name="Group 31"/>
          <p:cNvGrpSpPr/>
          <p:nvPr/>
        </p:nvGrpSpPr>
        <p:grpSpPr>
          <a:xfrm>
            <a:off x="3810000" y="3752850"/>
            <a:ext cx="2895600" cy="1809750"/>
            <a:chOff x="3810000" y="3752850"/>
            <a:chExt cx="2895600" cy="1809750"/>
          </a:xfrm>
        </p:grpSpPr>
        <p:sp>
          <p:nvSpPr>
            <p:cNvPr id="27" name="Rectangle 27"/>
            <p:cNvSpPr/>
            <p:nvPr/>
          </p:nvSpPr>
          <p:spPr>
            <a:xfrm>
              <a:off x="3810000" y="3752850"/>
              <a:ext cx="2895600" cy="1809750"/>
            </a:xfrm>
            <a:prstGeom prst="roundRect">
              <a:avLst>
                <a:gd name="adj" fmla="val 7368"/>
              </a:avLst>
            </a:prstGeom>
            <a:solidFill>
              <a:schemeClr val="lt2"/>
            </a:solidFill>
            <a:ln w="9525">
              <a:solidFill>
                <a:schemeClr val="accent6"/>
              </a:solidFill>
            </a:ln>
          </p:spPr>
        </p:sp>
        <p:pic>
          <p:nvPicPr>
            <p:cNvPr id="28" name="Image 28"/>
            <p:cNvPicPr>
              <a:picLocks noChangeAspect="1"/>
            </p:cNvPicPr>
            <p:nvPr/>
          </p:nvPicPr>
          <p:blipFill>
            <a:blip r:embed="rId5"/>
            <a:stretch>
              <a:fillRect/>
            </a:stretch>
          </p:blipFill>
          <p:spPr>
            <a:xfrm>
              <a:off x="3810000" y="3752850"/>
              <a:ext cx="2895600" cy="1809750"/>
            </a:xfrm>
            <a:prstGeom prst="rect">
              <a:avLst/>
            </a:prstGeom>
          </p:spPr>
        </p:pic>
        <p:sp>
          <p:nvSpPr>
            <p:cNvPr id="29" name="Ellipse 29"/>
            <p:cNvSpPr/>
            <p:nvPr/>
          </p:nvSpPr>
          <p:spPr>
            <a:xfrm>
              <a:off x="3867150" y="3810000"/>
              <a:ext cx="266700" cy="266700"/>
            </a:xfrm>
            <a:prstGeom prst="ellipse">
              <a:avLst/>
            </a:prstGeom>
            <a:solidFill>
              <a:schemeClr val="accent1"/>
            </a:solidFill>
            <a:ln>
              <a:noFill/>
            </a:ln>
          </p:spPr>
        </p:sp>
        <p:sp>
          <p:nvSpPr>
            <p:cNvPr id="30" name="TextBox 30"/>
            <p:cNvSpPr txBox="1"/>
            <p:nvPr/>
          </p:nvSpPr>
          <p:spPr>
            <a:xfrm>
              <a:off x="3943664" y="3854768"/>
              <a:ext cx="113671"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4</a:t>
              </a:r>
            </a:p>
          </p:txBody>
        </p:sp>
      </p:grpSp>
      <p:grpSp>
        <p:nvGrpSpPr>
          <p:cNvPr id="36" name="Group 36"/>
          <p:cNvGrpSpPr/>
          <p:nvPr/>
        </p:nvGrpSpPr>
        <p:grpSpPr>
          <a:xfrm>
            <a:off x="7010400" y="1844040"/>
            <a:ext cx="2692908" cy="807911"/>
            <a:chOff x="7010400" y="1844040"/>
            <a:chExt cx="2692908" cy="807911"/>
          </a:xfrm>
        </p:grpSpPr>
        <p:sp>
          <p:nvSpPr>
            <p:cNvPr id="32" name="Ellipse 32"/>
            <p:cNvSpPr/>
            <p:nvPr/>
          </p:nvSpPr>
          <p:spPr>
            <a:xfrm>
              <a:off x="7010400" y="1866900"/>
              <a:ext cx="228600" cy="228600"/>
            </a:xfrm>
            <a:prstGeom prst="ellipse">
              <a:avLst/>
            </a:prstGeom>
            <a:solidFill>
              <a:schemeClr val="accent2"/>
            </a:solidFill>
            <a:ln>
              <a:noFill/>
            </a:ln>
          </p:spPr>
        </p:sp>
        <p:sp>
          <p:nvSpPr>
            <p:cNvPr id="33" name="TextBox 33"/>
            <p:cNvSpPr txBox="1"/>
            <p:nvPr/>
          </p:nvSpPr>
          <p:spPr>
            <a:xfrm>
              <a:off x="7077522" y="1916906"/>
              <a:ext cx="94356"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mn-lt"/>
                  <a:ea typeface="+mn-ea"/>
                  <a:cs typeface="+mn-cs"/>
                </a:rPr>
                <a:t>1</a:t>
              </a:r>
            </a:p>
          </p:txBody>
        </p:sp>
        <p:sp>
          <p:nvSpPr>
            <p:cNvPr id="34" name="TextBox 34"/>
            <p:cNvSpPr txBox="1"/>
            <p:nvPr/>
          </p:nvSpPr>
          <p:spPr>
            <a:xfrm>
              <a:off x="7344156" y="184404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规则自动组卷</a:t>
              </a:r>
            </a:p>
          </p:txBody>
        </p:sp>
        <p:sp>
          <p:nvSpPr>
            <p:cNvPr id="35" name="TextBox 35"/>
            <p:cNvSpPr txBox="1"/>
            <p:nvPr/>
          </p:nvSpPr>
          <p:spPr>
            <a:xfrm>
              <a:off x="7117842" y="2159318"/>
              <a:ext cx="258546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两条规则 3×10 + 2×5 = 40，</a:t>
              </a:r>
              <a:br/>
              <a:r>
                <a:rPr lang="zh-CN" sz="1350" dirty="0">
                  <a:solidFill>
                    <a:schemeClr val="dk1"/>
                  </a:solidFill>
                  <a:latin typeface="+mn-lt"/>
                  <a:ea typeface="+mn-ea"/>
                  <a:cs typeface="+mn-cs"/>
                </a:rPr>
                <a:t>只生成方案不写库，保存走原接口</a:t>
              </a:r>
            </a:p>
          </p:txBody>
        </p:sp>
      </p:grpSp>
      <p:grpSp>
        <p:nvGrpSpPr>
          <p:cNvPr id="41" name="Group 41"/>
          <p:cNvGrpSpPr/>
          <p:nvPr/>
        </p:nvGrpSpPr>
        <p:grpSpPr>
          <a:xfrm>
            <a:off x="7010400" y="2758440"/>
            <a:ext cx="2650046" cy="807911"/>
            <a:chOff x="7010400" y="2758440"/>
            <a:chExt cx="2650046" cy="807911"/>
          </a:xfrm>
        </p:grpSpPr>
        <p:sp>
          <p:nvSpPr>
            <p:cNvPr id="37" name="Ellipse 37"/>
            <p:cNvSpPr/>
            <p:nvPr/>
          </p:nvSpPr>
          <p:spPr>
            <a:xfrm>
              <a:off x="7010400" y="2781300"/>
              <a:ext cx="228600" cy="228600"/>
            </a:xfrm>
            <a:prstGeom prst="ellipse">
              <a:avLst/>
            </a:prstGeom>
            <a:solidFill>
              <a:schemeClr val="accent2"/>
            </a:solidFill>
            <a:ln>
              <a:noFill/>
            </a:ln>
          </p:spPr>
        </p:sp>
        <p:sp>
          <p:nvSpPr>
            <p:cNvPr id="38" name="TextBox 38"/>
            <p:cNvSpPr txBox="1"/>
            <p:nvPr/>
          </p:nvSpPr>
          <p:spPr>
            <a:xfrm>
              <a:off x="7077522" y="2831306"/>
              <a:ext cx="94356"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mn-lt"/>
                  <a:ea typeface="+mn-ea"/>
                  <a:cs typeface="+mn-cs"/>
                </a:rPr>
                <a:t>2</a:t>
              </a:r>
            </a:p>
          </p:txBody>
        </p:sp>
        <p:sp>
          <p:nvSpPr>
            <p:cNvPr id="39" name="TextBox 39"/>
            <p:cNvSpPr txBox="1"/>
            <p:nvPr/>
          </p:nvSpPr>
          <p:spPr>
            <a:xfrm>
              <a:off x="7344156" y="2758440"/>
              <a:ext cx="98755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试卷导出</a:t>
              </a:r>
            </a:p>
          </p:txBody>
        </p:sp>
        <p:sp>
          <p:nvSpPr>
            <p:cNvPr id="40" name="TextBox 40"/>
            <p:cNvSpPr txBox="1"/>
            <p:nvPr/>
          </p:nvSpPr>
          <p:spPr>
            <a:xfrm>
              <a:off x="7117842" y="3073718"/>
              <a:ext cx="2542604"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Markdown 不含答案可打印；CSV</a:t>
              </a:r>
              <a:br/>
              <a:r>
                <a:rPr lang="zh-CN" sz="1350" dirty="0">
                  <a:solidFill>
                    <a:schemeClr val="dk1"/>
                  </a:solidFill>
                  <a:latin typeface="+mn-lt"/>
                  <a:ea typeface="+mn-ea"/>
                  <a:cs typeface="+mn-cs"/>
                </a:rPr>
                <a:t>列名等于导入模板，可原样回导</a:t>
              </a:r>
            </a:p>
          </p:txBody>
        </p:sp>
      </p:grpSp>
      <p:grpSp>
        <p:nvGrpSpPr>
          <p:cNvPr id="46" name="Group 46"/>
          <p:cNvGrpSpPr/>
          <p:nvPr/>
        </p:nvGrpSpPr>
        <p:grpSpPr>
          <a:xfrm>
            <a:off x="7010400" y="3672840"/>
            <a:ext cx="2890076" cy="807911"/>
            <a:chOff x="7010400" y="3672840"/>
            <a:chExt cx="2890076" cy="807911"/>
          </a:xfrm>
        </p:grpSpPr>
        <p:sp>
          <p:nvSpPr>
            <p:cNvPr id="42" name="Ellipse 42"/>
            <p:cNvSpPr/>
            <p:nvPr/>
          </p:nvSpPr>
          <p:spPr>
            <a:xfrm>
              <a:off x="7010400" y="3695700"/>
              <a:ext cx="228600" cy="228600"/>
            </a:xfrm>
            <a:prstGeom prst="ellipse">
              <a:avLst/>
            </a:prstGeom>
            <a:solidFill>
              <a:schemeClr val="accent2"/>
            </a:solidFill>
            <a:ln>
              <a:noFill/>
            </a:ln>
          </p:spPr>
        </p:sp>
        <p:sp>
          <p:nvSpPr>
            <p:cNvPr id="43" name="TextBox 43"/>
            <p:cNvSpPr txBox="1"/>
            <p:nvPr/>
          </p:nvSpPr>
          <p:spPr>
            <a:xfrm>
              <a:off x="7077522" y="3745706"/>
              <a:ext cx="94356"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mn-lt"/>
                  <a:ea typeface="+mn-ea"/>
                  <a:cs typeface="+mn-cs"/>
                </a:rPr>
                <a:t>3</a:t>
              </a:r>
            </a:p>
          </p:txBody>
        </p:sp>
        <p:sp>
          <p:nvSpPr>
            <p:cNvPr id="44" name="TextBox 44"/>
            <p:cNvSpPr txBox="1"/>
            <p:nvPr/>
          </p:nvSpPr>
          <p:spPr>
            <a:xfrm>
              <a:off x="7344156" y="367284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错题本与重练</a:t>
              </a:r>
            </a:p>
          </p:txBody>
        </p:sp>
        <p:sp>
          <p:nvSpPr>
            <p:cNvPr id="45" name="TextBox 45"/>
            <p:cNvSpPr txBox="1"/>
            <p:nvPr/>
          </p:nvSpPr>
          <p:spPr>
            <a:xfrm>
              <a:off x="7117842" y="3988118"/>
              <a:ext cx="2782634"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收录标准是未得满分，不是得 0 分；</a:t>
              </a:r>
              <a:br/>
              <a:r>
                <a:rPr lang="zh-CN" sz="1350" dirty="0">
                  <a:solidFill>
                    <a:schemeClr val="dk1"/>
                  </a:solidFill>
                  <a:latin typeface="+mn-lt"/>
                  <a:ea typeface="+mn-ea"/>
                  <a:cs typeface="+mn-cs"/>
                </a:rPr>
                <a:t>简答 8/10 也在列，状态仅复习</a:t>
              </a:r>
            </a:p>
          </p:txBody>
        </p:sp>
      </p:grpSp>
      <p:grpSp>
        <p:nvGrpSpPr>
          <p:cNvPr id="51" name="Group 51"/>
          <p:cNvGrpSpPr/>
          <p:nvPr/>
        </p:nvGrpSpPr>
        <p:grpSpPr>
          <a:xfrm>
            <a:off x="7010400" y="4587240"/>
            <a:ext cx="2350008" cy="807911"/>
            <a:chOff x="7010400" y="4587240"/>
            <a:chExt cx="2350008" cy="807911"/>
          </a:xfrm>
        </p:grpSpPr>
        <p:sp>
          <p:nvSpPr>
            <p:cNvPr id="47" name="Ellipse 47"/>
            <p:cNvSpPr/>
            <p:nvPr/>
          </p:nvSpPr>
          <p:spPr>
            <a:xfrm>
              <a:off x="7010400" y="4610100"/>
              <a:ext cx="228600" cy="228600"/>
            </a:xfrm>
            <a:prstGeom prst="ellipse">
              <a:avLst/>
            </a:prstGeom>
            <a:solidFill>
              <a:schemeClr val="accent2"/>
            </a:solidFill>
            <a:ln>
              <a:noFill/>
            </a:ln>
          </p:spPr>
        </p:sp>
        <p:sp>
          <p:nvSpPr>
            <p:cNvPr id="48" name="TextBox 48"/>
            <p:cNvSpPr txBox="1"/>
            <p:nvPr/>
          </p:nvSpPr>
          <p:spPr>
            <a:xfrm>
              <a:off x="7077522" y="4660106"/>
              <a:ext cx="94356" cy="220028"/>
            </a:xfrm>
            <a:prstGeom prst="rect">
              <a:avLst/>
            </a:prstGeom>
            <a:noFill/>
            <a:ln>
              <a:noFill/>
            </a:ln>
          </p:spPr>
          <p:txBody>
            <a:bodyPr wrap="none" lIns="0" tIns="0" rIns="0" bIns="0" anchor="t" anchorCtr="0">
              <a:spAutoFit/>
            </a:bodyPr>
            <a:lstStyle/>
            <a:p>
              <a:pPr algn="ctr"/>
              <a:r>
                <a:rPr lang="zh-CN" sz="1120" dirty="0">
                  <a:solidFill>
                    <a:srgbClr val="FFFFFF"/>
                  </a:solidFill>
                  <a:latin typeface="+mn-lt"/>
                  <a:ea typeface="+mn-ea"/>
                  <a:cs typeface="+mn-cs"/>
                </a:rPr>
                <a:t>4</a:t>
              </a:r>
            </a:p>
          </p:txBody>
        </p:sp>
        <p:sp>
          <p:nvSpPr>
            <p:cNvPr id="49" name="TextBox 49"/>
            <p:cNvSpPr txBox="1"/>
            <p:nvPr/>
          </p:nvSpPr>
          <p:spPr>
            <a:xfrm>
              <a:off x="7344156" y="4587240"/>
              <a:ext cx="171450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可编辑系统设置</a:t>
              </a:r>
            </a:p>
          </p:txBody>
        </p:sp>
        <p:sp>
          <p:nvSpPr>
            <p:cNvPr id="50" name="TextBox 50"/>
            <p:cNvSpPr txBox="1"/>
            <p:nvPr/>
          </p:nvSpPr>
          <p:spPr>
            <a:xfrm>
              <a:off x="7117842" y="4902518"/>
              <a:ext cx="224256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改及格线立即生效无需重启，</a:t>
              </a:r>
              <a:br/>
              <a:r>
                <a:rPr lang="zh-CN" sz="1350" dirty="0">
                  <a:solidFill>
                    <a:schemeClr val="dk1"/>
                  </a:solidFill>
                  <a:latin typeface="+mn-lt"/>
                  <a:ea typeface="+mn-ea"/>
                  <a:cs typeface="+mn-cs"/>
                </a:rPr>
                <a:t>及格率实测 25.0% → 75.0%</a:t>
              </a:r>
            </a:p>
          </p:txBody>
        </p:sp>
      </p:grpSp>
      <p:grpSp>
        <p:nvGrpSpPr>
          <p:cNvPr id="54" name="Group 54"/>
          <p:cNvGrpSpPr/>
          <p:nvPr/>
        </p:nvGrpSpPr>
        <p:grpSpPr>
          <a:xfrm>
            <a:off x="609600" y="5676900"/>
            <a:ext cx="10972800" cy="482917"/>
            <a:chOff x="609600" y="5676900"/>
            <a:chExt cx="10972800" cy="482917"/>
          </a:xfrm>
        </p:grpSpPr>
        <p:sp>
          <p:nvSpPr>
            <p:cNvPr id="52" name="Rectangle 52"/>
            <p:cNvSpPr/>
            <p:nvPr/>
          </p:nvSpPr>
          <p:spPr>
            <a:xfrm>
              <a:off x="609600" y="5676900"/>
              <a:ext cx="10972800" cy="419100"/>
            </a:xfrm>
            <a:prstGeom prst="roundRect">
              <a:avLst>
                <a:gd name="adj" fmla="val 40909"/>
              </a:avLst>
            </a:prstGeom>
            <a:solidFill>
              <a:srgbClr val="E7EDF4"/>
            </a:solidFill>
            <a:ln>
              <a:noFill/>
            </a:ln>
          </p:spPr>
        </p:sp>
        <p:sp>
          <p:nvSpPr>
            <p:cNvPr id="53" name="TextBox 53"/>
            <p:cNvSpPr txBox="1"/>
            <p:nvPr/>
          </p:nvSpPr>
          <p:spPr>
            <a:xfrm>
              <a:off x="826770" y="5719762"/>
              <a:ext cx="8534210" cy="440055"/>
            </a:xfrm>
            <a:prstGeom prst="rect">
              <a:avLst/>
            </a:prstGeom>
            <a:noFill/>
            <a:ln>
              <a:noFill/>
            </a:ln>
          </p:spPr>
          <p:txBody>
            <a:bodyPr wrap="none" lIns="0" tIns="0" rIns="0" bIns="0" anchor="t" anchorCtr="0">
              <a:spAutoFit/>
            </a:bodyPr>
            <a:lstStyle/>
            <a:p>
              <a:pPr algn="l"/>
              <a:r>
                <a:rPr lang="zh-CN" sz="2250" dirty="0">
                  <a:solidFill>
                    <a:schemeClr val="accent1"/>
                  </a:solidFill>
                  <a:latin typeface="+mn-lt"/>
                  <a:ea typeface="+mn-ea"/>
                  <a:cs typeface="+mn-cs"/>
                </a:rPr>
                <a:t>四项功能都没有新增写库路径——每种业务对象只有一条写入路径</a:t>
              </a:r>
            </a:p>
          </p:txBody>
        </p:sp>
      </p:grpSp>
      <p:grpSp>
        <p:nvGrpSpPr>
          <p:cNvPr id="58" name="Group 58"/>
          <p:cNvGrpSpPr/>
          <p:nvPr/>
        </p:nvGrpSpPr>
        <p:grpSpPr>
          <a:xfrm>
            <a:off x="603885" y="6172200"/>
            <a:ext cx="10984230" cy="308134"/>
            <a:chOff x="603885" y="6172200"/>
            <a:chExt cx="10984230" cy="308134"/>
          </a:xfrm>
        </p:grpSpPr>
        <p:sp>
          <p:nvSpPr>
            <p:cNvPr id="55" name="Line 55"/>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56" name="TextBox 56"/>
            <p:cNvSpPr txBox="1"/>
            <p:nvPr/>
          </p:nvSpPr>
          <p:spPr>
            <a:xfrm>
              <a:off x="603885" y="6260306"/>
              <a:ext cx="5280995"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四项功能实测记录：docs/test-records.md 第 8 节 · 截图 31 · 33 · 37 · 36</a:t>
              </a:r>
            </a:p>
          </p:txBody>
        </p:sp>
        <p:sp>
          <p:nvSpPr>
            <p:cNvPr id="57" name="TextBox 57"/>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17 / 21</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6"/>
            </a:solidFill>
            <a:ln>
              <a:noFill/>
            </a:ln>
          </p:spPr>
        </p:sp>
        <p:sp>
          <p:nvSpPr>
            <p:cNvPr id="3" name="Rectangle 3"/>
            <p:cNvSpPr/>
            <p:nvPr/>
          </p:nvSpPr>
          <p:spPr>
            <a:xfrm>
              <a:off x="914400" y="342900"/>
              <a:ext cx="247650" cy="76200"/>
            </a:xfrm>
            <a:prstGeom prst="roundRect">
              <a:avLst>
                <a:gd name="adj" fmla="val 50000"/>
              </a:avLst>
            </a:prstGeom>
            <a:solidFill>
              <a:schemeClr val="accent6"/>
            </a:solidFill>
            <a:ln>
              <a:noFill/>
            </a:ln>
          </p:spPr>
        </p:sp>
        <p:sp>
          <p:nvSpPr>
            <p:cNvPr id="4" name="Rectangle 4"/>
            <p:cNvSpPr/>
            <p:nvPr/>
          </p:nvSpPr>
          <p:spPr>
            <a:xfrm>
              <a:off x="1219200" y="342900"/>
              <a:ext cx="247650" cy="76200"/>
            </a:xfrm>
            <a:prstGeom prst="roundRect">
              <a:avLst>
                <a:gd name="adj" fmla="val 50000"/>
              </a:avLst>
            </a:prstGeom>
            <a:solidFill>
              <a:schemeClr val="accent6"/>
            </a:solidFill>
            <a:ln>
              <a:noFill/>
            </a:ln>
          </p:spPr>
        </p:sp>
        <p:sp>
          <p:nvSpPr>
            <p:cNvPr id="5" name="Rectangle 5"/>
            <p:cNvSpPr/>
            <p:nvPr/>
          </p:nvSpPr>
          <p:spPr>
            <a:xfrm>
              <a:off x="1524000" y="342900"/>
              <a:ext cx="247650" cy="76200"/>
            </a:xfrm>
            <a:prstGeom prst="roundRect">
              <a:avLst>
                <a:gd name="adj" fmla="val 50000"/>
              </a:avLst>
            </a:prstGeom>
            <a:solidFill>
              <a:schemeClr val="accent2"/>
            </a:solidFill>
            <a:ln>
              <a:noFill/>
            </a:ln>
          </p:spPr>
        </p:sp>
        <p:sp>
          <p:nvSpPr>
            <p:cNvPr id="6" name="Rectangle 6"/>
            <p:cNvSpPr/>
            <p:nvPr/>
          </p:nvSpPr>
          <p:spPr>
            <a:xfrm>
              <a:off x="1828800" y="342900"/>
              <a:ext cx="247650" cy="76200"/>
            </a:xfrm>
            <a:prstGeom prst="roundRect">
              <a:avLst>
                <a:gd name="adj" fmla="val 50000"/>
              </a:avLst>
            </a:prstGeom>
            <a:solidFill>
              <a:schemeClr val="accent6"/>
            </a:solidFill>
            <a:ln>
              <a:noFill/>
            </a:ln>
          </p:spPr>
        </p:sp>
        <p:sp>
          <p:nvSpPr>
            <p:cNvPr id="7" name="Rectangle 7"/>
            <p:cNvSpPr/>
            <p:nvPr/>
          </p:nvSpPr>
          <p:spPr>
            <a:xfrm>
              <a:off x="2133600" y="342900"/>
              <a:ext cx="247650" cy="76200"/>
            </a:xfrm>
            <a:prstGeom prst="roundRect">
              <a:avLst>
                <a:gd name="adj" fmla="val 50000"/>
              </a:avLst>
            </a:prstGeom>
            <a:solidFill>
              <a:schemeClr val="accent2"/>
            </a:solidFill>
            <a:ln>
              <a:noFill/>
            </a:ln>
          </p:spPr>
        </p:sp>
        <p:sp>
          <p:nvSpPr>
            <p:cNvPr id="8" name="TextBox 8"/>
            <p:cNvSpPr txBox="1"/>
            <p:nvPr/>
          </p:nvSpPr>
          <p:spPr>
            <a:xfrm>
              <a:off x="2507742" y="311468"/>
              <a:ext cx="167661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五 · 运行结果与验证</a:t>
              </a:r>
            </a:p>
          </p:txBody>
        </p:sp>
        <p:sp>
          <p:nvSpPr>
            <p:cNvPr id="9" name="TextBox 9"/>
            <p:cNvSpPr txBox="1"/>
            <p:nvPr/>
          </p:nvSpPr>
          <p:spPr>
            <a:xfrm>
              <a:off x="593598" y="726758"/>
              <a:ext cx="681685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运行结果分析：数字为什么是这个值</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1" name="Group 31"/>
          <p:cNvGrpSpPr/>
          <p:nvPr/>
        </p:nvGrpSpPr>
        <p:grpSpPr>
          <a:xfrm>
            <a:off x="602742" y="1683068"/>
            <a:ext cx="5112258" cy="2136457"/>
            <a:chOff x="602742" y="1683068"/>
            <a:chExt cx="5112258" cy="2136457"/>
          </a:xfrm>
        </p:grpSpPr>
        <p:sp>
          <p:nvSpPr>
            <p:cNvPr id="12" name="TextBox 12"/>
            <p:cNvSpPr txBox="1"/>
            <p:nvPr/>
          </p:nvSpPr>
          <p:spPr>
            <a:xfrm>
              <a:off x="602742" y="1683068"/>
              <a:ext cx="2643450"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排名试卷得分与名次（满分 20）</a:t>
              </a:r>
            </a:p>
          </p:txBody>
        </p:sp>
        <p:grpSp>
          <p:nvGrpSpPr>
            <p:cNvPr id="30" name="Group 30"/>
            <p:cNvGrpSpPr/>
            <p:nvPr/>
          </p:nvGrpSpPr>
          <p:grpSpPr>
            <a:xfrm>
              <a:off x="980694" y="1962150"/>
              <a:ext cx="4734306" cy="1857375"/>
              <a:chOff x="980694" y="1962150"/>
              <a:chExt cx="4734306" cy="1857375"/>
            </a:xfrm>
          </p:grpSpPr>
          <p:sp>
            <p:nvSpPr>
              <p:cNvPr id="13" name="Line 13"/>
              <p:cNvSpPr/>
              <p:nvPr/>
            </p:nvSpPr>
            <p:spPr>
              <a:xfrm>
                <a:off x="1809750" y="1962150"/>
                <a:ext cx="9525" cy="1847850"/>
              </a:xfrm>
              <a:custGeom>
                <a:avLst/>
                <a:gdLst/>
                <a:ahLst/>
                <a:cxnLst/>
                <a:rect l="l" t="t" r="r" b="b"/>
                <a:pathLst>
                  <a:path w="9525" h="1847850">
                    <a:moveTo>
                      <a:pt x="0" y="0"/>
                    </a:moveTo>
                    <a:lnTo>
                      <a:pt x="0" y="1847850"/>
                    </a:lnTo>
                  </a:path>
                </a:pathLst>
              </a:custGeom>
              <a:noFill/>
              <a:ln w="9525">
                <a:solidFill>
                  <a:schemeClr val="accent6"/>
                </a:solidFill>
              </a:ln>
            </p:spPr>
          </p:sp>
          <p:sp>
            <p:nvSpPr>
              <p:cNvPr id="14" name="Line 14"/>
              <p:cNvSpPr/>
              <p:nvPr/>
            </p:nvSpPr>
            <p:spPr>
              <a:xfrm>
                <a:off x="1809750" y="3810000"/>
                <a:ext cx="3905250" cy="9525"/>
              </a:xfrm>
              <a:custGeom>
                <a:avLst/>
                <a:gdLst/>
                <a:ahLst/>
                <a:cxnLst/>
                <a:rect l="l" t="t" r="r" b="b"/>
                <a:pathLst>
                  <a:path w="3905250" h="9525">
                    <a:moveTo>
                      <a:pt x="0" y="0"/>
                    </a:moveTo>
                    <a:lnTo>
                      <a:pt x="3905250" y="0"/>
                    </a:lnTo>
                  </a:path>
                </a:pathLst>
              </a:custGeom>
              <a:noFill/>
              <a:ln w="9525">
                <a:solidFill>
                  <a:schemeClr val="accent6"/>
                </a:solidFill>
              </a:ln>
            </p:spPr>
          </p:sp>
          <p:sp>
            <p:nvSpPr>
              <p:cNvPr id="15" name="TextBox 15"/>
              <p:cNvSpPr txBox="1"/>
              <p:nvPr/>
            </p:nvSpPr>
            <p:spPr>
              <a:xfrm>
                <a:off x="980694" y="2102168"/>
                <a:ext cx="740664"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演示学生</a:t>
                </a:r>
              </a:p>
            </p:txBody>
          </p:sp>
          <p:sp>
            <p:nvSpPr>
              <p:cNvPr id="16" name="Rectangle 16"/>
              <p:cNvSpPr/>
              <p:nvPr/>
            </p:nvSpPr>
            <p:spPr>
              <a:xfrm>
                <a:off x="1809750" y="2038350"/>
                <a:ext cx="3619500" cy="304800"/>
              </a:xfrm>
              <a:prstGeom prst="roundRect">
                <a:avLst>
                  <a:gd name="adj" fmla="val 18750"/>
                </a:avLst>
              </a:prstGeom>
              <a:solidFill>
                <a:schemeClr val="accent2"/>
              </a:solidFill>
              <a:ln>
                <a:noFill/>
              </a:ln>
            </p:spPr>
          </p:sp>
          <p:sp>
            <p:nvSpPr>
              <p:cNvPr id="17" name="TextBox 17"/>
              <p:cNvSpPr txBox="1"/>
              <p:nvPr/>
            </p:nvSpPr>
            <p:spPr>
              <a:xfrm>
                <a:off x="1917192" y="2102168"/>
                <a:ext cx="46260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20 分</a:t>
                </a:r>
              </a:p>
            </p:txBody>
          </p:sp>
          <p:sp>
            <p:nvSpPr>
              <p:cNvPr id="18" name="TextBox 18"/>
              <p:cNvSpPr txBox="1"/>
              <p:nvPr/>
            </p:nvSpPr>
            <p:spPr>
              <a:xfrm>
                <a:off x="4735620" y="2102168"/>
                <a:ext cx="586188" cy="264033"/>
              </a:xfrm>
              <a:prstGeom prst="rect">
                <a:avLst/>
              </a:prstGeom>
              <a:noFill/>
              <a:ln>
                <a:noFill/>
              </a:ln>
            </p:spPr>
            <p:txBody>
              <a:bodyPr wrap="none" lIns="0" tIns="0" rIns="0" bIns="0" anchor="t" anchorCtr="0">
                <a:spAutoFit/>
              </a:bodyPr>
              <a:lstStyle/>
              <a:p>
                <a:pPr algn="r"/>
                <a:r>
                  <a:rPr lang="zh-CN" sz="1350" dirty="0">
                    <a:solidFill>
                      <a:srgbClr val="FFFFFF"/>
                    </a:solidFill>
                    <a:latin typeface="+mn-lt"/>
                    <a:ea typeface="+mn-ea"/>
                    <a:cs typeface="+mn-cs"/>
                  </a:rPr>
                  <a:t>第 1 名</a:t>
                </a:r>
              </a:p>
            </p:txBody>
          </p:sp>
          <p:sp>
            <p:nvSpPr>
              <p:cNvPr id="19" name="TextBox 19"/>
              <p:cNvSpPr txBox="1"/>
              <p:nvPr/>
            </p:nvSpPr>
            <p:spPr>
              <a:xfrm>
                <a:off x="1162431" y="2578418"/>
                <a:ext cx="558927"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学生乙</a:t>
                </a:r>
              </a:p>
            </p:txBody>
          </p:sp>
          <p:sp>
            <p:nvSpPr>
              <p:cNvPr id="20" name="Rectangle 20"/>
              <p:cNvSpPr/>
              <p:nvPr/>
            </p:nvSpPr>
            <p:spPr>
              <a:xfrm>
                <a:off x="1809750" y="2514600"/>
                <a:ext cx="1809750" cy="304800"/>
              </a:xfrm>
              <a:prstGeom prst="roundRect">
                <a:avLst>
                  <a:gd name="adj" fmla="val 18750"/>
                </a:avLst>
              </a:prstGeom>
              <a:solidFill>
                <a:schemeClr val="accent1"/>
              </a:solidFill>
              <a:ln>
                <a:noFill/>
              </a:ln>
            </p:spPr>
          </p:sp>
          <p:sp>
            <p:nvSpPr>
              <p:cNvPr id="21" name="TextBox 21"/>
              <p:cNvSpPr txBox="1"/>
              <p:nvPr/>
            </p:nvSpPr>
            <p:spPr>
              <a:xfrm>
                <a:off x="1917192" y="2578418"/>
                <a:ext cx="46260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10 分</a:t>
                </a:r>
              </a:p>
            </p:txBody>
          </p:sp>
          <p:sp>
            <p:nvSpPr>
              <p:cNvPr id="22" name="TextBox 22"/>
              <p:cNvSpPr txBox="1"/>
              <p:nvPr/>
            </p:nvSpPr>
            <p:spPr>
              <a:xfrm>
                <a:off x="2925870" y="2578418"/>
                <a:ext cx="586188" cy="264033"/>
              </a:xfrm>
              <a:prstGeom prst="rect">
                <a:avLst/>
              </a:prstGeom>
              <a:noFill/>
              <a:ln>
                <a:noFill/>
              </a:ln>
            </p:spPr>
            <p:txBody>
              <a:bodyPr wrap="none" lIns="0" tIns="0" rIns="0" bIns="0" anchor="t" anchorCtr="0">
                <a:spAutoFit/>
              </a:bodyPr>
              <a:lstStyle/>
              <a:p>
                <a:pPr algn="r"/>
                <a:r>
                  <a:rPr lang="zh-CN" sz="1350" dirty="0">
                    <a:solidFill>
                      <a:srgbClr val="FFFFFF"/>
                    </a:solidFill>
                    <a:latin typeface="+mn-lt"/>
                    <a:ea typeface="+mn-ea"/>
                    <a:cs typeface="+mn-cs"/>
                  </a:rPr>
                  <a:t>第 2 名</a:t>
                </a:r>
              </a:p>
            </p:txBody>
          </p:sp>
          <p:sp>
            <p:nvSpPr>
              <p:cNvPr id="23" name="TextBox 23"/>
              <p:cNvSpPr txBox="1"/>
              <p:nvPr/>
            </p:nvSpPr>
            <p:spPr>
              <a:xfrm>
                <a:off x="1162431" y="3054668"/>
                <a:ext cx="558927"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学生丙</a:t>
                </a:r>
              </a:p>
            </p:txBody>
          </p:sp>
          <p:sp>
            <p:nvSpPr>
              <p:cNvPr id="24" name="Rectangle 24"/>
              <p:cNvSpPr/>
              <p:nvPr/>
            </p:nvSpPr>
            <p:spPr>
              <a:xfrm>
                <a:off x="1809750" y="2990850"/>
                <a:ext cx="1809750" cy="304800"/>
              </a:xfrm>
              <a:prstGeom prst="roundRect">
                <a:avLst>
                  <a:gd name="adj" fmla="val 18750"/>
                </a:avLst>
              </a:prstGeom>
              <a:solidFill>
                <a:schemeClr val="accent1"/>
              </a:solidFill>
              <a:ln>
                <a:noFill/>
              </a:ln>
            </p:spPr>
          </p:sp>
          <p:sp>
            <p:nvSpPr>
              <p:cNvPr id="25" name="TextBox 25"/>
              <p:cNvSpPr txBox="1"/>
              <p:nvPr/>
            </p:nvSpPr>
            <p:spPr>
              <a:xfrm>
                <a:off x="1917192" y="3054668"/>
                <a:ext cx="462606"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10 分</a:t>
                </a:r>
              </a:p>
            </p:txBody>
          </p:sp>
          <p:sp>
            <p:nvSpPr>
              <p:cNvPr id="26" name="TextBox 26"/>
              <p:cNvSpPr txBox="1"/>
              <p:nvPr/>
            </p:nvSpPr>
            <p:spPr>
              <a:xfrm>
                <a:off x="2925870" y="3054668"/>
                <a:ext cx="586188" cy="264033"/>
              </a:xfrm>
              <a:prstGeom prst="rect">
                <a:avLst/>
              </a:prstGeom>
              <a:noFill/>
              <a:ln>
                <a:noFill/>
              </a:ln>
            </p:spPr>
            <p:txBody>
              <a:bodyPr wrap="none" lIns="0" tIns="0" rIns="0" bIns="0" anchor="t" anchorCtr="0">
                <a:spAutoFit/>
              </a:bodyPr>
              <a:lstStyle/>
              <a:p>
                <a:pPr algn="r"/>
                <a:r>
                  <a:rPr lang="zh-CN" sz="1350" dirty="0">
                    <a:solidFill>
                      <a:srgbClr val="FFFFFF"/>
                    </a:solidFill>
                    <a:latin typeface="+mn-lt"/>
                    <a:ea typeface="+mn-ea"/>
                    <a:cs typeface="+mn-cs"/>
                  </a:rPr>
                  <a:t>第 2 名</a:t>
                </a:r>
              </a:p>
            </p:txBody>
          </p:sp>
          <p:sp>
            <p:nvSpPr>
              <p:cNvPr id="27" name="TextBox 27"/>
              <p:cNvSpPr txBox="1"/>
              <p:nvPr/>
            </p:nvSpPr>
            <p:spPr>
              <a:xfrm>
                <a:off x="1162431" y="3530918"/>
                <a:ext cx="558927"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学生丁</a:t>
                </a:r>
              </a:p>
            </p:txBody>
          </p:sp>
          <p:sp>
            <p:nvSpPr>
              <p:cNvPr id="28" name="Rectangle 28"/>
              <p:cNvSpPr/>
              <p:nvPr/>
            </p:nvSpPr>
            <p:spPr>
              <a:xfrm>
                <a:off x="1809750" y="3467100"/>
                <a:ext cx="38100" cy="304800"/>
              </a:xfrm>
              <a:prstGeom prst="roundRect">
                <a:avLst>
                  <a:gd name="adj" fmla="val 50000"/>
                </a:avLst>
              </a:prstGeom>
              <a:solidFill>
                <a:srgbClr val="5A6675"/>
              </a:solidFill>
              <a:ln>
                <a:noFill/>
              </a:ln>
            </p:spPr>
          </p:sp>
          <p:sp>
            <p:nvSpPr>
              <p:cNvPr id="29" name="TextBox 29"/>
              <p:cNvSpPr txBox="1"/>
              <p:nvPr/>
            </p:nvSpPr>
            <p:spPr>
              <a:xfrm>
                <a:off x="1936242" y="3530918"/>
                <a:ext cx="113139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0 分 · 第 4 名</a:t>
                </a:r>
              </a:p>
            </p:txBody>
          </p:sp>
        </p:grpSp>
      </p:grpSp>
      <p:grpSp>
        <p:nvGrpSpPr>
          <p:cNvPr id="34" name="Group 34"/>
          <p:cNvGrpSpPr/>
          <p:nvPr/>
        </p:nvGrpSpPr>
        <p:grpSpPr>
          <a:xfrm>
            <a:off x="600456" y="3996690"/>
            <a:ext cx="3950608" cy="541211"/>
            <a:chOff x="600456" y="3996690"/>
            <a:chExt cx="3950608" cy="541211"/>
          </a:xfrm>
        </p:grpSpPr>
        <p:sp>
          <p:nvSpPr>
            <p:cNvPr id="32" name="TextBox 32"/>
            <p:cNvSpPr txBox="1"/>
            <p:nvPr/>
          </p:nvSpPr>
          <p:spPr>
            <a:xfrm>
              <a:off x="600456" y="3996690"/>
              <a:ext cx="226092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客观题 20 而不是 30</a:t>
              </a:r>
            </a:p>
          </p:txBody>
        </p:sp>
        <p:sp>
          <p:nvSpPr>
            <p:cNvPr id="33" name="TextBox 33"/>
            <p:cNvSpPr txBox="1"/>
            <p:nvPr/>
          </p:nvSpPr>
          <p:spPr>
            <a:xfrm>
              <a:off x="602742" y="4273868"/>
              <a:ext cx="394832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单选对 10、多选少选 0、判断对 10；不给部分分</a:t>
              </a:r>
            </a:p>
          </p:txBody>
        </p:sp>
      </p:grpSp>
      <p:grpSp>
        <p:nvGrpSpPr>
          <p:cNvPr id="37" name="Group 37"/>
          <p:cNvGrpSpPr/>
          <p:nvPr/>
        </p:nvGrpSpPr>
        <p:grpSpPr>
          <a:xfrm>
            <a:off x="600456" y="4587240"/>
            <a:ext cx="4019531" cy="541211"/>
            <a:chOff x="600456" y="4587240"/>
            <a:chExt cx="4019531" cy="541211"/>
          </a:xfrm>
        </p:grpSpPr>
        <p:sp>
          <p:nvSpPr>
            <p:cNvPr id="35" name="TextBox 35"/>
            <p:cNvSpPr txBox="1"/>
            <p:nvPr/>
          </p:nvSpPr>
          <p:spPr>
            <a:xfrm>
              <a:off x="600456" y="4587240"/>
              <a:ext cx="4019531"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及格率 25.0% 的前提是及格线 12 分</a:t>
              </a:r>
            </a:p>
          </p:txBody>
        </p:sp>
        <p:sp>
          <p:nvSpPr>
            <p:cNvPr id="36" name="TextBox 36"/>
            <p:cNvSpPr txBox="1"/>
            <p:nvPr/>
          </p:nvSpPr>
          <p:spPr>
            <a:xfrm>
              <a:off x="602742" y="4864418"/>
              <a:ext cx="31759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改成 50% 后降到 10 分，立刻变 75.0%</a:t>
              </a:r>
            </a:p>
          </p:txBody>
        </p:sp>
      </p:grpSp>
      <p:grpSp>
        <p:nvGrpSpPr>
          <p:cNvPr id="40" name="Group 40"/>
          <p:cNvGrpSpPr/>
          <p:nvPr/>
        </p:nvGrpSpPr>
        <p:grpSpPr>
          <a:xfrm>
            <a:off x="600456" y="5177790"/>
            <a:ext cx="3105531" cy="541211"/>
            <a:chOff x="600456" y="5177790"/>
            <a:chExt cx="3105531" cy="541211"/>
          </a:xfrm>
        </p:grpSpPr>
        <p:sp>
          <p:nvSpPr>
            <p:cNvPr id="38" name="TextBox 38"/>
            <p:cNvSpPr txBox="1"/>
            <p:nvPr/>
          </p:nvSpPr>
          <p:spPr>
            <a:xfrm>
              <a:off x="600456" y="5177790"/>
              <a:ext cx="268376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平均分只算已评完的答卷</a:t>
              </a:r>
            </a:p>
          </p:txBody>
        </p:sp>
        <p:sp>
          <p:nvSpPr>
            <p:cNvPr id="39" name="TextBox 39"/>
            <p:cNvSpPr txBox="1"/>
            <p:nvPr/>
          </p:nvSpPr>
          <p:spPr>
            <a:xfrm>
              <a:off x="602742" y="5454968"/>
              <a:ext cx="310324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否则会得出随阅卷进度变化的假平均分</a:t>
              </a:r>
            </a:p>
          </p:txBody>
        </p:sp>
      </p:grpSp>
      <p:grpSp>
        <p:nvGrpSpPr>
          <p:cNvPr id="45" name="Group 45"/>
          <p:cNvGrpSpPr/>
          <p:nvPr/>
        </p:nvGrpSpPr>
        <p:grpSpPr>
          <a:xfrm>
            <a:off x="6241542" y="1683068"/>
            <a:ext cx="5340858" cy="4226433"/>
            <a:chOff x="6241542" y="1683068"/>
            <a:chExt cx="5340858" cy="4226433"/>
          </a:xfrm>
        </p:grpSpPr>
        <p:sp>
          <p:nvSpPr>
            <p:cNvPr id="41" name="TextBox 41"/>
            <p:cNvSpPr txBox="1"/>
            <p:nvPr/>
          </p:nvSpPr>
          <p:spPr>
            <a:xfrm>
              <a:off x="6241542" y="1683068"/>
              <a:ext cx="255803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统计分析页：口径与成绩页同源</a:t>
              </a:r>
            </a:p>
          </p:txBody>
        </p:sp>
        <p:sp>
          <p:nvSpPr>
            <p:cNvPr id="42" name="Rectangle 42"/>
            <p:cNvSpPr/>
            <p:nvPr/>
          </p:nvSpPr>
          <p:spPr>
            <a:xfrm>
              <a:off x="6248400" y="1962150"/>
              <a:ext cx="5334000" cy="3333750"/>
            </a:xfrm>
            <a:prstGeom prst="roundRect">
              <a:avLst>
                <a:gd name="adj" fmla="val 5143"/>
              </a:avLst>
            </a:prstGeom>
            <a:solidFill>
              <a:schemeClr val="lt2"/>
            </a:solidFill>
            <a:ln w="9525">
              <a:solidFill>
                <a:schemeClr val="accent6"/>
              </a:solidFill>
            </a:ln>
          </p:spPr>
        </p:sp>
        <p:pic>
          <p:nvPicPr>
            <p:cNvPr id="43" name="Image 43"/>
            <p:cNvPicPr>
              <a:picLocks noChangeAspect="1"/>
            </p:cNvPicPr>
            <p:nvPr/>
          </p:nvPicPr>
          <p:blipFill>
            <a:blip r:embed="rId2"/>
            <a:stretch>
              <a:fillRect/>
            </a:stretch>
          </p:blipFill>
          <p:spPr>
            <a:xfrm>
              <a:off x="6248400" y="1962150"/>
              <a:ext cx="5334000" cy="3333750"/>
            </a:xfrm>
            <a:prstGeom prst="rect">
              <a:avLst/>
            </a:prstGeom>
          </p:spPr>
        </p:pic>
        <p:sp>
          <p:nvSpPr>
            <p:cNvPr id="44" name="TextBox 44"/>
            <p:cNvSpPr txBox="1"/>
            <p:nvPr/>
          </p:nvSpPr>
          <p:spPr>
            <a:xfrm>
              <a:off x="6241542" y="5416868"/>
              <a:ext cx="292836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及格线写明算式「24 分 = 40 × 60%」</a:t>
              </a:r>
              <a:br/>
              <a:r>
                <a:rPr lang="zh-CN" sz="1350" dirty="0">
                  <a:solidFill>
                    <a:schemeClr val="dk1"/>
                  </a:solidFill>
                  <a:latin typeface="+mn-lt"/>
                  <a:ea typeface="+mn-ea"/>
                  <a:cs typeface="+mn-cs"/>
                </a:rPr>
                <a:t>主观题正确率显示 —，改看得分率 80%</a:t>
              </a:r>
            </a:p>
          </p:txBody>
        </p:sp>
      </p:grpSp>
      <p:grpSp>
        <p:nvGrpSpPr>
          <p:cNvPr id="49" name="Group 49"/>
          <p:cNvGrpSpPr/>
          <p:nvPr/>
        </p:nvGrpSpPr>
        <p:grpSpPr>
          <a:xfrm>
            <a:off x="603885" y="6172200"/>
            <a:ext cx="10984230" cy="308134"/>
            <a:chOff x="603885" y="6172200"/>
            <a:chExt cx="10984230" cy="308134"/>
          </a:xfrm>
        </p:grpSpPr>
        <p:sp>
          <p:nvSpPr>
            <p:cNvPr id="46" name="Line 46"/>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47" name="TextBox 47"/>
            <p:cNvSpPr txBox="1"/>
            <p:nvPr/>
          </p:nvSpPr>
          <p:spPr>
            <a:xfrm>
              <a:off x="603885" y="6260306"/>
              <a:ext cx="7440174"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逐个数字的成因见 docs/project-report.md 第 5 节；真实 MySQL 9.6 复现输出见 docs/test-records.md</a:t>
              </a:r>
            </a:p>
          </p:txBody>
        </p:sp>
        <p:sp>
          <p:nvSpPr>
            <p:cNvPr id="48" name="TextBox 48"/>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18 / 21</a:t>
              </a:r>
            </a:p>
          </p:txBody>
        </p:sp>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6"/>
            </a:solidFill>
            <a:ln>
              <a:noFill/>
            </a:ln>
          </p:spPr>
        </p:sp>
        <p:sp>
          <p:nvSpPr>
            <p:cNvPr id="3" name="Rectangle 3"/>
            <p:cNvSpPr/>
            <p:nvPr/>
          </p:nvSpPr>
          <p:spPr>
            <a:xfrm>
              <a:off x="914400" y="342900"/>
              <a:ext cx="247650" cy="76200"/>
            </a:xfrm>
            <a:prstGeom prst="roundRect">
              <a:avLst>
                <a:gd name="adj" fmla="val 50000"/>
              </a:avLst>
            </a:prstGeom>
            <a:solidFill>
              <a:schemeClr val="accent6"/>
            </a:solidFill>
            <a:ln>
              <a:noFill/>
            </a:ln>
          </p:spPr>
        </p:sp>
        <p:sp>
          <p:nvSpPr>
            <p:cNvPr id="4" name="Rectangle 4"/>
            <p:cNvSpPr/>
            <p:nvPr/>
          </p:nvSpPr>
          <p:spPr>
            <a:xfrm>
              <a:off x="1219200" y="342900"/>
              <a:ext cx="247650" cy="76200"/>
            </a:xfrm>
            <a:prstGeom prst="roundRect">
              <a:avLst>
                <a:gd name="adj" fmla="val 50000"/>
              </a:avLst>
            </a:prstGeom>
            <a:solidFill>
              <a:schemeClr val="accent6"/>
            </a:solidFill>
            <a:ln>
              <a:noFill/>
            </a:ln>
          </p:spPr>
        </p:sp>
        <p:sp>
          <p:nvSpPr>
            <p:cNvPr id="5" name="Rectangle 5"/>
            <p:cNvSpPr/>
            <p:nvPr/>
          </p:nvSpPr>
          <p:spPr>
            <a:xfrm>
              <a:off x="1524000" y="342900"/>
              <a:ext cx="247650" cy="76200"/>
            </a:xfrm>
            <a:prstGeom prst="roundRect">
              <a:avLst>
                <a:gd name="adj" fmla="val 50000"/>
              </a:avLst>
            </a:prstGeom>
            <a:solidFill>
              <a:schemeClr val="accent6"/>
            </a:solidFill>
            <a:ln>
              <a:noFill/>
            </a:ln>
          </p:spPr>
        </p:sp>
        <p:sp>
          <p:nvSpPr>
            <p:cNvPr id="6" name="Rectangle 6"/>
            <p:cNvSpPr/>
            <p:nvPr/>
          </p:nvSpPr>
          <p:spPr>
            <a:xfrm>
              <a:off x="1828800" y="342900"/>
              <a:ext cx="247650" cy="76200"/>
            </a:xfrm>
            <a:prstGeom prst="roundRect">
              <a:avLst>
                <a:gd name="adj" fmla="val 50000"/>
              </a:avLst>
            </a:prstGeom>
            <a:solidFill>
              <a:schemeClr val="accent6"/>
            </a:solidFill>
            <a:ln>
              <a:noFill/>
            </a:ln>
          </p:spPr>
        </p:sp>
        <p:sp>
          <p:nvSpPr>
            <p:cNvPr id="7" name="Rectangle 7"/>
            <p:cNvSpPr/>
            <p:nvPr/>
          </p:nvSpPr>
          <p:spPr>
            <a:xfrm>
              <a:off x="2133600" y="342900"/>
              <a:ext cx="247650" cy="76200"/>
            </a:xfrm>
            <a:prstGeom prst="roundRect">
              <a:avLst>
                <a:gd name="adj" fmla="val 50000"/>
              </a:avLst>
            </a:prstGeom>
            <a:solidFill>
              <a:schemeClr val="accent6"/>
            </a:solidFill>
            <a:ln>
              <a:noFill/>
            </a:ln>
          </p:spPr>
        </p:sp>
        <p:sp>
          <p:nvSpPr>
            <p:cNvPr id="8" name="TextBox 8"/>
            <p:cNvSpPr txBox="1"/>
            <p:nvPr/>
          </p:nvSpPr>
          <p:spPr>
            <a:xfrm>
              <a:off x="2507742" y="311468"/>
              <a:ext cx="1676610"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五 · 运行结果与验证</a:t>
              </a:r>
            </a:p>
          </p:txBody>
        </p:sp>
        <p:sp>
          <p:nvSpPr>
            <p:cNvPr id="9" name="TextBox 9"/>
            <p:cNvSpPr txBox="1"/>
            <p:nvPr/>
          </p:nvSpPr>
          <p:spPr>
            <a:xfrm>
              <a:off x="593598" y="726758"/>
              <a:ext cx="427253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测试与验证的四层证据</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36" name="Group 36"/>
          <p:cNvGrpSpPr/>
          <p:nvPr/>
        </p:nvGrpSpPr>
        <p:grpSpPr>
          <a:xfrm>
            <a:off x="609600" y="1676400"/>
            <a:ext cx="5334000" cy="3086100"/>
            <a:chOff x="609600" y="1676400"/>
            <a:chExt cx="5334000" cy="3086100"/>
          </a:xfrm>
        </p:grpSpPr>
        <p:sp>
          <p:nvSpPr>
            <p:cNvPr id="12" name="Rectangle 12"/>
            <p:cNvSpPr/>
            <p:nvPr/>
          </p:nvSpPr>
          <p:spPr>
            <a:xfrm>
              <a:off x="609600" y="1676400"/>
              <a:ext cx="5334000" cy="419100"/>
            </a:xfrm>
            <a:prstGeom prst="roundRect">
              <a:avLst>
                <a:gd name="adj" fmla="val 31818"/>
              </a:avLst>
            </a:prstGeom>
            <a:solidFill>
              <a:schemeClr val="accent1"/>
            </a:solidFill>
            <a:ln>
              <a:noFill/>
            </a:ln>
          </p:spPr>
        </p:sp>
        <p:sp>
          <p:nvSpPr>
            <p:cNvPr id="13" name="Rectangle 13"/>
            <p:cNvSpPr/>
            <p:nvPr/>
          </p:nvSpPr>
          <p:spPr>
            <a:xfrm>
              <a:off x="609600" y="2171700"/>
              <a:ext cx="2857500" cy="2590800"/>
            </a:xfrm>
            <a:prstGeom prst="roundRect">
              <a:avLst>
                <a:gd name="adj" fmla="val 5147"/>
              </a:avLst>
            </a:prstGeom>
            <a:solidFill>
              <a:schemeClr val="lt2"/>
            </a:solidFill>
            <a:ln>
              <a:noFill/>
            </a:ln>
          </p:spPr>
        </p:sp>
        <p:sp>
          <p:nvSpPr>
            <p:cNvPr id="14" name="TextBox 14"/>
            <p:cNvSpPr txBox="1"/>
            <p:nvPr/>
          </p:nvSpPr>
          <p:spPr>
            <a:xfrm>
              <a:off x="717042" y="1806892"/>
              <a:ext cx="558927"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验证项</a:t>
              </a:r>
            </a:p>
          </p:txBody>
        </p:sp>
        <p:sp>
          <p:nvSpPr>
            <p:cNvPr id="15" name="TextBox 15"/>
            <p:cNvSpPr txBox="1"/>
            <p:nvPr/>
          </p:nvSpPr>
          <p:spPr>
            <a:xfrm>
              <a:off x="4125468" y="1806892"/>
              <a:ext cx="377190" cy="264033"/>
            </a:xfrm>
            <a:prstGeom prst="rect">
              <a:avLst/>
            </a:prstGeom>
            <a:noFill/>
            <a:ln>
              <a:noFill/>
            </a:ln>
          </p:spPr>
          <p:txBody>
            <a:bodyPr wrap="none" lIns="0" tIns="0" rIns="0" bIns="0" anchor="t" anchorCtr="0">
              <a:spAutoFit/>
            </a:bodyPr>
            <a:lstStyle/>
            <a:p>
              <a:pPr algn="r"/>
              <a:r>
                <a:rPr lang="zh-CN" sz="1350" b="1" dirty="0">
                  <a:solidFill>
                    <a:srgbClr val="FFFFFF"/>
                  </a:solidFill>
                  <a:latin typeface="+mn-lt"/>
                  <a:ea typeface="+mn-ea"/>
                  <a:cs typeface="+mn-cs"/>
                </a:rPr>
                <a:t>数量</a:t>
              </a:r>
            </a:p>
          </p:txBody>
        </p:sp>
        <p:sp>
          <p:nvSpPr>
            <p:cNvPr id="16" name="TextBox 16"/>
            <p:cNvSpPr txBox="1"/>
            <p:nvPr/>
          </p:nvSpPr>
          <p:spPr>
            <a:xfrm>
              <a:off x="4717542" y="1806892"/>
              <a:ext cx="377190" cy="264033"/>
            </a:xfrm>
            <a:prstGeom prst="rect">
              <a:avLst/>
            </a:prstGeom>
            <a:noFill/>
            <a:ln>
              <a:noFill/>
            </a:ln>
          </p:spPr>
          <p:txBody>
            <a:bodyPr wrap="none" lIns="0" tIns="0" rIns="0" bIns="0" anchor="t" anchorCtr="0">
              <a:spAutoFit/>
            </a:bodyPr>
            <a:lstStyle/>
            <a:p>
              <a:pPr algn="l"/>
              <a:r>
                <a:rPr lang="zh-CN" sz="1350" b="1" dirty="0">
                  <a:solidFill>
                    <a:srgbClr val="FFFFFF"/>
                  </a:solidFill>
                  <a:latin typeface="+mn-lt"/>
                  <a:ea typeface="+mn-ea"/>
                  <a:cs typeface="+mn-cs"/>
                </a:rPr>
                <a:t>结果</a:t>
              </a:r>
            </a:p>
          </p:txBody>
        </p:sp>
        <p:sp>
          <p:nvSpPr>
            <p:cNvPr id="17" name="Line 17"/>
            <p:cNvSpPr/>
            <p:nvPr/>
          </p:nvSpPr>
          <p:spPr>
            <a:xfrm>
              <a:off x="609600" y="2628900"/>
              <a:ext cx="5334000" cy="9525"/>
            </a:xfrm>
            <a:custGeom>
              <a:avLst/>
              <a:gdLst/>
              <a:ahLst/>
              <a:cxnLst/>
              <a:rect l="l" t="t" r="r" b="b"/>
              <a:pathLst>
                <a:path w="5334000" h="9525">
                  <a:moveTo>
                    <a:pt x="0" y="0"/>
                  </a:moveTo>
                  <a:lnTo>
                    <a:pt x="5334000" y="0"/>
                  </a:lnTo>
                </a:path>
              </a:pathLst>
            </a:custGeom>
            <a:noFill/>
            <a:ln w="9525">
              <a:solidFill>
                <a:schemeClr val="accent6"/>
              </a:solidFill>
            </a:ln>
          </p:spPr>
        </p:sp>
        <p:sp>
          <p:nvSpPr>
            <p:cNvPr id="18" name="Line 18"/>
            <p:cNvSpPr/>
            <p:nvPr/>
          </p:nvSpPr>
          <p:spPr>
            <a:xfrm>
              <a:off x="609600" y="3162300"/>
              <a:ext cx="5334000" cy="9525"/>
            </a:xfrm>
            <a:custGeom>
              <a:avLst/>
              <a:gdLst/>
              <a:ahLst/>
              <a:cxnLst/>
              <a:rect l="l" t="t" r="r" b="b"/>
              <a:pathLst>
                <a:path w="5334000" h="9525">
                  <a:moveTo>
                    <a:pt x="0" y="0"/>
                  </a:moveTo>
                  <a:lnTo>
                    <a:pt x="5334000" y="0"/>
                  </a:lnTo>
                </a:path>
              </a:pathLst>
            </a:custGeom>
            <a:noFill/>
            <a:ln w="9525">
              <a:solidFill>
                <a:schemeClr val="accent6"/>
              </a:solidFill>
            </a:ln>
          </p:spPr>
        </p:sp>
        <p:sp>
          <p:nvSpPr>
            <p:cNvPr id="19" name="Line 19"/>
            <p:cNvSpPr/>
            <p:nvPr/>
          </p:nvSpPr>
          <p:spPr>
            <a:xfrm>
              <a:off x="609600" y="3695700"/>
              <a:ext cx="5334000" cy="9525"/>
            </a:xfrm>
            <a:custGeom>
              <a:avLst/>
              <a:gdLst/>
              <a:ahLst/>
              <a:cxnLst/>
              <a:rect l="l" t="t" r="r" b="b"/>
              <a:pathLst>
                <a:path w="5334000" h="9525">
                  <a:moveTo>
                    <a:pt x="0" y="0"/>
                  </a:moveTo>
                  <a:lnTo>
                    <a:pt x="5334000" y="0"/>
                  </a:lnTo>
                </a:path>
              </a:pathLst>
            </a:custGeom>
            <a:noFill/>
            <a:ln w="9525">
              <a:solidFill>
                <a:schemeClr val="accent6"/>
              </a:solidFill>
            </a:ln>
          </p:spPr>
        </p:sp>
        <p:sp>
          <p:nvSpPr>
            <p:cNvPr id="20" name="Line 20"/>
            <p:cNvSpPr/>
            <p:nvPr/>
          </p:nvSpPr>
          <p:spPr>
            <a:xfrm>
              <a:off x="609600" y="4229100"/>
              <a:ext cx="5334000" cy="9525"/>
            </a:xfrm>
            <a:custGeom>
              <a:avLst/>
              <a:gdLst/>
              <a:ahLst/>
              <a:cxnLst/>
              <a:rect l="l" t="t" r="r" b="b"/>
              <a:pathLst>
                <a:path w="5334000" h="9525">
                  <a:moveTo>
                    <a:pt x="0" y="0"/>
                  </a:moveTo>
                  <a:lnTo>
                    <a:pt x="5334000" y="0"/>
                  </a:lnTo>
                </a:path>
              </a:pathLst>
            </a:custGeom>
            <a:noFill/>
            <a:ln w="9525">
              <a:solidFill>
                <a:schemeClr val="accent6"/>
              </a:solidFill>
            </a:ln>
          </p:spPr>
        </p:sp>
        <p:sp>
          <p:nvSpPr>
            <p:cNvPr id="21" name="TextBox 21"/>
            <p:cNvSpPr txBox="1"/>
            <p:nvPr/>
          </p:nvSpPr>
          <p:spPr>
            <a:xfrm>
              <a:off x="717042" y="2273618"/>
              <a:ext cx="1285875"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后端自动化测试</a:t>
              </a:r>
            </a:p>
          </p:txBody>
        </p:sp>
        <p:sp>
          <p:nvSpPr>
            <p:cNvPr id="22" name="TextBox 22"/>
            <p:cNvSpPr txBox="1"/>
            <p:nvPr/>
          </p:nvSpPr>
          <p:spPr>
            <a:xfrm>
              <a:off x="4289031" y="2273618"/>
              <a:ext cx="213627"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55</a:t>
              </a:r>
            </a:p>
          </p:txBody>
        </p:sp>
        <p:sp>
          <p:nvSpPr>
            <p:cNvPr id="23" name="TextBox 23"/>
            <p:cNvSpPr txBox="1"/>
            <p:nvPr/>
          </p:nvSpPr>
          <p:spPr>
            <a:xfrm>
              <a:off x="4717542" y="2273618"/>
              <a:ext cx="740664" cy="264033"/>
            </a:xfrm>
            <a:prstGeom prst="rect">
              <a:avLst/>
            </a:prstGeom>
            <a:noFill/>
            <a:ln>
              <a:noFill/>
            </a:ln>
          </p:spPr>
          <p:txBody>
            <a:bodyPr wrap="none" lIns="0" tIns="0" rIns="0" bIns="0" anchor="t" anchorCtr="0">
              <a:spAutoFit/>
            </a:bodyPr>
            <a:lstStyle/>
            <a:p>
              <a:pPr algn="l"/>
              <a:r>
                <a:rPr lang="zh-CN" sz="1350" dirty="0">
                  <a:solidFill>
                    <a:srgbClr val="2E7D32"/>
                  </a:solidFill>
                  <a:latin typeface="+mn-lt"/>
                  <a:ea typeface="+mn-ea"/>
                  <a:cs typeface="+mn-cs"/>
                </a:rPr>
                <a:t>全部通过</a:t>
              </a:r>
            </a:p>
          </p:txBody>
        </p:sp>
        <p:sp>
          <p:nvSpPr>
            <p:cNvPr id="24" name="TextBox 24"/>
            <p:cNvSpPr txBox="1"/>
            <p:nvPr/>
          </p:nvSpPr>
          <p:spPr>
            <a:xfrm>
              <a:off x="717042" y="2807018"/>
              <a:ext cx="1285875"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前端自动化测试</a:t>
              </a:r>
            </a:p>
          </p:txBody>
        </p:sp>
        <p:sp>
          <p:nvSpPr>
            <p:cNvPr id="25" name="TextBox 25"/>
            <p:cNvSpPr txBox="1"/>
            <p:nvPr/>
          </p:nvSpPr>
          <p:spPr>
            <a:xfrm>
              <a:off x="4289031" y="2807018"/>
              <a:ext cx="213627"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55</a:t>
              </a:r>
            </a:p>
          </p:txBody>
        </p:sp>
        <p:sp>
          <p:nvSpPr>
            <p:cNvPr id="26" name="TextBox 26"/>
            <p:cNvSpPr txBox="1"/>
            <p:nvPr/>
          </p:nvSpPr>
          <p:spPr>
            <a:xfrm>
              <a:off x="4717542" y="2807018"/>
              <a:ext cx="740664" cy="264033"/>
            </a:xfrm>
            <a:prstGeom prst="rect">
              <a:avLst/>
            </a:prstGeom>
            <a:noFill/>
            <a:ln>
              <a:noFill/>
            </a:ln>
          </p:spPr>
          <p:txBody>
            <a:bodyPr wrap="none" lIns="0" tIns="0" rIns="0" bIns="0" anchor="t" anchorCtr="0">
              <a:spAutoFit/>
            </a:bodyPr>
            <a:lstStyle/>
            <a:p>
              <a:pPr algn="l"/>
              <a:r>
                <a:rPr lang="zh-CN" sz="1350" dirty="0">
                  <a:solidFill>
                    <a:srgbClr val="2E7D32"/>
                  </a:solidFill>
                  <a:latin typeface="+mn-lt"/>
                  <a:ea typeface="+mn-ea"/>
                  <a:cs typeface="+mn-cs"/>
                </a:rPr>
                <a:t>全部通过</a:t>
              </a:r>
            </a:p>
          </p:txBody>
        </p:sp>
        <p:sp>
          <p:nvSpPr>
            <p:cNvPr id="27" name="TextBox 27"/>
            <p:cNvSpPr txBox="1"/>
            <p:nvPr/>
          </p:nvSpPr>
          <p:spPr>
            <a:xfrm>
              <a:off x="717042" y="3340418"/>
              <a:ext cx="7406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静态验证</a:t>
              </a:r>
            </a:p>
          </p:txBody>
        </p:sp>
        <p:sp>
          <p:nvSpPr>
            <p:cNvPr id="28" name="TextBox 28"/>
            <p:cNvSpPr txBox="1"/>
            <p:nvPr/>
          </p:nvSpPr>
          <p:spPr>
            <a:xfrm>
              <a:off x="4388987" y="3340418"/>
              <a:ext cx="113671"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3</a:t>
              </a:r>
            </a:p>
          </p:txBody>
        </p:sp>
        <p:sp>
          <p:nvSpPr>
            <p:cNvPr id="29" name="TextBox 29"/>
            <p:cNvSpPr txBox="1"/>
            <p:nvPr/>
          </p:nvSpPr>
          <p:spPr>
            <a:xfrm>
              <a:off x="4717542" y="3340418"/>
              <a:ext cx="377190" cy="264033"/>
            </a:xfrm>
            <a:prstGeom prst="rect">
              <a:avLst/>
            </a:prstGeom>
            <a:noFill/>
            <a:ln>
              <a:noFill/>
            </a:ln>
          </p:spPr>
          <p:txBody>
            <a:bodyPr wrap="none" lIns="0" tIns="0" rIns="0" bIns="0" anchor="t" anchorCtr="0">
              <a:spAutoFit/>
            </a:bodyPr>
            <a:lstStyle/>
            <a:p>
              <a:pPr algn="l"/>
              <a:r>
                <a:rPr lang="zh-CN" sz="1350" dirty="0">
                  <a:solidFill>
                    <a:srgbClr val="2E7D32"/>
                  </a:solidFill>
                  <a:latin typeface="+mn-lt"/>
                  <a:ea typeface="+mn-ea"/>
                  <a:cs typeface="+mn-cs"/>
                </a:rPr>
                <a:t>通过</a:t>
              </a:r>
            </a:p>
          </p:txBody>
        </p:sp>
        <p:sp>
          <p:nvSpPr>
            <p:cNvPr id="30" name="TextBox 30"/>
            <p:cNvSpPr txBox="1"/>
            <p:nvPr/>
          </p:nvSpPr>
          <p:spPr>
            <a:xfrm>
              <a:off x="717042" y="3873818"/>
              <a:ext cx="1104138"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核心验收用例</a:t>
              </a:r>
            </a:p>
          </p:txBody>
        </p:sp>
        <p:sp>
          <p:nvSpPr>
            <p:cNvPr id="31" name="TextBox 31"/>
            <p:cNvSpPr txBox="1"/>
            <p:nvPr/>
          </p:nvSpPr>
          <p:spPr>
            <a:xfrm>
              <a:off x="4388987" y="3873818"/>
              <a:ext cx="113671"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9</a:t>
              </a:r>
            </a:p>
          </p:txBody>
        </p:sp>
        <p:sp>
          <p:nvSpPr>
            <p:cNvPr id="32" name="TextBox 32"/>
            <p:cNvSpPr txBox="1"/>
            <p:nvPr/>
          </p:nvSpPr>
          <p:spPr>
            <a:xfrm>
              <a:off x="4717542" y="3873818"/>
              <a:ext cx="740664" cy="264033"/>
            </a:xfrm>
            <a:prstGeom prst="rect">
              <a:avLst/>
            </a:prstGeom>
            <a:noFill/>
            <a:ln>
              <a:noFill/>
            </a:ln>
          </p:spPr>
          <p:txBody>
            <a:bodyPr wrap="none" lIns="0" tIns="0" rIns="0" bIns="0" anchor="t" anchorCtr="0">
              <a:spAutoFit/>
            </a:bodyPr>
            <a:lstStyle/>
            <a:p>
              <a:pPr algn="l"/>
              <a:r>
                <a:rPr lang="zh-CN" sz="1350" dirty="0">
                  <a:solidFill>
                    <a:srgbClr val="2E7D32"/>
                  </a:solidFill>
                  <a:latin typeface="+mn-lt"/>
                  <a:ea typeface="+mn-ea"/>
                  <a:cs typeface="+mn-cs"/>
                </a:rPr>
                <a:t>全部通过</a:t>
              </a:r>
            </a:p>
          </p:txBody>
        </p:sp>
        <p:sp>
          <p:nvSpPr>
            <p:cNvPr id="33" name="TextBox 33"/>
            <p:cNvSpPr txBox="1"/>
            <p:nvPr/>
          </p:nvSpPr>
          <p:spPr>
            <a:xfrm>
              <a:off x="717042" y="4407218"/>
              <a:ext cx="740664"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注释比例</a:t>
              </a:r>
            </a:p>
          </p:txBody>
        </p:sp>
        <p:sp>
          <p:nvSpPr>
            <p:cNvPr id="34" name="TextBox 34"/>
            <p:cNvSpPr txBox="1"/>
            <p:nvPr/>
          </p:nvSpPr>
          <p:spPr>
            <a:xfrm>
              <a:off x="3952818" y="4407218"/>
              <a:ext cx="549840"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37.8%</a:t>
              </a:r>
            </a:p>
          </p:txBody>
        </p:sp>
        <p:sp>
          <p:nvSpPr>
            <p:cNvPr id="35" name="TextBox 35"/>
            <p:cNvSpPr txBox="1"/>
            <p:nvPr/>
          </p:nvSpPr>
          <p:spPr>
            <a:xfrm>
              <a:off x="4717542" y="4407218"/>
              <a:ext cx="731577" cy="264033"/>
            </a:xfrm>
            <a:prstGeom prst="rect">
              <a:avLst/>
            </a:prstGeom>
            <a:noFill/>
            <a:ln>
              <a:noFill/>
            </a:ln>
          </p:spPr>
          <p:txBody>
            <a:bodyPr wrap="none" lIns="0" tIns="0" rIns="0" bIns="0" anchor="t" anchorCtr="0">
              <a:spAutoFit/>
            </a:bodyPr>
            <a:lstStyle/>
            <a:p>
              <a:pPr algn="l"/>
              <a:r>
                <a:rPr lang="zh-CN" sz="1350" dirty="0">
                  <a:solidFill>
                    <a:srgbClr val="2E7D32"/>
                  </a:solidFill>
                  <a:latin typeface="+mn-lt"/>
                  <a:ea typeface="+mn-ea"/>
                  <a:cs typeface="+mn-cs"/>
                </a:rPr>
                <a:t>高于 1/3</a:t>
              </a:r>
            </a:p>
          </p:txBody>
        </p:sp>
      </p:grpSp>
      <p:grpSp>
        <p:nvGrpSpPr>
          <p:cNvPr id="41" name="Group 41"/>
          <p:cNvGrpSpPr/>
          <p:nvPr/>
        </p:nvGrpSpPr>
        <p:grpSpPr>
          <a:xfrm>
            <a:off x="609600" y="4914900"/>
            <a:ext cx="5334000" cy="956501"/>
            <a:chOff x="609600" y="4914900"/>
            <a:chExt cx="5334000" cy="956501"/>
          </a:xfrm>
        </p:grpSpPr>
        <p:sp>
          <p:nvSpPr>
            <p:cNvPr id="37" name="Rectangle 37"/>
            <p:cNvSpPr/>
            <p:nvPr/>
          </p:nvSpPr>
          <p:spPr>
            <a:xfrm>
              <a:off x="609600" y="4914900"/>
              <a:ext cx="5334000" cy="914400"/>
            </a:xfrm>
            <a:prstGeom prst="roundRect">
              <a:avLst>
                <a:gd name="adj" fmla="val 18750"/>
              </a:avLst>
            </a:prstGeom>
            <a:solidFill>
              <a:srgbClr val="E7EDF4"/>
            </a:solidFill>
            <a:ln>
              <a:noFill/>
            </a:ln>
          </p:spPr>
        </p:sp>
        <p:sp>
          <p:nvSpPr>
            <p:cNvPr id="38" name="Freeform 38"/>
            <p:cNvSpPr/>
            <p:nvPr/>
          </p:nvSpPr>
          <p:spPr>
            <a:xfrm>
              <a:off x="819150" y="5082083"/>
              <a:ext cx="200311" cy="200639"/>
            </a:xfrm>
            <a:custGeom>
              <a:avLst/>
              <a:gdLst/>
              <a:ahLst/>
              <a:cxnLst/>
              <a:rect l="l" t="t" r="r" b="b"/>
              <a:pathLst>
                <a:path w="200311" h="200639">
                  <a:moveTo>
                    <a:pt x="142875" y="17030"/>
                  </a:moveTo>
                  <a:cubicBezTo>
                    <a:pt x="182569" y="39949"/>
                    <a:pt x="200311" y="87890"/>
                    <a:pt x="185099" y="131128"/>
                  </a:cubicBezTo>
                  <a:cubicBezTo>
                    <a:pt x="169888" y="174367"/>
                    <a:pt x="126037" y="200639"/>
                    <a:pt x="80736" y="193656"/>
                  </a:cubicBezTo>
                  <a:cubicBezTo>
                    <a:pt x="35435" y="186673"/>
                    <a:pt x="1532" y="148415"/>
                    <a:pt x="48" y="102603"/>
                  </a:cubicBezTo>
                  <a:lnTo>
                    <a:pt x="0" y="99517"/>
                  </a:lnTo>
                  <a:lnTo>
                    <a:pt x="48" y="96431"/>
                  </a:lnTo>
                  <a:cubicBezTo>
                    <a:pt x="1133" y="62969"/>
                    <a:pt x="19706" y="32534"/>
                    <a:pt x="48967" y="16267"/>
                  </a:cubicBezTo>
                  <a:cubicBezTo>
                    <a:pt x="78228" y="0"/>
                    <a:pt x="113882" y="290"/>
                    <a:pt x="142875" y="17030"/>
                  </a:cubicBezTo>
                  <a:close/>
                  <a:moveTo>
                    <a:pt x="130559" y="73732"/>
                  </a:moveTo>
                  <a:cubicBezTo>
                    <a:pt x="127166" y="70339"/>
                    <a:pt x="121778" y="70001"/>
                    <a:pt x="117986" y="72942"/>
                  </a:cubicBezTo>
                  <a:lnTo>
                    <a:pt x="117091" y="73732"/>
                  </a:lnTo>
                  <a:lnTo>
                    <a:pt x="85725" y="105089"/>
                  </a:lnTo>
                  <a:lnTo>
                    <a:pt x="73409" y="92782"/>
                  </a:lnTo>
                  <a:lnTo>
                    <a:pt x="72514" y="91992"/>
                  </a:lnTo>
                  <a:cubicBezTo>
                    <a:pt x="68722" y="89053"/>
                    <a:pt x="63336" y="89392"/>
                    <a:pt x="59943" y="92785"/>
                  </a:cubicBezTo>
                  <a:cubicBezTo>
                    <a:pt x="56551" y="96177"/>
                    <a:pt x="56211" y="101564"/>
                    <a:pt x="59150" y="105355"/>
                  </a:cubicBezTo>
                  <a:lnTo>
                    <a:pt x="59941" y="106251"/>
                  </a:lnTo>
                  <a:lnTo>
                    <a:pt x="78991" y="125301"/>
                  </a:lnTo>
                  <a:lnTo>
                    <a:pt x="79886" y="126091"/>
                  </a:lnTo>
                  <a:cubicBezTo>
                    <a:pt x="83322" y="128757"/>
                    <a:pt x="88128" y="128757"/>
                    <a:pt x="91564" y="126091"/>
                  </a:cubicBezTo>
                  <a:lnTo>
                    <a:pt x="92459" y="125301"/>
                  </a:lnTo>
                  <a:lnTo>
                    <a:pt x="130559" y="87201"/>
                  </a:lnTo>
                  <a:lnTo>
                    <a:pt x="131350" y="86305"/>
                  </a:lnTo>
                  <a:cubicBezTo>
                    <a:pt x="134291" y="82514"/>
                    <a:pt x="133952" y="77126"/>
                    <a:pt x="130559" y="73732"/>
                  </a:cubicBezTo>
                  <a:close/>
                </a:path>
              </a:pathLst>
            </a:custGeom>
            <a:solidFill>
              <a:srgbClr val="2E7D32"/>
            </a:solidFill>
            <a:ln>
              <a:noFill/>
            </a:ln>
          </p:spPr>
        </p:sp>
        <p:sp>
          <p:nvSpPr>
            <p:cNvPr id="39" name="TextBox 39"/>
            <p:cNvSpPr txBox="1"/>
            <p:nvPr/>
          </p:nvSpPr>
          <p:spPr>
            <a:xfrm>
              <a:off x="1114806" y="5063490"/>
              <a:ext cx="195681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课程要求逐项达标</a:t>
              </a:r>
            </a:p>
          </p:txBody>
        </p:sp>
        <p:sp>
          <p:nvSpPr>
            <p:cNvPr id="40" name="TextBox 40"/>
            <p:cNvSpPr txBox="1"/>
            <p:nvPr/>
          </p:nvSpPr>
          <p:spPr>
            <a:xfrm>
              <a:off x="793242" y="5397818"/>
              <a:ext cx="3322701" cy="473583"/>
            </a:xfrm>
            <a:prstGeom prst="rect">
              <a:avLst/>
            </a:prstGeom>
            <a:noFill/>
            <a:ln>
              <a:noFill/>
            </a:ln>
          </p:spPr>
          <p:txBody>
            <a:bodyPr wrap="none" lIns="0" tIns="0" rIns="0" bIns="0" anchor="t" anchorCtr="0">
              <a:spAutoFit/>
            </a:bodyPr>
            <a:lstStyle/>
            <a:p>
              <a:pPr algn="l">
                <a:lnSpc>
                  <a:spcPts val="1650"/>
                </a:lnSpc>
              </a:pPr>
              <a:r>
                <a:rPr lang="zh-CN" sz="1350" dirty="0">
                  <a:solidFill>
                    <a:schemeClr val="dk1"/>
                  </a:solidFill>
                  <a:latin typeface="+mn-lt"/>
                  <a:ea typeface="+mn-ea"/>
                  <a:cs typeface="+mn-cs"/>
                </a:rPr>
                <a:t>注释比例 37.8% &gt; 1/3，后端主源码 60.3%</a:t>
              </a:r>
              <a:br/>
              <a:r>
                <a:rPr lang="zh-CN" sz="1350" dirty="0">
                  <a:solidFill>
                    <a:schemeClr val="dk1"/>
                  </a:solidFill>
                  <a:latin typeface="+mn-lt"/>
                  <a:ea typeface="+mn-ea"/>
                  <a:cs typeface="+mn-cs"/>
                </a:rPr>
                <a:t>9 项核心验收用例全部由自动化覆盖</a:t>
              </a:r>
            </a:p>
          </p:txBody>
        </p:sp>
      </p:grpSp>
      <p:grpSp>
        <p:nvGrpSpPr>
          <p:cNvPr id="45" name="Group 45"/>
          <p:cNvGrpSpPr/>
          <p:nvPr/>
        </p:nvGrpSpPr>
        <p:grpSpPr>
          <a:xfrm>
            <a:off x="6290819" y="1691640"/>
            <a:ext cx="5290819" cy="579311"/>
            <a:chOff x="6290819" y="1691640"/>
            <a:chExt cx="5290819" cy="579311"/>
          </a:xfrm>
        </p:grpSpPr>
        <p:sp>
          <p:nvSpPr>
            <p:cNvPr id="42" name="Freeform 42"/>
            <p:cNvSpPr/>
            <p:nvPr/>
          </p:nvSpPr>
          <p:spPr>
            <a:xfrm>
              <a:off x="6290819" y="1731963"/>
              <a:ext cx="124430" cy="174625"/>
            </a:xfrm>
            <a:custGeom>
              <a:avLst/>
              <a:gdLst/>
              <a:ahLst/>
              <a:cxnLst/>
              <a:rect l="l" t="t" r="r" b="b"/>
              <a:pathLst>
                <a:path w="124430" h="174625">
                  <a:moveTo>
                    <a:pt x="88549" y="0"/>
                  </a:moveTo>
                  <a:cubicBezTo>
                    <a:pt x="93371" y="0"/>
                    <a:pt x="97281" y="3909"/>
                    <a:pt x="97281" y="8731"/>
                  </a:cubicBezTo>
                  <a:cubicBezTo>
                    <a:pt x="97281" y="13553"/>
                    <a:pt x="93371" y="17463"/>
                    <a:pt x="88549" y="17463"/>
                  </a:cubicBezTo>
                  <a:lnTo>
                    <a:pt x="88549" y="59600"/>
                  </a:lnTo>
                  <a:lnTo>
                    <a:pt x="122881" y="154019"/>
                  </a:lnTo>
                  <a:lnTo>
                    <a:pt x="123177" y="154692"/>
                  </a:lnTo>
                  <a:cubicBezTo>
                    <a:pt x="124430" y="158052"/>
                    <a:pt x="124424" y="161752"/>
                    <a:pt x="123160" y="165108"/>
                  </a:cubicBezTo>
                  <a:lnTo>
                    <a:pt x="122549" y="166522"/>
                  </a:lnTo>
                  <a:cubicBezTo>
                    <a:pt x="120463" y="170689"/>
                    <a:pt x="116541" y="173635"/>
                    <a:pt x="111958" y="174477"/>
                  </a:cubicBezTo>
                  <a:lnTo>
                    <a:pt x="110377" y="174625"/>
                  </a:lnTo>
                  <a:lnTo>
                    <a:pt x="14334" y="174625"/>
                  </a:lnTo>
                  <a:lnTo>
                    <a:pt x="12753" y="174477"/>
                  </a:lnTo>
                  <a:cubicBezTo>
                    <a:pt x="8437" y="173682"/>
                    <a:pt x="4694" y="171018"/>
                    <a:pt x="2529" y="167201"/>
                  </a:cubicBezTo>
                  <a:cubicBezTo>
                    <a:pt x="365" y="163383"/>
                    <a:pt x="0" y="158803"/>
                    <a:pt x="1534" y="154692"/>
                  </a:cubicBezTo>
                  <a:lnTo>
                    <a:pt x="1874" y="153906"/>
                  </a:lnTo>
                  <a:lnTo>
                    <a:pt x="36162" y="59573"/>
                  </a:lnTo>
                  <a:lnTo>
                    <a:pt x="36162" y="17463"/>
                  </a:lnTo>
                  <a:cubicBezTo>
                    <a:pt x="31340" y="17463"/>
                    <a:pt x="27431" y="13553"/>
                    <a:pt x="27431" y="8731"/>
                  </a:cubicBezTo>
                  <a:cubicBezTo>
                    <a:pt x="27431" y="3909"/>
                    <a:pt x="31340" y="0"/>
                    <a:pt x="36162" y="0"/>
                  </a:cubicBezTo>
                  <a:lnTo>
                    <a:pt x="88549" y="0"/>
                  </a:lnTo>
                  <a:close/>
                  <a:moveTo>
                    <a:pt x="71087" y="17463"/>
                  </a:moveTo>
                  <a:lnTo>
                    <a:pt x="53624" y="17463"/>
                  </a:lnTo>
                  <a:lnTo>
                    <a:pt x="53624" y="52388"/>
                  </a:lnTo>
                  <a:lnTo>
                    <a:pt x="71087" y="52388"/>
                  </a:lnTo>
                  <a:lnTo>
                    <a:pt x="71087" y="17463"/>
                  </a:lnTo>
                  <a:close/>
                </a:path>
              </a:pathLst>
            </a:custGeom>
            <a:solidFill>
              <a:schemeClr val="accent2"/>
            </a:solidFill>
            <a:ln>
              <a:noFill/>
            </a:ln>
          </p:spPr>
        </p:sp>
        <p:sp>
          <p:nvSpPr>
            <p:cNvPr id="43" name="TextBox 43"/>
            <p:cNvSpPr txBox="1"/>
            <p:nvPr/>
          </p:nvSpPr>
          <p:spPr>
            <a:xfrm>
              <a:off x="6525006" y="1691640"/>
              <a:ext cx="287398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后端 55 项按模块钉住承诺</a:t>
              </a:r>
            </a:p>
          </p:txBody>
        </p:sp>
        <p:sp>
          <p:nvSpPr>
            <p:cNvPr id="44" name="TextBox 44"/>
            <p:cNvSpPr txBox="1"/>
            <p:nvPr/>
          </p:nvSpPr>
          <p:spPr>
            <a:xfrm>
              <a:off x="6527292" y="2006918"/>
              <a:ext cx="505434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AI 10 · 批量导入 6 · 判分 4 · 统计 4 · 自动组卷 3 · 导出 3</a:t>
              </a:r>
            </a:p>
          </p:txBody>
        </p:sp>
      </p:grpSp>
      <p:grpSp>
        <p:nvGrpSpPr>
          <p:cNvPr id="49" name="Group 49"/>
          <p:cNvGrpSpPr/>
          <p:nvPr/>
        </p:nvGrpSpPr>
        <p:grpSpPr>
          <a:xfrm>
            <a:off x="6290819" y="2396490"/>
            <a:ext cx="4611877" cy="579311"/>
            <a:chOff x="6290819" y="2396490"/>
            <a:chExt cx="4611877" cy="579311"/>
          </a:xfrm>
        </p:grpSpPr>
        <p:sp>
          <p:nvSpPr>
            <p:cNvPr id="46" name="Freeform 46"/>
            <p:cNvSpPr/>
            <p:nvPr/>
          </p:nvSpPr>
          <p:spPr>
            <a:xfrm>
              <a:off x="6290819" y="2436813"/>
              <a:ext cx="124430" cy="174625"/>
            </a:xfrm>
            <a:custGeom>
              <a:avLst/>
              <a:gdLst/>
              <a:ahLst/>
              <a:cxnLst/>
              <a:rect l="l" t="t" r="r" b="b"/>
              <a:pathLst>
                <a:path w="124430" h="174625">
                  <a:moveTo>
                    <a:pt x="88549" y="0"/>
                  </a:moveTo>
                  <a:cubicBezTo>
                    <a:pt x="93371" y="0"/>
                    <a:pt x="97281" y="3909"/>
                    <a:pt x="97281" y="8731"/>
                  </a:cubicBezTo>
                  <a:cubicBezTo>
                    <a:pt x="97281" y="13553"/>
                    <a:pt x="93371" y="17463"/>
                    <a:pt x="88549" y="17463"/>
                  </a:cubicBezTo>
                  <a:lnTo>
                    <a:pt x="88549" y="59600"/>
                  </a:lnTo>
                  <a:lnTo>
                    <a:pt x="122881" y="154019"/>
                  </a:lnTo>
                  <a:lnTo>
                    <a:pt x="123177" y="154692"/>
                  </a:lnTo>
                  <a:cubicBezTo>
                    <a:pt x="124430" y="158052"/>
                    <a:pt x="124424" y="161752"/>
                    <a:pt x="123160" y="165108"/>
                  </a:cubicBezTo>
                  <a:lnTo>
                    <a:pt x="122549" y="166522"/>
                  </a:lnTo>
                  <a:cubicBezTo>
                    <a:pt x="120463" y="170689"/>
                    <a:pt x="116541" y="173635"/>
                    <a:pt x="111958" y="174477"/>
                  </a:cubicBezTo>
                  <a:lnTo>
                    <a:pt x="110377" y="174625"/>
                  </a:lnTo>
                  <a:lnTo>
                    <a:pt x="14334" y="174625"/>
                  </a:lnTo>
                  <a:lnTo>
                    <a:pt x="12753" y="174477"/>
                  </a:lnTo>
                  <a:cubicBezTo>
                    <a:pt x="8437" y="173682"/>
                    <a:pt x="4694" y="171018"/>
                    <a:pt x="2529" y="167201"/>
                  </a:cubicBezTo>
                  <a:cubicBezTo>
                    <a:pt x="365" y="163383"/>
                    <a:pt x="0" y="158803"/>
                    <a:pt x="1534" y="154692"/>
                  </a:cubicBezTo>
                  <a:lnTo>
                    <a:pt x="1874" y="153906"/>
                  </a:lnTo>
                  <a:lnTo>
                    <a:pt x="36162" y="59573"/>
                  </a:lnTo>
                  <a:lnTo>
                    <a:pt x="36162" y="17463"/>
                  </a:lnTo>
                  <a:cubicBezTo>
                    <a:pt x="31340" y="17463"/>
                    <a:pt x="27431" y="13553"/>
                    <a:pt x="27431" y="8731"/>
                  </a:cubicBezTo>
                  <a:cubicBezTo>
                    <a:pt x="27431" y="3909"/>
                    <a:pt x="31340" y="0"/>
                    <a:pt x="36162" y="0"/>
                  </a:cubicBezTo>
                  <a:lnTo>
                    <a:pt x="88549" y="0"/>
                  </a:lnTo>
                  <a:close/>
                  <a:moveTo>
                    <a:pt x="71087" y="17463"/>
                  </a:moveTo>
                  <a:lnTo>
                    <a:pt x="53624" y="17463"/>
                  </a:lnTo>
                  <a:lnTo>
                    <a:pt x="53624" y="52388"/>
                  </a:lnTo>
                  <a:lnTo>
                    <a:pt x="71087" y="52388"/>
                  </a:lnTo>
                  <a:lnTo>
                    <a:pt x="71087" y="17463"/>
                  </a:lnTo>
                  <a:close/>
                </a:path>
              </a:pathLst>
            </a:custGeom>
            <a:solidFill>
              <a:schemeClr val="accent2"/>
            </a:solidFill>
            <a:ln>
              <a:noFill/>
            </a:ln>
          </p:spPr>
        </p:sp>
        <p:sp>
          <p:nvSpPr>
            <p:cNvPr id="47" name="TextBox 47"/>
            <p:cNvSpPr txBox="1"/>
            <p:nvPr/>
          </p:nvSpPr>
          <p:spPr>
            <a:xfrm>
              <a:off x="6525006" y="2396490"/>
              <a:ext cx="122986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防漂移测试</a:t>
              </a:r>
            </a:p>
          </p:txBody>
        </p:sp>
        <p:sp>
          <p:nvSpPr>
            <p:cNvPr id="48" name="TextBox 48"/>
            <p:cNvSpPr txBox="1"/>
            <p:nvPr/>
          </p:nvSpPr>
          <p:spPr>
            <a:xfrm>
              <a:off x="6527292" y="2711768"/>
              <a:ext cx="437540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后端生成的导入模板原样喂回导入接口，五行全部通过</a:t>
              </a:r>
            </a:p>
          </p:txBody>
        </p:sp>
      </p:grpSp>
      <p:grpSp>
        <p:nvGrpSpPr>
          <p:cNvPr id="53" name="Group 53"/>
          <p:cNvGrpSpPr/>
          <p:nvPr/>
        </p:nvGrpSpPr>
        <p:grpSpPr>
          <a:xfrm>
            <a:off x="6290819" y="3101340"/>
            <a:ext cx="4493919" cy="579311"/>
            <a:chOff x="6290819" y="3101340"/>
            <a:chExt cx="4493919" cy="579311"/>
          </a:xfrm>
        </p:grpSpPr>
        <p:sp>
          <p:nvSpPr>
            <p:cNvPr id="50" name="Freeform 50"/>
            <p:cNvSpPr/>
            <p:nvPr/>
          </p:nvSpPr>
          <p:spPr>
            <a:xfrm>
              <a:off x="6290819" y="3141663"/>
              <a:ext cx="124430" cy="174625"/>
            </a:xfrm>
            <a:custGeom>
              <a:avLst/>
              <a:gdLst/>
              <a:ahLst/>
              <a:cxnLst/>
              <a:rect l="l" t="t" r="r" b="b"/>
              <a:pathLst>
                <a:path w="124430" h="174625">
                  <a:moveTo>
                    <a:pt x="88549" y="0"/>
                  </a:moveTo>
                  <a:cubicBezTo>
                    <a:pt x="93371" y="0"/>
                    <a:pt x="97281" y="3909"/>
                    <a:pt x="97281" y="8731"/>
                  </a:cubicBezTo>
                  <a:cubicBezTo>
                    <a:pt x="97281" y="13553"/>
                    <a:pt x="93371" y="17463"/>
                    <a:pt x="88549" y="17463"/>
                  </a:cubicBezTo>
                  <a:lnTo>
                    <a:pt x="88549" y="59600"/>
                  </a:lnTo>
                  <a:lnTo>
                    <a:pt x="122881" y="154019"/>
                  </a:lnTo>
                  <a:lnTo>
                    <a:pt x="123177" y="154692"/>
                  </a:lnTo>
                  <a:cubicBezTo>
                    <a:pt x="124430" y="158052"/>
                    <a:pt x="124424" y="161752"/>
                    <a:pt x="123160" y="165108"/>
                  </a:cubicBezTo>
                  <a:lnTo>
                    <a:pt x="122549" y="166522"/>
                  </a:lnTo>
                  <a:cubicBezTo>
                    <a:pt x="120463" y="170689"/>
                    <a:pt x="116541" y="173635"/>
                    <a:pt x="111958" y="174477"/>
                  </a:cubicBezTo>
                  <a:lnTo>
                    <a:pt x="110377" y="174625"/>
                  </a:lnTo>
                  <a:lnTo>
                    <a:pt x="14334" y="174625"/>
                  </a:lnTo>
                  <a:lnTo>
                    <a:pt x="12753" y="174477"/>
                  </a:lnTo>
                  <a:cubicBezTo>
                    <a:pt x="8437" y="173682"/>
                    <a:pt x="4694" y="171018"/>
                    <a:pt x="2529" y="167201"/>
                  </a:cubicBezTo>
                  <a:cubicBezTo>
                    <a:pt x="365" y="163383"/>
                    <a:pt x="0" y="158803"/>
                    <a:pt x="1534" y="154692"/>
                  </a:cubicBezTo>
                  <a:lnTo>
                    <a:pt x="1874" y="153906"/>
                  </a:lnTo>
                  <a:lnTo>
                    <a:pt x="36162" y="59573"/>
                  </a:lnTo>
                  <a:lnTo>
                    <a:pt x="36162" y="17463"/>
                  </a:lnTo>
                  <a:cubicBezTo>
                    <a:pt x="31340" y="17463"/>
                    <a:pt x="27431" y="13553"/>
                    <a:pt x="27431" y="8731"/>
                  </a:cubicBezTo>
                  <a:cubicBezTo>
                    <a:pt x="27431" y="3909"/>
                    <a:pt x="31340" y="0"/>
                    <a:pt x="36162" y="0"/>
                  </a:cubicBezTo>
                  <a:lnTo>
                    <a:pt x="88549" y="0"/>
                  </a:lnTo>
                  <a:close/>
                  <a:moveTo>
                    <a:pt x="71087" y="17463"/>
                  </a:moveTo>
                  <a:lnTo>
                    <a:pt x="53624" y="17463"/>
                  </a:lnTo>
                  <a:lnTo>
                    <a:pt x="53624" y="52388"/>
                  </a:lnTo>
                  <a:lnTo>
                    <a:pt x="71087" y="52388"/>
                  </a:lnTo>
                  <a:lnTo>
                    <a:pt x="71087" y="17463"/>
                  </a:lnTo>
                  <a:close/>
                </a:path>
              </a:pathLst>
            </a:custGeom>
            <a:solidFill>
              <a:schemeClr val="accent2"/>
            </a:solidFill>
            <a:ln>
              <a:noFill/>
            </a:ln>
          </p:spPr>
        </p:sp>
        <p:sp>
          <p:nvSpPr>
            <p:cNvPr id="51" name="TextBox 51"/>
            <p:cNvSpPr txBox="1"/>
            <p:nvPr/>
          </p:nvSpPr>
          <p:spPr>
            <a:xfrm>
              <a:off x="6525006" y="3101340"/>
              <a:ext cx="219913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导出与导入互为闭环</a:t>
              </a:r>
            </a:p>
          </p:txBody>
        </p:sp>
        <p:sp>
          <p:nvSpPr>
            <p:cNvPr id="52" name="TextBox 52"/>
            <p:cNvSpPr txBox="1"/>
            <p:nvPr/>
          </p:nvSpPr>
          <p:spPr>
            <a:xfrm>
              <a:off x="6527292" y="3416618"/>
              <a:ext cx="425744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导出的 CSV 直接喂回导入接口，4 行全部导入成功</a:t>
              </a:r>
            </a:p>
          </p:txBody>
        </p:sp>
      </p:grpSp>
      <p:grpSp>
        <p:nvGrpSpPr>
          <p:cNvPr id="57" name="Group 57"/>
          <p:cNvGrpSpPr/>
          <p:nvPr/>
        </p:nvGrpSpPr>
        <p:grpSpPr>
          <a:xfrm>
            <a:off x="6290819" y="3806190"/>
            <a:ext cx="4948090" cy="579311"/>
            <a:chOff x="6290819" y="3806190"/>
            <a:chExt cx="4948090" cy="579311"/>
          </a:xfrm>
        </p:grpSpPr>
        <p:sp>
          <p:nvSpPr>
            <p:cNvPr id="54" name="Freeform 54"/>
            <p:cNvSpPr/>
            <p:nvPr/>
          </p:nvSpPr>
          <p:spPr>
            <a:xfrm>
              <a:off x="6290819" y="3846513"/>
              <a:ext cx="124430" cy="174625"/>
            </a:xfrm>
            <a:custGeom>
              <a:avLst/>
              <a:gdLst/>
              <a:ahLst/>
              <a:cxnLst/>
              <a:rect l="l" t="t" r="r" b="b"/>
              <a:pathLst>
                <a:path w="124430" h="174625">
                  <a:moveTo>
                    <a:pt x="88549" y="0"/>
                  </a:moveTo>
                  <a:cubicBezTo>
                    <a:pt x="93371" y="0"/>
                    <a:pt x="97281" y="3909"/>
                    <a:pt x="97281" y="8731"/>
                  </a:cubicBezTo>
                  <a:cubicBezTo>
                    <a:pt x="97281" y="13553"/>
                    <a:pt x="93371" y="17463"/>
                    <a:pt x="88549" y="17463"/>
                  </a:cubicBezTo>
                  <a:lnTo>
                    <a:pt x="88549" y="59600"/>
                  </a:lnTo>
                  <a:lnTo>
                    <a:pt x="122881" y="154019"/>
                  </a:lnTo>
                  <a:lnTo>
                    <a:pt x="123177" y="154692"/>
                  </a:lnTo>
                  <a:cubicBezTo>
                    <a:pt x="124430" y="158052"/>
                    <a:pt x="124424" y="161752"/>
                    <a:pt x="123160" y="165108"/>
                  </a:cubicBezTo>
                  <a:lnTo>
                    <a:pt x="122549" y="166522"/>
                  </a:lnTo>
                  <a:cubicBezTo>
                    <a:pt x="120463" y="170689"/>
                    <a:pt x="116541" y="173635"/>
                    <a:pt x="111958" y="174477"/>
                  </a:cubicBezTo>
                  <a:lnTo>
                    <a:pt x="110377" y="174625"/>
                  </a:lnTo>
                  <a:lnTo>
                    <a:pt x="14334" y="174625"/>
                  </a:lnTo>
                  <a:lnTo>
                    <a:pt x="12753" y="174477"/>
                  </a:lnTo>
                  <a:cubicBezTo>
                    <a:pt x="8437" y="173682"/>
                    <a:pt x="4694" y="171018"/>
                    <a:pt x="2529" y="167201"/>
                  </a:cubicBezTo>
                  <a:cubicBezTo>
                    <a:pt x="365" y="163383"/>
                    <a:pt x="0" y="158803"/>
                    <a:pt x="1534" y="154692"/>
                  </a:cubicBezTo>
                  <a:lnTo>
                    <a:pt x="1874" y="153906"/>
                  </a:lnTo>
                  <a:lnTo>
                    <a:pt x="36162" y="59573"/>
                  </a:lnTo>
                  <a:lnTo>
                    <a:pt x="36162" y="17463"/>
                  </a:lnTo>
                  <a:cubicBezTo>
                    <a:pt x="31340" y="17463"/>
                    <a:pt x="27431" y="13553"/>
                    <a:pt x="27431" y="8731"/>
                  </a:cubicBezTo>
                  <a:cubicBezTo>
                    <a:pt x="27431" y="3909"/>
                    <a:pt x="31340" y="0"/>
                    <a:pt x="36162" y="0"/>
                  </a:cubicBezTo>
                  <a:lnTo>
                    <a:pt x="88549" y="0"/>
                  </a:lnTo>
                  <a:close/>
                  <a:moveTo>
                    <a:pt x="71087" y="17463"/>
                  </a:moveTo>
                  <a:lnTo>
                    <a:pt x="53624" y="17463"/>
                  </a:lnTo>
                  <a:lnTo>
                    <a:pt x="53624" y="52388"/>
                  </a:lnTo>
                  <a:lnTo>
                    <a:pt x="71087" y="52388"/>
                  </a:lnTo>
                  <a:lnTo>
                    <a:pt x="71087" y="17463"/>
                  </a:lnTo>
                  <a:close/>
                </a:path>
              </a:pathLst>
            </a:custGeom>
            <a:solidFill>
              <a:schemeClr val="accent2"/>
            </a:solidFill>
            <a:ln>
              <a:noFill/>
            </a:ln>
          </p:spPr>
        </p:sp>
        <p:sp>
          <p:nvSpPr>
            <p:cNvPr id="55" name="TextBox 55"/>
            <p:cNvSpPr txBox="1"/>
            <p:nvPr/>
          </p:nvSpPr>
          <p:spPr>
            <a:xfrm>
              <a:off x="6525006" y="380619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重练不动成绩</a:t>
              </a:r>
            </a:p>
          </p:txBody>
        </p:sp>
        <p:sp>
          <p:nvSpPr>
            <p:cNvPr id="56" name="TextBox 56"/>
            <p:cNvSpPr txBox="1"/>
            <p:nvPr/>
          </p:nvSpPr>
          <p:spPr>
            <a:xfrm>
              <a:off x="6527292" y="4121468"/>
              <a:ext cx="471161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练对之后断言 total_score 仍是 28.0、该题得分仍是 0.0</a:t>
              </a:r>
            </a:p>
          </p:txBody>
        </p:sp>
      </p:grpSp>
      <p:grpSp>
        <p:nvGrpSpPr>
          <p:cNvPr id="61" name="Group 61"/>
          <p:cNvGrpSpPr/>
          <p:nvPr/>
        </p:nvGrpSpPr>
        <p:grpSpPr>
          <a:xfrm>
            <a:off x="6265863" y="4511040"/>
            <a:ext cx="5236565" cy="579311"/>
            <a:chOff x="6265863" y="4511040"/>
            <a:chExt cx="5236565" cy="579311"/>
          </a:xfrm>
        </p:grpSpPr>
        <p:sp>
          <p:nvSpPr>
            <p:cNvPr id="58" name="Freeform 58"/>
            <p:cNvSpPr/>
            <p:nvPr/>
          </p:nvSpPr>
          <p:spPr>
            <a:xfrm>
              <a:off x="6265863" y="4547451"/>
              <a:ext cx="183618" cy="183919"/>
            </a:xfrm>
            <a:custGeom>
              <a:avLst/>
              <a:gdLst/>
              <a:ahLst/>
              <a:cxnLst/>
              <a:rect l="l" t="t" r="r" b="b"/>
              <a:pathLst>
                <a:path w="183618" h="183919">
                  <a:moveTo>
                    <a:pt x="130969" y="15611"/>
                  </a:moveTo>
                  <a:cubicBezTo>
                    <a:pt x="167355" y="36620"/>
                    <a:pt x="183618" y="80566"/>
                    <a:pt x="169674" y="120201"/>
                  </a:cubicBezTo>
                  <a:cubicBezTo>
                    <a:pt x="155730" y="159836"/>
                    <a:pt x="115534" y="183919"/>
                    <a:pt x="74008" y="177518"/>
                  </a:cubicBezTo>
                  <a:cubicBezTo>
                    <a:pt x="32482" y="171117"/>
                    <a:pt x="1405" y="136047"/>
                    <a:pt x="44" y="94053"/>
                  </a:cubicBezTo>
                  <a:lnTo>
                    <a:pt x="0" y="91224"/>
                  </a:lnTo>
                  <a:lnTo>
                    <a:pt x="44" y="88395"/>
                  </a:lnTo>
                  <a:cubicBezTo>
                    <a:pt x="1038" y="57722"/>
                    <a:pt x="18063" y="29823"/>
                    <a:pt x="44886" y="14911"/>
                  </a:cubicBezTo>
                  <a:cubicBezTo>
                    <a:pt x="71709" y="0"/>
                    <a:pt x="104392" y="266"/>
                    <a:pt x="130969" y="15611"/>
                  </a:cubicBezTo>
                  <a:close/>
                  <a:moveTo>
                    <a:pt x="119679" y="67588"/>
                  </a:moveTo>
                  <a:cubicBezTo>
                    <a:pt x="116569" y="64478"/>
                    <a:pt x="111630" y="64167"/>
                    <a:pt x="108154" y="66863"/>
                  </a:cubicBezTo>
                  <a:lnTo>
                    <a:pt x="107333" y="67588"/>
                  </a:lnTo>
                  <a:lnTo>
                    <a:pt x="78581" y="96331"/>
                  </a:lnTo>
                  <a:lnTo>
                    <a:pt x="67292" y="85051"/>
                  </a:lnTo>
                  <a:lnTo>
                    <a:pt x="66471" y="84326"/>
                  </a:lnTo>
                  <a:cubicBezTo>
                    <a:pt x="62995" y="81632"/>
                    <a:pt x="58058" y="81943"/>
                    <a:pt x="54948" y="85053"/>
                  </a:cubicBezTo>
                  <a:cubicBezTo>
                    <a:pt x="51838" y="88163"/>
                    <a:pt x="51527" y="93100"/>
                    <a:pt x="54221" y="96576"/>
                  </a:cubicBezTo>
                  <a:lnTo>
                    <a:pt x="54946" y="97397"/>
                  </a:lnTo>
                  <a:lnTo>
                    <a:pt x="72408" y="114859"/>
                  </a:lnTo>
                  <a:lnTo>
                    <a:pt x="73229" y="115584"/>
                  </a:lnTo>
                  <a:cubicBezTo>
                    <a:pt x="76379" y="118028"/>
                    <a:pt x="80784" y="118028"/>
                    <a:pt x="83934" y="115584"/>
                  </a:cubicBezTo>
                  <a:lnTo>
                    <a:pt x="84754" y="114859"/>
                  </a:lnTo>
                  <a:lnTo>
                    <a:pt x="119679" y="79934"/>
                  </a:lnTo>
                  <a:lnTo>
                    <a:pt x="120404" y="79113"/>
                  </a:lnTo>
                  <a:cubicBezTo>
                    <a:pt x="123100" y="75638"/>
                    <a:pt x="122790" y="70699"/>
                    <a:pt x="119679" y="67588"/>
                  </a:cubicBezTo>
                  <a:close/>
                </a:path>
              </a:pathLst>
            </a:custGeom>
            <a:solidFill>
              <a:schemeClr val="accent2"/>
            </a:solidFill>
            <a:ln>
              <a:noFill/>
            </a:ln>
          </p:spPr>
        </p:sp>
        <p:sp>
          <p:nvSpPr>
            <p:cNvPr id="59" name="TextBox 59"/>
            <p:cNvSpPr txBox="1"/>
            <p:nvPr/>
          </p:nvSpPr>
          <p:spPr>
            <a:xfrm>
              <a:off x="6525006" y="4511040"/>
              <a:ext cx="195681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验收数字写进断言</a:t>
              </a:r>
            </a:p>
          </p:txBody>
        </p:sp>
        <p:sp>
          <p:nvSpPr>
            <p:cNvPr id="60" name="TextBox 60"/>
            <p:cNvSpPr txBox="1"/>
            <p:nvPr/>
          </p:nvSpPr>
          <p:spPr>
            <a:xfrm>
              <a:off x="6527292" y="4826318"/>
              <a:ext cx="497513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20.0 / 28.0 / 名次 1、2、2、4 / 25.0%，改坏判分立刻变红</a:t>
              </a:r>
            </a:p>
          </p:txBody>
        </p:sp>
      </p:grpSp>
      <p:grpSp>
        <p:nvGrpSpPr>
          <p:cNvPr id="68" name="Group 68"/>
          <p:cNvGrpSpPr/>
          <p:nvPr/>
        </p:nvGrpSpPr>
        <p:grpSpPr>
          <a:xfrm>
            <a:off x="6274593" y="5215890"/>
            <a:ext cx="5181372" cy="579311"/>
            <a:chOff x="6274593" y="5215890"/>
            <a:chExt cx="5181372" cy="579311"/>
          </a:xfrm>
        </p:grpSpPr>
        <p:grpSp>
          <p:nvGrpSpPr>
            <p:cNvPr id="65" name="Group 65"/>
            <p:cNvGrpSpPr/>
            <p:nvPr/>
          </p:nvGrpSpPr>
          <p:grpSpPr>
            <a:xfrm>
              <a:off x="6274593" y="5256213"/>
              <a:ext cx="157164" cy="174624"/>
              <a:chOff x="6274593" y="5256213"/>
              <a:chExt cx="157164" cy="174624"/>
            </a:xfrm>
          </p:grpSpPr>
          <p:sp>
            <p:nvSpPr>
              <p:cNvPr id="62" name="Freeform 62"/>
              <p:cNvSpPr/>
              <p:nvPr/>
            </p:nvSpPr>
            <p:spPr>
              <a:xfrm>
                <a:off x="6274594" y="5376101"/>
                <a:ext cx="157163" cy="54736"/>
              </a:xfrm>
              <a:custGeom>
                <a:avLst/>
                <a:gdLst/>
                <a:ahLst/>
                <a:cxnLst/>
                <a:rect l="l" t="t" r="r" b="b"/>
                <a:pathLst>
                  <a:path w="157163" h="54736">
                    <a:moveTo>
                      <a:pt x="0" y="0"/>
                    </a:moveTo>
                    <a:cubicBezTo>
                      <a:pt x="17183" y="13158"/>
                      <a:pt x="45699" y="19811"/>
                      <a:pt x="78581" y="19811"/>
                    </a:cubicBezTo>
                    <a:cubicBezTo>
                      <a:pt x="111411" y="19811"/>
                      <a:pt x="139918" y="13175"/>
                      <a:pt x="157163" y="148"/>
                    </a:cubicBezTo>
                    <a:lnTo>
                      <a:pt x="157163" y="19811"/>
                    </a:lnTo>
                    <a:cubicBezTo>
                      <a:pt x="157163" y="40985"/>
                      <a:pt x="123154" y="54177"/>
                      <a:pt x="81262" y="54719"/>
                    </a:cubicBezTo>
                    <a:lnTo>
                      <a:pt x="78581" y="54736"/>
                    </a:lnTo>
                    <a:cubicBezTo>
                      <a:pt x="35466" y="54736"/>
                      <a:pt x="0" y="41439"/>
                      <a:pt x="0" y="19811"/>
                    </a:cubicBezTo>
                    <a:close/>
                  </a:path>
                </a:pathLst>
              </a:custGeom>
              <a:solidFill>
                <a:schemeClr val="accent2"/>
              </a:solidFill>
              <a:ln>
                <a:noFill/>
              </a:ln>
            </p:spPr>
          </p:sp>
          <p:sp>
            <p:nvSpPr>
              <p:cNvPr id="63" name="Freeform 63"/>
              <p:cNvSpPr/>
              <p:nvPr/>
            </p:nvSpPr>
            <p:spPr>
              <a:xfrm>
                <a:off x="6274594" y="5323714"/>
                <a:ext cx="157163" cy="54736"/>
              </a:xfrm>
              <a:custGeom>
                <a:avLst/>
                <a:gdLst/>
                <a:ahLst/>
                <a:cxnLst/>
                <a:rect l="l" t="t" r="r" b="b"/>
                <a:pathLst>
                  <a:path w="157163" h="54736">
                    <a:moveTo>
                      <a:pt x="0" y="0"/>
                    </a:moveTo>
                    <a:cubicBezTo>
                      <a:pt x="17183" y="13158"/>
                      <a:pt x="45699" y="19811"/>
                      <a:pt x="78581" y="19811"/>
                    </a:cubicBezTo>
                    <a:cubicBezTo>
                      <a:pt x="111411" y="19811"/>
                      <a:pt x="139918" y="13175"/>
                      <a:pt x="157163" y="148"/>
                    </a:cubicBezTo>
                    <a:lnTo>
                      <a:pt x="157163" y="19811"/>
                    </a:lnTo>
                    <a:cubicBezTo>
                      <a:pt x="157163" y="41439"/>
                      <a:pt x="121696" y="54736"/>
                      <a:pt x="78581" y="54736"/>
                    </a:cubicBezTo>
                    <a:cubicBezTo>
                      <a:pt x="36689" y="54736"/>
                      <a:pt x="2008" y="42181"/>
                      <a:pt x="183" y="21601"/>
                    </a:cubicBezTo>
                    <a:lnTo>
                      <a:pt x="44" y="20719"/>
                    </a:lnTo>
                    <a:lnTo>
                      <a:pt x="0" y="19811"/>
                    </a:lnTo>
                    <a:close/>
                  </a:path>
                </a:pathLst>
              </a:custGeom>
              <a:solidFill>
                <a:schemeClr val="accent2"/>
              </a:solidFill>
              <a:ln>
                <a:noFill/>
              </a:ln>
            </p:spPr>
          </p:sp>
          <p:sp>
            <p:nvSpPr>
              <p:cNvPr id="64" name="Freeform 64"/>
              <p:cNvSpPr/>
              <p:nvPr/>
            </p:nvSpPr>
            <p:spPr>
              <a:xfrm>
                <a:off x="6274593" y="5256213"/>
                <a:ext cx="157163" cy="69850"/>
              </a:xfrm>
              <a:custGeom>
                <a:avLst/>
                <a:gdLst/>
                <a:ahLst/>
                <a:cxnLst/>
                <a:rect l="l" t="t" r="r" b="b"/>
                <a:pathLst>
                  <a:path w="157163" h="69850">
                    <a:moveTo>
                      <a:pt x="78582" y="0"/>
                    </a:moveTo>
                    <a:cubicBezTo>
                      <a:pt x="87671" y="0"/>
                      <a:pt x="96429" y="594"/>
                      <a:pt x="104575" y="1729"/>
                    </a:cubicBezTo>
                    <a:lnTo>
                      <a:pt x="108670" y="2349"/>
                    </a:lnTo>
                    <a:cubicBezTo>
                      <a:pt x="113559" y="3164"/>
                      <a:pt x="118175" y="4176"/>
                      <a:pt x="122518" y="5387"/>
                    </a:cubicBezTo>
                    <a:lnTo>
                      <a:pt x="126359" y="6531"/>
                    </a:lnTo>
                    <a:lnTo>
                      <a:pt x="127014" y="6741"/>
                    </a:lnTo>
                    <a:cubicBezTo>
                      <a:pt x="129390" y="7522"/>
                      <a:pt x="131735" y="8396"/>
                      <a:pt x="134043" y="9360"/>
                    </a:cubicBezTo>
                    <a:lnTo>
                      <a:pt x="135780" y="10111"/>
                    </a:lnTo>
                    <a:cubicBezTo>
                      <a:pt x="138895" y="11519"/>
                      <a:pt x="141709" y="13062"/>
                      <a:pt x="144224" y="14738"/>
                    </a:cubicBezTo>
                    <a:cubicBezTo>
                      <a:pt x="145184" y="15379"/>
                      <a:pt x="146095" y="16033"/>
                      <a:pt x="146956" y="16703"/>
                    </a:cubicBezTo>
                    <a:cubicBezTo>
                      <a:pt x="149139" y="18396"/>
                      <a:pt x="151101" y="20356"/>
                      <a:pt x="152798" y="22535"/>
                    </a:cubicBezTo>
                    <a:lnTo>
                      <a:pt x="153592" y="23653"/>
                    </a:lnTo>
                    <a:cubicBezTo>
                      <a:pt x="154000" y="24264"/>
                      <a:pt x="154375" y="24878"/>
                      <a:pt x="154718" y="25495"/>
                    </a:cubicBezTo>
                    <a:lnTo>
                      <a:pt x="155330" y="26709"/>
                    </a:lnTo>
                    <a:cubicBezTo>
                      <a:pt x="156278" y="28746"/>
                      <a:pt x="156861" y="30871"/>
                      <a:pt x="157076" y="33083"/>
                    </a:cubicBezTo>
                    <a:lnTo>
                      <a:pt x="157163" y="34925"/>
                    </a:lnTo>
                    <a:cubicBezTo>
                      <a:pt x="157163" y="56552"/>
                      <a:pt x="121697" y="69850"/>
                      <a:pt x="78582" y="69850"/>
                    </a:cubicBezTo>
                    <a:cubicBezTo>
                      <a:pt x="36689" y="69850"/>
                      <a:pt x="2009" y="57294"/>
                      <a:pt x="184" y="36715"/>
                    </a:cubicBezTo>
                    <a:cubicBezTo>
                      <a:pt x="61" y="36126"/>
                      <a:pt x="0" y="35526"/>
                      <a:pt x="1" y="34925"/>
                    </a:cubicBezTo>
                    <a:lnTo>
                      <a:pt x="44" y="34017"/>
                    </a:lnTo>
                    <a:lnTo>
                      <a:pt x="184" y="33144"/>
                    </a:lnTo>
                    <a:cubicBezTo>
                      <a:pt x="1974" y="13010"/>
                      <a:pt x="35196" y="550"/>
                      <a:pt x="75858" y="17"/>
                    </a:cubicBezTo>
                    <a:close/>
                  </a:path>
                </a:pathLst>
              </a:custGeom>
              <a:solidFill>
                <a:schemeClr val="accent2"/>
              </a:solidFill>
              <a:ln>
                <a:noFill/>
              </a:ln>
            </p:spPr>
          </p:sp>
        </p:grpSp>
        <p:sp>
          <p:nvSpPr>
            <p:cNvPr id="66" name="TextBox 66"/>
            <p:cNvSpPr txBox="1"/>
            <p:nvPr/>
          </p:nvSpPr>
          <p:spPr>
            <a:xfrm>
              <a:off x="6525006" y="5215890"/>
              <a:ext cx="147218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真实环境复现</a:t>
              </a:r>
            </a:p>
          </p:txBody>
        </p:sp>
        <p:sp>
          <p:nvSpPr>
            <p:cNvPr id="67" name="TextBox 67"/>
            <p:cNvSpPr txBox="1"/>
            <p:nvPr/>
          </p:nvSpPr>
          <p:spPr>
            <a:xfrm>
              <a:off x="6527292" y="5531168"/>
              <a:ext cx="4928673"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MySQL 9.6 全部数字一致；AI 联调通过；sk- 检索为 False</a:t>
              </a:r>
            </a:p>
          </p:txBody>
        </p:sp>
      </p:grpSp>
      <p:grpSp>
        <p:nvGrpSpPr>
          <p:cNvPr id="72" name="Group 72"/>
          <p:cNvGrpSpPr/>
          <p:nvPr/>
        </p:nvGrpSpPr>
        <p:grpSpPr>
          <a:xfrm>
            <a:off x="603885" y="6172200"/>
            <a:ext cx="10984230" cy="308134"/>
            <a:chOff x="603885" y="6172200"/>
            <a:chExt cx="10984230" cy="308134"/>
          </a:xfrm>
        </p:grpSpPr>
        <p:sp>
          <p:nvSpPr>
            <p:cNvPr id="69" name="Line 69"/>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70" name="TextBox 70"/>
            <p:cNvSpPr txBox="1"/>
            <p:nvPr/>
          </p:nvSpPr>
          <p:spPr>
            <a:xfrm>
              <a:off x="603885" y="6260306"/>
              <a:ext cx="5657931"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测试记录：docs/test-records.md · 注释统计脚本：scripts/comment-ratio.py</a:t>
              </a:r>
            </a:p>
          </p:txBody>
        </p:sp>
        <p:sp>
          <p:nvSpPr>
            <p:cNvPr id="71" name="TextBox 71"/>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19 / 21</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 name="Group 11"/>
          <p:cNvGrpSpPr/>
          <p:nvPr/>
        </p:nvGrpSpPr>
        <p:grpSpPr>
          <a:xfrm>
            <a:off x="593598" y="311468"/>
            <a:ext cx="10988802" cy="1031557"/>
            <a:chOff x="593598" y="311468"/>
            <a:chExt cx="10988802" cy="1031557"/>
          </a:xfrm>
        </p:grpSpPr>
        <p:sp>
          <p:nvSpPr>
            <p:cNvPr id="2" name="Rectangle 2"/>
            <p:cNvSpPr/>
            <p:nvPr/>
          </p:nvSpPr>
          <p:spPr>
            <a:xfrm>
              <a:off x="609600" y="342900"/>
              <a:ext cx="247650" cy="76200"/>
            </a:xfrm>
            <a:prstGeom prst="roundRect">
              <a:avLst>
                <a:gd name="adj" fmla="val 50000"/>
              </a:avLst>
            </a:prstGeom>
            <a:solidFill>
              <a:schemeClr val="accent2"/>
            </a:solidFill>
            <a:ln>
              <a:noFill/>
            </a:ln>
          </p:spPr>
        </p:sp>
        <p:sp>
          <p:nvSpPr>
            <p:cNvPr id="3" name="Rectangle 3"/>
            <p:cNvSpPr/>
            <p:nvPr/>
          </p:nvSpPr>
          <p:spPr>
            <a:xfrm>
              <a:off x="914400" y="342900"/>
              <a:ext cx="247650" cy="76200"/>
            </a:xfrm>
            <a:prstGeom prst="roundRect">
              <a:avLst>
                <a:gd name="adj" fmla="val 50000"/>
              </a:avLst>
            </a:prstGeom>
            <a:solidFill>
              <a:schemeClr val="accent2"/>
            </a:solidFill>
            <a:ln>
              <a:noFill/>
            </a:ln>
          </p:spPr>
        </p:sp>
        <p:sp>
          <p:nvSpPr>
            <p:cNvPr id="4" name="Rectangle 4"/>
            <p:cNvSpPr/>
            <p:nvPr/>
          </p:nvSpPr>
          <p:spPr>
            <a:xfrm>
              <a:off x="1219200" y="342900"/>
              <a:ext cx="247650" cy="76200"/>
            </a:xfrm>
            <a:prstGeom prst="roundRect">
              <a:avLst>
                <a:gd name="adj" fmla="val 50000"/>
              </a:avLst>
            </a:prstGeom>
            <a:solidFill>
              <a:schemeClr val="accent2"/>
            </a:solidFill>
            <a:ln>
              <a:noFill/>
            </a:ln>
          </p:spPr>
        </p:sp>
        <p:sp>
          <p:nvSpPr>
            <p:cNvPr id="5" name="Rectangle 5"/>
            <p:cNvSpPr/>
            <p:nvPr/>
          </p:nvSpPr>
          <p:spPr>
            <a:xfrm>
              <a:off x="1524000" y="342900"/>
              <a:ext cx="247650" cy="76200"/>
            </a:xfrm>
            <a:prstGeom prst="roundRect">
              <a:avLst>
                <a:gd name="adj" fmla="val 50000"/>
              </a:avLst>
            </a:prstGeom>
            <a:solidFill>
              <a:schemeClr val="accent2"/>
            </a:solidFill>
            <a:ln>
              <a:noFill/>
            </a:ln>
          </p:spPr>
        </p:sp>
        <p:sp>
          <p:nvSpPr>
            <p:cNvPr id="6" name="Rectangle 6"/>
            <p:cNvSpPr/>
            <p:nvPr/>
          </p:nvSpPr>
          <p:spPr>
            <a:xfrm>
              <a:off x="1828800" y="342900"/>
              <a:ext cx="247650" cy="76200"/>
            </a:xfrm>
            <a:prstGeom prst="roundRect">
              <a:avLst>
                <a:gd name="adj" fmla="val 50000"/>
              </a:avLst>
            </a:prstGeom>
            <a:solidFill>
              <a:schemeClr val="accent2"/>
            </a:solidFill>
            <a:ln>
              <a:noFill/>
            </a:ln>
          </p:spPr>
        </p:sp>
        <p:sp>
          <p:nvSpPr>
            <p:cNvPr id="7" name="Rectangle 7"/>
            <p:cNvSpPr/>
            <p:nvPr/>
          </p:nvSpPr>
          <p:spPr>
            <a:xfrm>
              <a:off x="2133600" y="342900"/>
              <a:ext cx="247650" cy="76200"/>
            </a:xfrm>
            <a:prstGeom prst="roundRect">
              <a:avLst>
                <a:gd name="adj" fmla="val 50000"/>
              </a:avLst>
            </a:prstGeom>
            <a:solidFill>
              <a:schemeClr val="accent2"/>
            </a:solidFill>
            <a:ln>
              <a:noFill/>
            </a:ln>
          </p:spPr>
        </p:sp>
        <p:sp>
          <p:nvSpPr>
            <p:cNvPr id="8" name="TextBox 8"/>
            <p:cNvSpPr txBox="1"/>
            <p:nvPr/>
          </p:nvSpPr>
          <p:spPr>
            <a:xfrm>
              <a:off x="2507742" y="311468"/>
              <a:ext cx="1313136" cy="264033"/>
            </a:xfrm>
            <a:prstGeom prst="rect">
              <a:avLst/>
            </a:prstGeom>
            <a:noFill/>
            <a:ln>
              <a:noFill/>
            </a:ln>
          </p:spPr>
          <p:txBody>
            <a:bodyPr wrap="none" lIns="0" tIns="0" rIns="0" bIns="0" anchor="t" anchorCtr="0">
              <a:spAutoFit/>
            </a:bodyPr>
            <a:lstStyle/>
            <a:p>
              <a:pPr algn="l"/>
              <a:r>
                <a:rPr lang="zh-CN" sz="1350" dirty="0">
                  <a:solidFill>
                    <a:schemeClr val="accent5"/>
                  </a:solidFill>
                  <a:latin typeface="+mn-lt"/>
                  <a:ea typeface="+mn-ea"/>
                  <a:cs typeface="+mn-cs"/>
                </a:rPr>
                <a:t>六 · 创新与心得</a:t>
              </a:r>
            </a:p>
          </p:txBody>
        </p:sp>
        <p:sp>
          <p:nvSpPr>
            <p:cNvPr id="9" name="TextBox 9"/>
            <p:cNvSpPr txBox="1"/>
            <p:nvPr/>
          </p:nvSpPr>
          <p:spPr>
            <a:xfrm>
              <a:off x="593598" y="726758"/>
              <a:ext cx="342442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创新点与心得体会</a:t>
              </a:r>
            </a:p>
          </p:txBody>
        </p:sp>
        <p:sp>
          <p:nvSpPr>
            <p:cNvPr id="10" name="Line 10"/>
            <p:cNvSpPr/>
            <p:nvPr/>
          </p:nvSpPr>
          <p:spPr>
            <a:xfrm>
              <a:off x="609600" y="1333500"/>
              <a:ext cx="10972800" cy="9525"/>
            </a:xfrm>
            <a:custGeom>
              <a:avLst/>
              <a:gdLst/>
              <a:ahLst/>
              <a:cxnLst/>
              <a:rect l="l" t="t" r="r" b="b"/>
              <a:pathLst>
                <a:path w="10972800" h="9525">
                  <a:moveTo>
                    <a:pt x="0" y="0"/>
                  </a:moveTo>
                  <a:lnTo>
                    <a:pt x="10972800" y="0"/>
                  </a:lnTo>
                </a:path>
              </a:pathLst>
            </a:custGeom>
            <a:noFill/>
            <a:ln w="9525">
              <a:solidFill>
                <a:schemeClr val="accent6"/>
              </a:solidFill>
            </a:ln>
          </p:spPr>
        </p:sp>
      </p:grpSp>
      <p:grpSp>
        <p:nvGrpSpPr>
          <p:cNvPr id="22" name="Group 22"/>
          <p:cNvGrpSpPr/>
          <p:nvPr/>
        </p:nvGrpSpPr>
        <p:grpSpPr>
          <a:xfrm>
            <a:off x="602742" y="1691640"/>
            <a:ext cx="3702977" cy="579311"/>
            <a:chOff x="602742" y="1691640"/>
            <a:chExt cx="3702977" cy="579311"/>
          </a:xfrm>
        </p:grpSpPr>
        <p:grpSp>
          <p:nvGrpSpPr>
            <p:cNvPr id="19" name="Group 19"/>
            <p:cNvGrpSpPr/>
            <p:nvPr/>
          </p:nvGrpSpPr>
          <p:grpSpPr>
            <a:xfrm>
              <a:off x="626816" y="1731963"/>
              <a:ext cx="175118" cy="174625"/>
              <a:chOff x="626816" y="1731963"/>
              <a:chExt cx="175118" cy="174625"/>
            </a:xfrm>
          </p:grpSpPr>
          <p:sp>
            <p:nvSpPr>
              <p:cNvPr id="12" name="Freeform 12"/>
              <p:cNvSpPr/>
              <p:nvPr/>
            </p:nvSpPr>
            <p:spPr>
              <a:xfrm>
                <a:off x="626816" y="1810544"/>
                <a:ext cx="26686" cy="17463"/>
              </a:xfrm>
              <a:custGeom>
                <a:avLst/>
                <a:gdLst/>
                <a:ahLst/>
                <a:cxnLst/>
                <a:rect l="l" t="t" r="r" b="b"/>
                <a:pathLst>
                  <a:path w="26686" h="17463">
                    <a:moveTo>
                      <a:pt x="17709" y="0"/>
                    </a:moveTo>
                    <a:cubicBezTo>
                      <a:pt x="22328" y="5"/>
                      <a:pt x="26144" y="3608"/>
                      <a:pt x="26415" y="8220"/>
                    </a:cubicBezTo>
                    <a:cubicBezTo>
                      <a:pt x="26686" y="12831"/>
                      <a:pt x="23317" y="16856"/>
                      <a:pt x="18730" y="17401"/>
                    </a:cubicBezTo>
                    <a:lnTo>
                      <a:pt x="17709" y="17463"/>
                    </a:lnTo>
                    <a:lnTo>
                      <a:pt x="8977" y="17463"/>
                    </a:lnTo>
                    <a:cubicBezTo>
                      <a:pt x="4358" y="17457"/>
                      <a:pt x="541" y="13855"/>
                      <a:pt x="271" y="9243"/>
                    </a:cubicBezTo>
                    <a:cubicBezTo>
                      <a:pt x="0" y="4631"/>
                      <a:pt x="3368" y="607"/>
                      <a:pt x="7956" y="61"/>
                    </a:cubicBezTo>
                    <a:lnTo>
                      <a:pt x="8977" y="0"/>
                    </a:lnTo>
                    <a:lnTo>
                      <a:pt x="17709" y="0"/>
                    </a:lnTo>
                    <a:close/>
                  </a:path>
                </a:pathLst>
              </a:custGeom>
              <a:solidFill>
                <a:schemeClr val="accent2"/>
              </a:solidFill>
              <a:ln>
                <a:noFill/>
              </a:ln>
            </p:spPr>
          </p:sp>
          <p:sp>
            <p:nvSpPr>
              <p:cNvPr id="13" name="Freeform 13"/>
              <p:cNvSpPr/>
              <p:nvPr/>
            </p:nvSpPr>
            <p:spPr>
              <a:xfrm>
                <a:off x="705644" y="1731963"/>
                <a:ext cx="17463" cy="26440"/>
              </a:xfrm>
              <a:custGeom>
                <a:avLst/>
                <a:gdLst/>
                <a:ahLst/>
                <a:cxnLst/>
                <a:rect l="l" t="t" r="r" b="b"/>
                <a:pathLst>
                  <a:path w="17463" h="26440">
                    <a:moveTo>
                      <a:pt x="8731" y="0"/>
                    </a:moveTo>
                    <a:cubicBezTo>
                      <a:pt x="13158" y="1"/>
                      <a:pt x="16883" y="3314"/>
                      <a:pt x="17401" y="7710"/>
                    </a:cubicBezTo>
                    <a:lnTo>
                      <a:pt x="17463" y="8731"/>
                    </a:lnTo>
                    <a:lnTo>
                      <a:pt x="17463" y="17463"/>
                    </a:lnTo>
                    <a:cubicBezTo>
                      <a:pt x="17457" y="22082"/>
                      <a:pt x="13855" y="25898"/>
                      <a:pt x="9243" y="26169"/>
                    </a:cubicBezTo>
                    <a:cubicBezTo>
                      <a:pt x="4631" y="26440"/>
                      <a:pt x="607" y="23071"/>
                      <a:pt x="61" y="18484"/>
                    </a:cubicBezTo>
                    <a:lnTo>
                      <a:pt x="0" y="17463"/>
                    </a:lnTo>
                    <a:lnTo>
                      <a:pt x="0" y="8731"/>
                    </a:lnTo>
                    <a:cubicBezTo>
                      <a:pt x="0" y="3909"/>
                      <a:pt x="3909" y="0"/>
                      <a:pt x="8731" y="0"/>
                    </a:cubicBezTo>
                    <a:close/>
                  </a:path>
                </a:pathLst>
              </a:custGeom>
              <a:solidFill>
                <a:schemeClr val="accent2"/>
              </a:solidFill>
              <a:ln>
                <a:noFill/>
              </a:ln>
            </p:spPr>
          </p:sp>
          <p:sp>
            <p:nvSpPr>
              <p:cNvPr id="14" name="Freeform 14"/>
              <p:cNvSpPr/>
              <p:nvPr/>
            </p:nvSpPr>
            <p:spPr>
              <a:xfrm>
                <a:off x="775248" y="1810544"/>
                <a:ext cx="26686" cy="17463"/>
              </a:xfrm>
              <a:custGeom>
                <a:avLst/>
                <a:gdLst/>
                <a:ahLst/>
                <a:cxnLst/>
                <a:rect l="l" t="t" r="r" b="b"/>
                <a:pathLst>
                  <a:path w="26686" h="17463">
                    <a:moveTo>
                      <a:pt x="17709" y="0"/>
                    </a:moveTo>
                    <a:cubicBezTo>
                      <a:pt x="22328" y="5"/>
                      <a:pt x="26144" y="3608"/>
                      <a:pt x="26415" y="8220"/>
                    </a:cubicBezTo>
                    <a:cubicBezTo>
                      <a:pt x="26686" y="12831"/>
                      <a:pt x="23317" y="16856"/>
                      <a:pt x="18730" y="17401"/>
                    </a:cubicBezTo>
                    <a:lnTo>
                      <a:pt x="17709" y="17463"/>
                    </a:lnTo>
                    <a:lnTo>
                      <a:pt x="8977" y="17463"/>
                    </a:lnTo>
                    <a:cubicBezTo>
                      <a:pt x="4358" y="17457"/>
                      <a:pt x="541" y="13855"/>
                      <a:pt x="271" y="9243"/>
                    </a:cubicBezTo>
                    <a:cubicBezTo>
                      <a:pt x="0" y="4631"/>
                      <a:pt x="3368" y="607"/>
                      <a:pt x="7956" y="61"/>
                    </a:cubicBezTo>
                    <a:lnTo>
                      <a:pt x="8977" y="0"/>
                    </a:lnTo>
                    <a:lnTo>
                      <a:pt x="17709" y="0"/>
                    </a:lnTo>
                    <a:close/>
                  </a:path>
                </a:pathLst>
              </a:custGeom>
              <a:solidFill>
                <a:schemeClr val="accent2"/>
              </a:solidFill>
              <a:ln>
                <a:noFill/>
              </a:ln>
            </p:spPr>
          </p:sp>
          <p:sp>
            <p:nvSpPr>
              <p:cNvPr id="15" name="Freeform 15"/>
              <p:cNvSpPr/>
              <p:nvPr/>
            </p:nvSpPr>
            <p:spPr>
              <a:xfrm>
                <a:off x="648913" y="1753801"/>
                <a:ext cx="25276" cy="25420"/>
              </a:xfrm>
              <a:custGeom>
                <a:avLst/>
                <a:gdLst/>
                <a:ahLst/>
                <a:cxnLst/>
                <a:rect l="l" t="t" r="r" b="b"/>
                <a:pathLst>
                  <a:path w="25276" h="25420">
                    <a:moveTo>
                      <a:pt x="3409" y="3421"/>
                    </a:moveTo>
                    <a:cubicBezTo>
                      <a:pt x="6519" y="311"/>
                      <a:pt x="11458" y="0"/>
                      <a:pt x="14934" y="2696"/>
                    </a:cubicBezTo>
                    <a:lnTo>
                      <a:pt x="15755" y="3421"/>
                    </a:lnTo>
                    <a:lnTo>
                      <a:pt x="21866" y="9533"/>
                    </a:lnTo>
                    <a:cubicBezTo>
                      <a:pt x="25116" y="12794"/>
                      <a:pt x="25276" y="18018"/>
                      <a:pt x="22231" y="21471"/>
                    </a:cubicBezTo>
                    <a:cubicBezTo>
                      <a:pt x="19186" y="24924"/>
                      <a:pt x="13983" y="25420"/>
                      <a:pt x="10341" y="22603"/>
                    </a:cubicBezTo>
                    <a:lnTo>
                      <a:pt x="9520" y="21879"/>
                    </a:lnTo>
                    <a:lnTo>
                      <a:pt x="3409" y="15767"/>
                    </a:lnTo>
                    <a:cubicBezTo>
                      <a:pt x="0" y="12357"/>
                      <a:pt x="0" y="6830"/>
                      <a:pt x="3409" y="3421"/>
                    </a:cubicBezTo>
                    <a:close/>
                  </a:path>
                </a:pathLst>
              </a:custGeom>
              <a:solidFill>
                <a:schemeClr val="accent2"/>
              </a:solidFill>
              <a:ln>
                <a:noFill/>
              </a:ln>
            </p:spPr>
          </p:sp>
          <p:sp>
            <p:nvSpPr>
              <p:cNvPr id="16" name="Freeform 16"/>
              <p:cNvSpPr/>
              <p:nvPr/>
            </p:nvSpPr>
            <p:spPr>
              <a:xfrm>
                <a:off x="754429" y="1753813"/>
                <a:ext cx="25540" cy="25277"/>
              </a:xfrm>
              <a:custGeom>
                <a:avLst/>
                <a:gdLst/>
                <a:ahLst/>
                <a:cxnLst/>
                <a:rect l="l" t="t" r="r" b="b"/>
                <a:pathLst>
                  <a:path w="25540" h="25277">
                    <a:moveTo>
                      <a:pt x="9653" y="3409"/>
                    </a:moveTo>
                    <a:cubicBezTo>
                      <a:pt x="12914" y="160"/>
                      <a:pt x="18138" y="0"/>
                      <a:pt x="21591" y="3045"/>
                    </a:cubicBezTo>
                    <a:cubicBezTo>
                      <a:pt x="25044" y="6090"/>
                      <a:pt x="25540" y="11293"/>
                      <a:pt x="22723" y="14935"/>
                    </a:cubicBezTo>
                    <a:lnTo>
                      <a:pt x="21999" y="15755"/>
                    </a:lnTo>
                    <a:lnTo>
                      <a:pt x="15887" y="21867"/>
                    </a:lnTo>
                    <a:cubicBezTo>
                      <a:pt x="12626" y="25117"/>
                      <a:pt x="7402" y="25277"/>
                      <a:pt x="3949" y="22232"/>
                    </a:cubicBezTo>
                    <a:cubicBezTo>
                      <a:pt x="496" y="19187"/>
                      <a:pt x="0" y="13984"/>
                      <a:pt x="2816" y="10342"/>
                    </a:cubicBezTo>
                    <a:lnTo>
                      <a:pt x="3541" y="9521"/>
                    </a:lnTo>
                    <a:lnTo>
                      <a:pt x="9653" y="3409"/>
                    </a:lnTo>
                    <a:close/>
                  </a:path>
                </a:pathLst>
              </a:custGeom>
              <a:solidFill>
                <a:schemeClr val="accent2"/>
              </a:solidFill>
              <a:ln>
                <a:noFill/>
              </a:ln>
            </p:spPr>
          </p:sp>
          <p:sp>
            <p:nvSpPr>
              <p:cNvPr id="17" name="Freeform 17"/>
              <p:cNvSpPr/>
              <p:nvPr/>
            </p:nvSpPr>
            <p:spPr>
              <a:xfrm>
                <a:off x="688181" y="1871663"/>
                <a:ext cx="52388" cy="34925"/>
              </a:xfrm>
              <a:custGeom>
                <a:avLst/>
                <a:gdLst/>
                <a:ahLst/>
                <a:cxnLst/>
                <a:rect l="l" t="t" r="r" b="b"/>
                <a:pathLst>
                  <a:path w="52388" h="34925">
                    <a:moveTo>
                      <a:pt x="43656" y="0"/>
                    </a:moveTo>
                    <a:cubicBezTo>
                      <a:pt x="48478" y="0"/>
                      <a:pt x="52388" y="3909"/>
                      <a:pt x="52388" y="8731"/>
                    </a:cubicBezTo>
                    <a:cubicBezTo>
                      <a:pt x="52388" y="23198"/>
                      <a:pt x="40660" y="34925"/>
                      <a:pt x="26194" y="34925"/>
                    </a:cubicBezTo>
                    <a:cubicBezTo>
                      <a:pt x="11727" y="34925"/>
                      <a:pt x="0" y="23198"/>
                      <a:pt x="0" y="8731"/>
                    </a:cubicBezTo>
                    <a:cubicBezTo>
                      <a:pt x="1" y="4305"/>
                      <a:pt x="3314" y="579"/>
                      <a:pt x="7710" y="61"/>
                    </a:cubicBezTo>
                    <a:lnTo>
                      <a:pt x="8731" y="0"/>
                    </a:lnTo>
                    <a:lnTo>
                      <a:pt x="43656" y="0"/>
                    </a:lnTo>
                    <a:close/>
                  </a:path>
                </a:pathLst>
              </a:custGeom>
              <a:solidFill>
                <a:schemeClr val="accent2"/>
              </a:solidFill>
              <a:ln>
                <a:noFill/>
              </a:ln>
            </p:spPr>
          </p:sp>
          <p:sp>
            <p:nvSpPr>
              <p:cNvPr id="18" name="Freeform 18"/>
              <p:cNvSpPr/>
              <p:nvPr/>
            </p:nvSpPr>
            <p:spPr>
              <a:xfrm>
                <a:off x="657545" y="1766888"/>
                <a:ext cx="113660" cy="96044"/>
              </a:xfrm>
              <a:custGeom>
                <a:avLst/>
                <a:gdLst/>
                <a:ahLst/>
                <a:cxnLst/>
                <a:rect l="l" t="t" r="r" b="b"/>
                <a:pathLst>
                  <a:path w="113660" h="96044">
                    <a:moveTo>
                      <a:pt x="56830" y="0"/>
                    </a:moveTo>
                    <a:cubicBezTo>
                      <a:pt x="79379" y="0"/>
                      <a:pt x="99398" y="14429"/>
                      <a:pt x="106529" y="35821"/>
                    </a:cubicBezTo>
                    <a:cubicBezTo>
                      <a:pt x="113660" y="57213"/>
                      <a:pt x="106302" y="80768"/>
                      <a:pt x="88262" y="94298"/>
                    </a:cubicBezTo>
                    <a:cubicBezTo>
                      <a:pt x="87059" y="95201"/>
                      <a:pt x="85642" y="95779"/>
                      <a:pt x="84150" y="95974"/>
                    </a:cubicBezTo>
                    <a:lnTo>
                      <a:pt x="83024" y="96044"/>
                    </a:lnTo>
                    <a:lnTo>
                      <a:pt x="30636" y="96044"/>
                    </a:lnTo>
                    <a:cubicBezTo>
                      <a:pt x="28747" y="96044"/>
                      <a:pt x="26909" y="95431"/>
                      <a:pt x="25397" y="94298"/>
                    </a:cubicBezTo>
                    <a:cubicBezTo>
                      <a:pt x="7358" y="80768"/>
                      <a:pt x="0" y="57213"/>
                      <a:pt x="7131" y="35821"/>
                    </a:cubicBezTo>
                    <a:cubicBezTo>
                      <a:pt x="14261" y="14429"/>
                      <a:pt x="34281" y="0"/>
                      <a:pt x="56830" y="0"/>
                    </a:cubicBezTo>
                    <a:close/>
                  </a:path>
                </a:pathLst>
              </a:custGeom>
              <a:solidFill>
                <a:schemeClr val="accent2"/>
              </a:solidFill>
              <a:ln>
                <a:noFill/>
              </a:ln>
            </p:spPr>
          </p:sp>
        </p:grpSp>
        <p:sp>
          <p:nvSpPr>
            <p:cNvPr id="20" name="TextBox 20"/>
            <p:cNvSpPr txBox="1"/>
            <p:nvPr/>
          </p:nvSpPr>
          <p:spPr>
            <a:xfrm>
              <a:off x="886206" y="1691640"/>
              <a:ext cx="195681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只有一条写入路径</a:t>
              </a:r>
            </a:p>
          </p:txBody>
        </p:sp>
        <p:sp>
          <p:nvSpPr>
            <p:cNvPr id="21" name="TextBox 21"/>
            <p:cNvSpPr txBox="1"/>
            <p:nvPr/>
          </p:nvSpPr>
          <p:spPr>
            <a:xfrm>
              <a:off x="602742" y="2006918"/>
              <a:ext cx="370297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题库 3 条入口、组卷 2 条入口共用同一套校验</a:t>
              </a:r>
            </a:p>
          </p:txBody>
        </p:sp>
      </p:grpSp>
      <p:grpSp>
        <p:nvGrpSpPr>
          <p:cNvPr id="33" name="Group 33"/>
          <p:cNvGrpSpPr/>
          <p:nvPr/>
        </p:nvGrpSpPr>
        <p:grpSpPr>
          <a:xfrm>
            <a:off x="602742" y="2491740"/>
            <a:ext cx="3857454" cy="579311"/>
            <a:chOff x="602742" y="2491740"/>
            <a:chExt cx="3857454" cy="579311"/>
          </a:xfrm>
        </p:grpSpPr>
        <p:grpSp>
          <p:nvGrpSpPr>
            <p:cNvPr id="30" name="Group 30"/>
            <p:cNvGrpSpPr/>
            <p:nvPr/>
          </p:nvGrpSpPr>
          <p:grpSpPr>
            <a:xfrm>
              <a:off x="626816" y="2532063"/>
              <a:ext cx="175118" cy="174625"/>
              <a:chOff x="626816" y="2532063"/>
              <a:chExt cx="175118" cy="174625"/>
            </a:xfrm>
          </p:grpSpPr>
          <p:sp>
            <p:nvSpPr>
              <p:cNvPr id="23" name="Freeform 23"/>
              <p:cNvSpPr/>
              <p:nvPr/>
            </p:nvSpPr>
            <p:spPr>
              <a:xfrm>
                <a:off x="626816" y="2610644"/>
                <a:ext cx="26686" cy="17463"/>
              </a:xfrm>
              <a:custGeom>
                <a:avLst/>
                <a:gdLst/>
                <a:ahLst/>
                <a:cxnLst/>
                <a:rect l="l" t="t" r="r" b="b"/>
                <a:pathLst>
                  <a:path w="26686" h="17463">
                    <a:moveTo>
                      <a:pt x="17709" y="0"/>
                    </a:moveTo>
                    <a:cubicBezTo>
                      <a:pt x="22328" y="5"/>
                      <a:pt x="26144" y="3608"/>
                      <a:pt x="26415" y="8220"/>
                    </a:cubicBezTo>
                    <a:cubicBezTo>
                      <a:pt x="26686" y="12831"/>
                      <a:pt x="23317" y="16856"/>
                      <a:pt x="18730" y="17401"/>
                    </a:cubicBezTo>
                    <a:lnTo>
                      <a:pt x="17709" y="17463"/>
                    </a:lnTo>
                    <a:lnTo>
                      <a:pt x="8977" y="17463"/>
                    </a:lnTo>
                    <a:cubicBezTo>
                      <a:pt x="4358" y="17457"/>
                      <a:pt x="541" y="13855"/>
                      <a:pt x="271" y="9243"/>
                    </a:cubicBezTo>
                    <a:cubicBezTo>
                      <a:pt x="0" y="4631"/>
                      <a:pt x="3368" y="607"/>
                      <a:pt x="7956" y="61"/>
                    </a:cubicBezTo>
                    <a:lnTo>
                      <a:pt x="8977" y="0"/>
                    </a:lnTo>
                    <a:lnTo>
                      <a:pt x="17709" y="0"/>
                    </a:lnTo>
                    <a:close/>
                  </a:path>
                </a:pathLst>
              </a:custGeom>
              <a:solidFill>
                <a:schemeClr val="accent2"/>
              </a:solidFill>
              <a:ln>
                <a:noFill/>
              </a:ln>
            </p:spPr>
          </p:sp>
          <p:sp>
            <p:nvSpPr>
              <p:cNvPr id="24" name="Freeform 24"/>
              <p:cNvSpPr/>
              <p:nvPr/>
            </p:nvSpPr>
            <p:spPr>
              <a:xfrm>
                <a:off x="705644" y="2532063"/>
                <a:ext cx="17463" cy="26440"/>
              </a:xfrm>
              <a:custGeom>
                <a:avLst/>
                <a:gdLst/>
                <a:ahLst/>
                <a:cxnLst/>
                <a:rect l="l" t="t" r="r" b="b"/>
                <a:pathLst>
                  <a:path w="17463" h="26440">
                    <a:moveTo>
                      <a:pt x="8731" y="0"/>
                    </a:moveTo>
                    <a:cubicBezTo>
                      <a:pt x="13158" y="1"/>
                      <a:pt x="16883" y="3314"/>
                      <a:pt x="17401" y="7710"/>
                    </a:cubicBezTo>
                    <a:lnTo>
                      <a:pt x="17463" y="8731"/>
                    </a:lnTo>
                    <a:lnTo>
                      <a:pt x="17463" y="17463"/>
                    </a:lnTo>
                    <a:cubicBezTo>
                      <a:pt x="17457" y="22082"/>
                      <a:pt x="13855" y="25898"/>
                      <a:pt x="9243" y="26169"/>
                    </a:cubicBezTo>
                    <a:cubicBezTo>
                      <a:pt x="4631" y="26440"/>
                      <a:pt x="607" y="23071"/>
                      <a:pt x="61" y="18484"/>
                    </a:cubicBezTo>
                    <a:lnTo>
                      <a:pt x="0" y="17463"/>
                    </a:lnTo>
                    <a:lnTo>
                      <a:pt x="0" y="8731"/>
                    </a:lnTo>
                    <a:cubicBezTo>
                      <a:pt x="0" y="3909"/>
                      <a:pt x="3909" y="0"/>
                      <a:pt x="8731" y="0"/>
                    </a:cubicBezTo>
                    <a:close/>
                  </a:path>
                </a:pathLst>
              </a:custGeom>
              <a:solidFill>
                <a:schemeClr val="accent2"/>
              </a:solidFill>
              <a:ln>
                <a:noFill/>
              </a:ln>
            </p:spPr>
          </p:sp>
          <p:sp>
            <p:nvSpPr>
              <p:cNvPr id="25" name="Freeform 25"/>
              <p:cNvSpPr/>
              <p:nvPr/>
            </p:nvSpPr>
            <p:spPr>
              <a:xfrm>
                <a:off x="775248" y="2610644"/>
                <a:ext cx="26686" cy="17463"/>
              </a:xfrm>
              <a:custGeom>
                <a:avLst/>
                <a:gdLst/>
                <a:ahLst/>
                <a:cxnLst/>
                <a:rect l="l" t="t" r="r" b="b"/>
                <a:pathLst>
                  <a:path w="26686" h="17463">
                    <a:moveTo>
                      <a:pt x="17709" y="0"/>
                    </a:moveTo>
                    <a:cubicBezTo>
                      <a:pt x="22328" y="5"/>
                      <a:pt x="26144" y="3608"/>
                      <a:pt x="26415" y="8220"/>
                    </a:cubicBezTo>
                    <a:cubicBezTo>
                      <a:pt x="26686" y="12831"/>
                      <a:pt x="23317" y="16856"/>
                      <a:pt x="18730" y="17401"/>
                    </a:cubicBezTo>
                    <a:lnTo>
                      <a:pt x="17709" y="17463"/>
                    </a:lnTo>
                    <a:lnTo>
                      <a:pt x="8977" y="17463"/>
                    </a:lnTo>
                    <a:cubicBezTo>
                      <a:pt x="4358" y="17457"/>
                      <a:pt x="541" y="13855"/>
                      <a:pt x="271" y="9243"/>
                    </a:cubicBezTo>
                    <a:cubicBezTo>
                      <a:pt x="0" y="4631"/>
                      <a:pt x="3368" y="607"/>
                      <a:pt x="7956" y="61"/>
                    </a:cubicBezTo>
                    <a:lnTo>
                      <a:pt x="8977" y="0"/>
                    </a:lnTo>
                    <a:lnTo>
                      <a:pt x="17709" y="0"/>
                    </a:lnTo>
                    <a:close/>
                  </a:path>
                </a:pathLst>
              </a:custGeom>
              <a:solidFill>
                <a:schemeClr val="accent2"/>
              </a:solidFill>
              <a:ln>
                <a:noFill/>
              </a:ln>
            </p:spPr>
          </p:sp>
          <p:sp>
            <p:nvSpPr>
              <p:cNvPr id="26" name="Freeform 26"/>
              <p:cNvSpPr/>
              <p:nvPr/>
            </p:nvSpPr>
            <p:spPr>
              <a:xfrm>
                <a:off x="648913" y="2553901"/>
                <a:ext cx="25276" cy="25420"/>
              </a:xfrm>
              <a:custGeom>
                <a:avLst/>
                <a:gdLst/>
                <a:ahLst/>
                <a:cxnLst/>
                <a:rect l="l" t="t" r="r" b="b"/>
                <a:pathLst>
                  <a:path w="25276" h="25420">
                    <a:moveTo>
                      <a:pt x="3409" y="3421"/>
                    </a:moveTo>
                    <a:cubicBezTo>
                      <a:pt x="6519" y="311"/>
                      <a:pt x="11458" y="0"/>
                      <a:pt x="14934" y="2696"/>
                    </a:cubicBezTo>
                    <a:lnTo>
                      <a:pt x="15755" y="3421"/>
                    </a:lnTo>
                    <a:lnTo>
                      <a:pt x="21866" y="9533"/>
                    </a:lnTo>
                    <a:cubicBezTo>
                      <a:pt x="25116" y="12794"/>
                      <a:pt x="25276" y="18018"/>
                      <a:pt x="22231" y="21471"/>
                    </a:cubicBezTo>
                    <a:cubicBezTo>
                      <a:pt x="19186" y="24924"/>
                      <a:pt x="13983" y="25420"/>
                      <a:pt x="10341" y="22603"/>
                    </a:cubicBezTo>
                    <a:lnTo>
                      <a:pt x="9520" y="21879"/>
                    </a:lnTo>
                    <a:lnTo>
                      <a:pt x="3409" y="15767"/>
                    </a:lnTo>
                    <a:cubicBezTo>
                      <a:pt x="0" y="12357"/>
                      <a:pt x="0" y="6830"/>
                      <a:pt x="3409" y="3421"/>
                    </a:cubicBezTo>
                    <a:close/>
                  </a:path>
                </a:pathLst>
              </a:custGeom>
              <a:solidFill>
                <a:schemeClr val="accent2"/>
              </a:solidFill>
              <a:ln>
                <a:noFill/>
              </a:ln>
            </p:spPr>
          </p:sp>
          <p:sp>
            <p:nvSpPr>
              <p:cNvPr id="27" name="Freeform 27"/>
              <p:cNvSpPr/>
              <p:nvPr/>
            </p:nvSpPr>
            <p:spPr>
              <a:xfrm>
                <a:off x="754429" y="2553913"/>
                <a:ext cx="25540" cy="25277"/>
              </a:xfrm>
              <a:custGeom>
                <a:avLst/>
                <a:gdLst/>
                <a:ahLst/>
                <a:cxnLst/>
                <a:rect l="l" t="t" r="r" b="b"/>
                <a:pathLst>
                  <a:path w="25540" h="25277">
                    <a:moveTo>
                      <a:pt x="9653" y="3409"/>
                    </a:moveTo>
                    <a:cubicBezTo>
                      <a:pt x="12914" y="160"/>
                      <a:pt x="18138" y="0"/>
                      <a:pt x="21591" y="3045"/>
                    </a:cubicBezTo>
                    <a:cubicBezTo>
                      <a:pt x="25044" y="6090"/>
                      <a:pt x="25540" y="11293"/>
                      <a:pt x="22723" y="14935"/>
                    </a:cubicBezTo>
                    <a:lnTo>
                      <a:pt x="21999" y="15755"/>
                    </a:lnTo>
                    <a:lnTo>
                      <a:pt x="15887" y="21867"/>
                    </a:lnTo>
                    <a:cubicBezTo>
                      <a:pt x="12626" y="25117"/>
                      <a:pt x="7402" y="25277"/>
                      <a:pt x="3949" y="22232"/>
                    </a:cubicBezTo>
                    <a:cubicBezTo>
                      <a:pt x="496" y="19187"/>
                      <a:pt x="0" y="13984"/>
                      <a:pt x="2816" y="10342"/>
                    </a:cubicBezTo>
                    <a:lnTo>
                      <a:pt x="3541" y="9521"/>
                    </a:lnTo>
                    <a:lnTo>
                      <a:pt x="9653" y="3409"/>
                    </a:lnTo>
                    <a:close/>
                  </a:path>
                </a:pathLst>
              </a:custGeom>
              <a:solidFill>
                <a:schemeClr val="accent2"/>
              </a:solidFill>
              <a:ln>
                <a:noFill/>
              </a:ln>
            </p:spPr>
          </p:sp>
          <p:sp>
            <p:nvSpPr>
              <p:cNvPr id="28" name="Freeform 28"/>
              <p:cNvSpPr/>
              <p:nvPr/>
            </p:nvSpPr>
            <p:spPr>
              <a:xfrm>
                <a:off x="688181" y="2671763"/>
                <a:ext cx="52388" cy="34925"/>
              </a:xfrm>
              <a:custGeom>
                <a:avLst/>
                <a:gdLst/>
                <a:ahLst/>
                <a:cxnLst/>
                <a:rect l="l" t="t" r="r" b="b"/>
                <a:pathLst>
                  <a:path w="52388" h="34925">
                    <a:moveTo>
                      <a:pt x="43656" y="0"/>
                    </a:moveTo>
                    <a:cubicBezTo>
                      <a:pt x="48478" y="0"/>
                      <a:pt x="52388" y="3909"/>
                      <a:pt x="52388" y="8731"/>
                    </a:cubicBezTo>
                    <a:cubicBezTo>
                      <a:pt x="52388" y="23198"/>
                      <a:pt x="40660" y="34925"/>
                      <a:pt x="26194" y="34925"/>
                    </a:cubicBezTo>
                    <a:cubicBezTo>
                      <a:pt x="11727" y="34925"/>
                      <a:pt x="0" y="23198"/>
                      <a:pt x="0" y="8731"/>
                    </a:cubicBezTo>
                    <a:cubicBezTo>
                      <a:pt x="1" y="4305"/>
                      <a:pt x="3314" y="579"/>
                      <a:pt x="7710" y="61"/>
                    </a:cubicBezTo>
                    <a:lnTo>
                      <a:pt x="8731" y="0"/>
                    </a:lnTo>
                    <a:lnTo>
                      <a:pt x="43656" y="0"/>
                    </a:lnTo>
                    <a:close/>
                  </a:path>
                </a:pathLst>
              </a:custGeom>
              <a:solidFill>
                <a:schemeClr val="accent2"/>
              </a:solidFill>
              <a:ln>
                <a:noFill/>
              </a:ln>
            </p:spPr>
          </p:sp>
          <p:sp>
            <p:nvSpPr>
              <p:cNvPr id="29" name="Freeform 29"/>
              <p:cNvSpPr/>
              <p:nvPr/>
            </p:nvSpPr>
            <p:spPr>
              <a:xfrm>
                <a:off x="657545" y="2566988"/>
                <a:ext cx="113660" cy="96044"/>
              </a:xfrm>
              <a:custGeom>
                <a:avLst/>
                <a:gdLst/>
                <a:ahLst/>
                <a:cxnLst/>
                <a:rect l="l" t="t" r="r" b="b"/>
                <a:pathLst>
                  <a:path w="113660" h="96044">
                    <a:moveTo>
                      <a:pt x="56830" y="0"/>
                    </a:moveTo>
                    <a:cubicBezTo>
                      <a:pt x="79379" y="0"/>
                      <a:pt x="99398" y="14429"/>
                      <a:pt x="106529" y="35821"/>
                    </a:cubicBezTo>
                    <a:cubicBezTo>
                      <a:pt x="113660" y="57213"/>
                      <a:pt x="106302" y="80768"/>
                      <a:pt x="88262" y="94298"/>
                    </a:cubicBezTo>
                    <a:cubicBezTo>
                      <a:pt x="87059" y="95201"/>
                      <a:pt x="85642" y="95779"/>
                      <a:pt x="84150" y="95974"/>
                    </a:cubicBezTo>
                    <a:lnTo>
                      <a:pt x="83024" y="96044"/>
                    </a:lnTo>
                    <a:lnTo>
                      <a:pt x="30636" y="96044"/>
                    </a:lnTo>
                    <a:cubicBezTo>
                      <a:pt x="28747" y="96044"/>
                      <a:pt x="26909" y="95431"/>
                      <a:pt x="25397" y="94298"/>
                    </a:cubicBezTo>
                    <a:cubicBezTo>
                      <a:pt x="7358" y="80768"/>
                      <a:pt x="0" y="57213"/>
                      <a:pt x="7131" y="35821"/>
                    </a:cubicBezTo>
                    <a:cubicBezTo>
                      <a:pt x="14261" y="14429"/>
                      <a:pt x="34281" y="0"/>
                      <a:pt x="56830" y="0"/>
                    </a:cubicBezTo>
                    <a:close/>
                  </a:path>
                </a:pathLst>
              </a:custGeom>
              <a:solidFill>
                <a:schemeClr val="accent2"/>
              </a:solidFill>
              <a:ln>
                <a:noFill/>
              </a:ln>
            </p:spPr>
          </p:sp>
        </p:grpSp>
        <p:sp>
          <p:nvSpPr>
            <p:cNvPr id="31" name="TextBox 31"/>
            <p:cNvSpPr txBox="1"/>
            <p:nvPr/>
          </p:nvSpPr>
          <p:spPr>
            <a:xfrm>
              <a:off x="886206" y="2491740"/>
              <a:ext cx="273404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快照式组卷 + 字段级裁剪</a:t>
              </a:r>
            </a:p>
          </p:txBody>
        </p:sp>
        <p:sp>
          <p:nvSpPr>
            <p:cNvPr id="32" name="TextBox 32"/>
            <p:cNvSpPr txBox="1"/>
            <p:nvPr/>
          </p:nvSpPr>
          <p:spPr>
            <a:xfrm>
              <a:off x="602742" y="2807018"/>
              <a:ext cx="385745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题库可改而历史成绩不变；null 与 0 区分可见性</a:t>
              </a:r>
            </a:p>
          </p:txBody>
        </p:sp>
      </p:grpSp>
      <p:grpSp>
        <p:nvGrpSpPr>
          <p:cNvPr id="44" name="Group 44"/>
          <p:cNvGrpSpPr/>
          <p:nvPr/>
        </p:nvGrpSpPr>
        <p:grpSpPr>
          <a:xfrm>
            <a:off x="602742" y="3291840"/>
            <a:ext cx="4011930" cy="579311"/>
            <a:chOff x="602742" y="3291840"/>
            <a:chExt cx="4011930" cy="579311"/>
          </a:xfrm>
        </p:grpSpPr>
        <p:grpSp>
          <p:nvGrpSpPr>
            <p:cNvPr id="41" name="Group 41"/>
            <p:cNvGrpSpPr/>
            <p:nvPr/>
          </p:nvGrpSpPr>
          <p:grpSpPr>
            <a:xfrm>
              <a:off x="626816" y="3332163"/>
              <a:ext cx="175118" cy="174625"/>
              <a:chOff x="626816" y="3332163"/>
              <a:chExt cx="175118" cy="174625"/>
            </a:xfrm>
          </p:grpSpPr>
          <p:sp>
            <p:nvSpPr>
              <p:cNvPr id="34" name="Freeform 34"/>
              <p:cNvSpPr/>
              <p:nvPr/>
            </p:nvSpPr>
            <p:spPr>
              <a:xfrm>
                <a:off x="626816" y="3410744"/>
                <a:ext cx="26686" cy="17463"/>
              </a:xfrm>
              <a:custGeom>
                <a:avLst/>
                <a:gdLst/>
                <a:ahLst/>
                <a:cxnLst/>
                <a:rect l="l" t="t" r="r" b="b"/>
                <a:pathLst>
                  <a:path w="26686" h="17463">
                    <a:moveTo>
                      <a:pt x="17709" y="0"/>
                    </a:moveTo>
                    <a:cubicBezTo>
                      <a:pt x="22328" y="5"/>
                      <a:pt x="26144" y="3608"/>
                      <a:pt x="26415" y="8220"/>
                    </a:cubicBezTo>
                    <a:cubicBezTo>
                      <a:pt x="26686" y="12831"/>
                      <a:pt x="23317" y="16856"/>
                      <a:pt x="18730" y="17401"/>
                    </a:cubicBezTo>
                    <a:lnTo>
                      <a:pt x="17709" y="17463"/>
                    </a:lnTo>
                    <a:lnTo>
                      <a:pt x="8977" y="17463"/>
                    </a:lnTo>
                    <a:cubicBezTo>
                      <a:pt x="4358" y="17457"/>
                      <a:pt x="541" y="13855"/>
                      <a:pt x="271" y="9243"/>
                    </a:cubicBezTo>
                    <a:cubicBezTo>
                      <a:pt x="0" y="4631"/>
                      <a:pt x="3368" y="607"/>
                      <a:pt x="7956" y="61"/>
                    </a:cubicBezTo>
                    <a:lnTo>
                      <a:pt x="8977" y="0"/>
                    </a:lnTo>
                    <a:lnTo>
                      <a:pt x="17709" y="0"/>
                    </a:lnTo>
                    <a:close/>
                  </a:path>
                </a:pathLst>
              </a:custGeom>
              <a:solidFill>
                <a:schemeClr val="accent2"/>
              </a:solidFill>
              <a:ln>
                <a:noFill/>
              </a:ln>
            </p:spPr>
          </p:sp>
          <p:sp>
            <p:nvSpPr>
              <p:cNvPr id="35" name="Freeform 35"/>
              <p:cNvSpPr/>
              <p:nvPr/>
            </p:nvSpPr>
            <p:spPr>
              <a:xfrm>
                <a:off x="705644" y="3332163"/>
                <a:ext cx="17463" cy="26440"/>
              </a:xfrm>
              <a:custGeom>
                <a:avLst/>
                <a:gdLst/>
                <a:ahLst/>
                <a:cxnLst/>
                <a:rect l="l" t="t" r="r" b="b"/>
                <a:pathLst>
                  <a:path w="17463" h="26440">
                    <a:moveTo>
                      <a:pt x="8731" y="0"/>
                    </a:moveTo>
                    <a:cubicBezTo>
                      <a:pt x="13158" y="1"/>
                      <a:pt x="16883" y="3314"/>
                      <a:pt x="17401" y="7710"/>
                    </a:cubicBezTo>
                    <a:lnTo>
                      <a:pt x="17463" y="8731"/>
                    </a:lnTo>
                    <a:lnTo>
                      <a:pt x="17463" y="17463"/>
                    </a:lnTo>
                    <a:cubicBezTo>
                      <a:pt x="17457" y="22082"/>
                      <a:pt x="13855" y="25898"/>
                      <a:pt x="9243" y="26169"/>
                    </a:cubicBezTo>
                    <a:cubicBezTo>
                      <a:pt x="4631" y="26440"/>
                      <a:pt x="607" y="23071"/>
                      <a:pt x="61" y="18484"/>
                    </a:cubicBezTo>
                    <a:lnTo>
                      <a:pt x="0" y="17463"/>
                    </a:lnTo>
                    <a:lnTo>
                      <a:pt x="0" y="8731"/>
                    </a:lnTo>
                    <a:cubicBezTo>
                      <a:pt x="0" y="3909"/>
                      <a:pt x="3909" y="0"/>
                      <a:pt x="8731" y="0"/>
                    </a:cubicBezTo>
                    <a:close/>
                  </a:path>
                </a:pathLst>
              </a:custGeom>
              <a:solidFill>
                <a:schemeClr val="accent2"/>
              </a:solidFill>
              <a:ln>
                <a:noFill/>
              </a:ln>
            </p:spPr>
          </p:sp>
          <p:sp>
            <p:nvSpPr>
              <p:cNvPr id="36" name="Freeform 36"/>
              <p:cNvSpPr/>
              <p:nvPr/>
            </p:nvSpPr>
            <p:spPr>
              <a:xfrm>
                <a:off x="775248" y="3410744"/>
                <a:ext cx="26686" cy="17463"/>
              </a:xfrm>
              <a:custGeom>
                <a:avLst/>
                <a:gdLst/>
                <a:ahLst/>
                <a:cxnLst/>
                <a:rect l="l" t="t" r="r" b="b"/>
                <a:pathLst>
                  <a:path w="26686" h="17463">
                    <a:moveTo>
                      <a:pt x="17709" y="0"/>
                    </a:moveTo>
                    <a:cubicBezTo>
                      <a:pt x="22328" y="5"/>
                      <a:pt x="26144" y="3608"/>
                      <a:pt x="26415" y="8220"/>
                    </a:cubicBezTo>
                    <a:cubicBezTo>
                      <a:pt x="26686" y="12831"/>
                      <a:pt x="23317" y="16856"/>
                      <a:pt x="18730" y="17401"/>
                    </a:cubicBezTo>
                    <a:lnTo>
                      <a:pt x="17709" y="17463"/>
                    </a:lnTo>
                    <a:lnTo>
                      <a:pt x="8977" y="17463"/>
                    </a:lnTo>
                    <a:cubicBezTo>
                      <a:pt x="4358" y="17457"/>
                      <a:pt x="541" y="13855"/>
                      <a:pt x="271" y="9243"/>
                    </a:cubicBezTo>
                    <a:cubicBezTo>
                      <a:pt x="0" y="4631"/>
                      <a:pt x="3368" y="607"/>
                      <a:pt x="7956" y="61"/>
                    </a:cubicBezTo>
                    <a:lnTo>
                      <a:pt x="8977" y="0"/>
                    </a:lnTo>
                    <a:lnTo>
                      <a:pt x="17709" y="0"/>
                    </a:lnTo>
                    <a:close/>
                  </a:path>
                </a:pathLst>
              </a:custGeom>
              <a:solidFill>
                <a:schemeClr val="accent2"/>
              </a:solidFill>
              <a:ln>
                <a:noFill/>
              </a:ln>
            </p:spPr>
          </p:sp>
          <p:sp>
            <p:nvSpPr>
              <p:cNvPr id="37" name="Freeform 37"/>
              <p:cNvSpPr/>
              <p:nvPr/>
            </p:nvSpPr>
            <p:spPr>
              <a:xfrm>
                <a:off x="648913" y="3354001"/>
                <a:ext cx="25276" cy="25420"/>
              </a:xfrm>
              <a:custGeom>
                <a:avLst/>
                <a:gdLst/>
                <a:ahLst/>
                <a:cxnLst/>
                <a:rect l="l" t="t" r="r" b="b"/>
                <a:pathLst>
                  <a:path w="25276" h="25420">
                    <a:moveTo>
                      <a:pt x="3409" y="3421"/>
                    </a:moveTo>
                    <a:cubicBezTo>
                      <a:pt x="6519" y="311"/>
                      <a:pt x="11458" y="0"/>
                      <a:pt x="14934" y="2696"/>
                    </a:cubicBezTo>
                    <a:lnTo>
                      <a:pt x="15755" y="3421"/>
                    </a:lnTo>
                    <a:lnTo>
                      <a:pt x="21866" y="9533"/>
                    </a:lnTo>
                    <a:cubicBezTo>
                      <a:pt x="25116" y="12794"/>
                      <a:pt x="25276" y="18018"/>
                      <a:pt x="22231" y="21471"/>
                    </a:cubicBezTo>
                    <a:cubicBezTo>
                      <a:pt x="19186" y="24924"/>
                      <a:pt x="13983" y="25420"/>
                      <a:pt x="10341" y="22603"/>
                    </a:cubicBezTo>
                    <a:lnTo>
                      <a:pt x="9520" y="21879"/>
                    </a:lnTo>
                    <a:lnTo>
                      <a:pt x="3409" y="15767"/>
                    </a:lnTo>
                    <a:cubicBezTo>
                      <a:pt x="0" y="12357"/>
                      <a:pt x="0" y="6830"/>
                      <a:pt x="3409" y="3421"/>
                    </a:cubicBezTo>
                    <a:close/>
                  </a:path>
                </a:pathLst>
              </a:custGeom>
              <a:solidFill>
                <a:schemeClr val="accent2"/>
              </a:solidFill>
              <a:ln>
                <a:noFill/>
              </a:ln>
            </p:spPr>
          </p:sp>
          <p:sp>
            <p:nvSpPr>
              <p:cNvPr id="38" name="Freeform 38"/>
              <p:cNvSpPr/>
              <p:nvPr/>
            </p:nvSpPr>
            <p:spPr>
              <a:xfrm>
                <a:off x="754429" y="3354013"/>
                <a:ext cx="25540" cy="25277"/>
              </a:xfrm>
              <a:custGeom>
                <a:avLst/>
                <a:gdLst/>
                <a:ahLst/>
                <a:cxnLst/>
                <a:rect l="l" t="t" r="r" b="b"/>
                <a:pathLst>
                  <a:path w="25540" h="25277">
                    <a:moveTo>
                      <a:pt x="9653" y="3409"/>
                    </a:moveTo>
                    <a:cubicBezTo>
                      <a:pt x="12914" y="160"/>
                      <a:pt x="18138" y="0"/>
                      <a:pt x="21591" y="3045"/>
                    </a:cubicBezTo>
                    <a:cubicBezTo>
                      <a:pt x="25044" y="6090"/>
                      <a:pt x="25540" y="11293"/>
                      <a:pt x="22723" y="14935"/>
                    </a:cubicBezTo>
                    <a:lnTo>
                      <a:pt x="21999" y="15755"/>
                    </a:lnTo>
                    <a:lnTo>
                      <a:pt x="15887" y="21867"/>
                    </a:lnTo>
                    <a:cubicBezTo>
                      <a:pt x="12626" y="25117"/>
                      <a:pt x="7402" y="25277"/>
                      <a:pt x="3949" y="22232"/>
                    </a:cubicBezTo>
                    <a:cubicBezTo>
                      <a:pt x="496" y="19187"/>
                      <a:pt x="0" y="13984"/>
                      <a:pt x="2816" y="10342"/>
                    </a:cubicBezTo>
                    <a:lnTo>
                      <a:pt x="3541" y="9521"/>
                    </a:lnTo>
                    <a:lnTo>
                      <a:pt x="9653" y="3409"/>
                    </a:lnTo>
                    <a:close/>
                  </a:path>
                </a:pathLst>
              </a:custGeom>
              <a:solidFill>
                <a:schemeClr val="accent2"/>
              </a:solidFill>
              <a:ln>
                <a:noFill/>
              </a:ln>
            </p:spPr>
          </p:sp>
          <p:sp>
            <p:nvSpPr>
              <p:cNvPr id="39" name="Freeform 39"/>
              <p:cNvSpPr/>
              <p:nvPr/>
            </p:nvSpPr>
            <p:spPr>
              <a:xfrm>
                <a:off x="688181" y="3471863"/>
                <a:ext cx="52388" cy="34925"/>
              </a:xfrm>
              <a:custGeom>
                <a:avLst/>
                <a:gdLst/>
                <a:ahLst/>
                <a:cxnLst/>
                <a:rect l="l" t="t" r="r" b="b"/>
                <a:pathLst>
                  <a:path w="52388" h="34925">
                    <a:moveTo>
                      <a:pt x="43656" y="0"/>
                    </a:moveTo>
                    <a:cubicBezTo>
                      <a:pt x="48478" y="0"/>
                      <a:pt x="52388" y="3909"/>
                      <a:pt x="52388" y="8731"/>
                    </a:cubicBezTo>
                    <a:cubicBezTo>
                      <a:pt x="52388" y="23198"/>
                      <a:pt x="40660" y="34925"/>
                      <a:pt x="26194" y="34925"/>
                    </a:cubicBezTo>
                    <a:cubicBezTo>
                      <a:pt x="11727" y="34925"/>
                      <a:pt x="0" y="23198"/>
                      <a:pt x="0" y="8731"/>
                    </a:cubicBezTo>
                    <a:cubicBezTo>
                      <a:pt x="1" y="4305"/>
                      <a:pt x="3314" y="579"/>
                      <a:pt x="7710" y="61"/>
                    </a:cubicBezTo>
                    <a:lnTo>
                      <a:pt x="8731" y="0"/>
                    </a:lnTo>
                    <a:lnTo>
                      <a:pt x="43656" y="0"/>
                    </a:lnTo>
                    <a:close/>
                  </a:path>
                </a:pathLst>
              </a:custGeom>
              <a:solidFill>
                <a:schemeClr val="accent2"/>
              </a:solidFill>
              <a:ln>
                <a:noFill/>
              </a:ln>
            </p:spPr>
          </p:sp>
          <p:sp>
            <p:nvSpPr>
              <p:cNvPr id="40" name="Freeform 40"/>
              <p:cNvSpPr/>
              <p:nvPr/>
            </p:nvSpPr>
            <p:spPr>
              <a:xfrm>
                <a:off x="657545" y="3367088"/>
                <a:ext cx="113660" cy="96044"/>
              </a:xfrm>
              <a:custGeom>
                <a:avLst/>
                <a:gdLst/>
                <a:ahLst/>
                <a:cxnLst/>
                <a:rect l="l" t="t" r="r" b="b"/>
                <a:pathLst>
                  <a:path w="113660" h="96044">
                    <a:moveTo>
                      <a:pt x="56830" y="0"/>
                    </a:moveTo>
                    <a:cubicBezTo>
                      <a:pt x="79379" y="0"/>
                      <a:pt x="99398" y="14429"/>
                      <a:pt x="106529" y="35821"/>
                    </a:cubicBezTo>
                    <a:cubicBezTo>
                      <a:pt x="113660" y="57213"/>
                      <a:pt x="106302" y="80768"/>
                      <a:pt x="88262" y="94298"/>
                    </a:cubicBezTo>
                    <a:cubicBezTo>
                      <a:pt x="87059" y="95201"/>
                      <a:pt x="85642" y="95779"/>
                      <a:pt x="84150" y="95974"/>
                    </a:cubicBezTo>
                    <a:lnTo>
                      <a:pt x="83024" y="96044"/>
                    </a:lnTo>
                    <a:lnTo>
                      <a:pt x="30636" y="96044"/>
                    </a:lnTo>
                    <a:cubicBezTo>
                      <a:pt x="28747" y="96044"/>
                      <a:pt x="26909" y="95431"/>
                      <a:pt x="25397" y="94298"/>
                    </a:cubicBezTo>
                    <a:cubicBezTo>
                      <a:pt x="7358" y="80768"/>
                      <a:pt x="0" y="57213"/>
                      <a:pt x="7131" y="35821"/>
                    </a:cubicBezTo>
                    <a:cubicBezTo>
                      <a:pt x="14261" y="14429"/>
                      <a:pt x="34281" y="0"/>
                      <a:pt x="56830" y="0"/>
                    </a:cubicBezTo>
                    <a:close/>
                  </a:path>
                </a:pathLst>
              </a:custGeom>
              <a:solidFill>
                <a:schemeClr val="accent2"/>
              </a:solidFill>
              <a:ln>
                <a:noFill/>
              </a:ln>
            </p:spPr>
          </p:sp>
        </p:grpSp>
        <p:sp>
          <p:nvSpPr>
            <p:cNvPr id="42" name="TextBox 42"/>
            <p:cNvSpPr txBox="1"/>
            <p:nvPr/>
          </p:nvSpPr>
          <p:spPr>
            <a:xfrm>
              <a:off x="886206" y="3291840"/>
              <a:ext cx="195681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统计口径单一实现</a:t>
              </a:r>
            </a:p>
          </p:txBody>
        </p:sp>
        <p:sp>
          <p:nvSpPr>
            <p:cNvPr id="43" name="TextBox 43"/>
            <p:cNvSpPr txBox="1"/>
            <p:nvPr/>
          </p:nvSpPr>
          <p:spPr>
            <a:xfrm>
              <a:off x="602742" y="3607118"/>
              <a:ext cx="401193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统计页直接调用成绩接口，两页数字不可能对不上</a:t>
              </a:r>
            </a:p>
          </p:txBody>
        </p:sp>
      </p:grpSp>
      <p:grpSp>
        <p:nvGrpSpPr>
          <p:cNvPr id="55" name="Group 55"/>
          <p:cNvGrpSpPr/>
          <p:nvPr/>
        </p:nvGrpSpPr>
        <p:grpSpPr>
          <a:xfrm>
            <a:off x="602742" y="4091940"/>
            <a:ext cx="4078110" cy="579311"/>
            <a:chOff x="602742" y="4091940"/>
            <a:chExt cx="4078110" cy="579311"/>
          </a:xfrm>
        </p:grpSpPr>
        <p:grpSp>
          <p:nvGrpSpPr>
            <p:cNvPr id="52" name="Group 52"/>
            <p:cNvGrpSpPr/>
            <p:nvPr/>
          </p:nvGrpSpPr>
          <p:grpSpPr>
            <a:xfrm>
              <a:off x="626816" y="4132263"/>
              <a:ext cx="175118" cy="174625"/>
              <a:chOff x="626816" y="4132263"/>
              <a:chExt cx="175118" cy="174625"/>
            </a:xfrm>
          </p:grpSpPr>
          <p:sp>
            <p:nvSpPr>
              <p:cNvPr id="45" name="Freeform 45"/>
              <p:cNvSpPr/>
              <p:nvPr/>
            </p:nvSpPr>
            <p:spPr>
              <a:xfrm>
                <a:off x="626816" y="4210844"/>
                <a:ext cx="26686" cy="17463"/>
              </a:xfrm>
              <a:custGeom>
                <a:avLst/>
                <a:gdLst/>
                <a:ahLst/>
                <a:cxnLst/>
                <a:rect l="l" t="t" r="r" b="b"/>
                <a:pathLst>
                  <a:path w="26686" h="17463">
                    <a:moveTo>
                      <a:pt x="17709" y="0"/>
                    </a:moveTo>
                    <a:cubicBezTo>
                      <a:pt x="22328" y="5"/>
                      <a:pt x="26144" y="3608"/>
                      <a:pt x="26415" y="8220"/>
                    </a:cubicBezTo>
                    <a:cubicBezTo>
                      <a:pt x="26686" y="12831"/>
                      <a:pt x="23317" y="16856"/>
                      <a:pt x="18730" y="17401"/>
                    </a:cubicBezTo>
                    <a:lnTo>
                      <a:pt x="17709" y="17463"/>
                    </a:lnTo>
                    <a:lnTo>
                      <a:pt x="8977" y="17463"/>
                    </a:lnTo>
                    <a:cubicBezTo>
                      <a:pt x="4358" y="17457"/>
                      <a:pt x="541" y="13855"/>
                      <a:pt x="271" y="9243"/>
                    </a:cubicBezTo>
                    <a:cubicBezTo>
                      <a:pt x="0" y="4631"/>
                      <a:pt x="3368" y="607"/>
                      <a:pt x="7956" y="61"/>
                    </a:cubicBezTo>
                    <a:lnTo>
                      <a:pt x="8977" y="0"/>
                    </a:lnTo>
                    <a:lnTo>
                      <a:pt x="17709" y="0"/>
                    </a:lnTo>
                    <a:close/>
                  </a:path>
                </a:pathLst>
              </a:custGeom>
              <a:solidFill>
                <a:schemeClr val="accent2"/>
              </a:solidFill>
              <a:ln>
                <a:noFill/>
              </a:ln>
            </p:spPr>
          </p:sp>
          <p:sp>
            <p:nvSpPr>
              <p:cNvPr id="46" name="Freeform 46"/>
              <p:cNvSpPr/>
              <p:nvPr/>
            </p:nvSpPr>
            <p:spPr>
              <a:xfrm>
                <a:off x="705644" y="4132263"/>
                <a:ext cx="17463" cy="26440"/>
              </a:xfrm>
              <a:custGeom>
                <a:avLst/>
                <a:gdLst/>
                <a:ahLst/>
                <a:cxnLst/>
                <a:rect l="l" t="t" r="r" b="b"/>
                <a:pathLst>
                  <a:path w="17463" h="26440">
                    <a:moveTo>
                      <a:pt x="8731" y="0"/>
                    </a:moveTo>
                    <a:cubicBezTo>
                      <a:pt x="13158" y="1"/>
                      <a:pt x="16883" y="3314"/>
                      <a:pt x="17401" y="7710"/>
                    </a:cubicBezTo>
                    <a:lnTo>
                      <a:pt x="17463" y="8731"/>
                    </a:lnTo>
                    <a:lnTo>
                      <a:pt x="17463" y="17463"/>
                    </a:lnTo>
                    <a:cubicBezTo>
                      <a:pt x="17457" y="22082"/>
                      <a:pt x="13855" y="25898"/>
                      <a:pt x="9243" y="26169"/>
                    </a:cubicBezTo>
                    <a:cubicBezTo>
                      <a:pt x="4631" y="26440"/>
                      <a:pt x="607" y="23071"/>
                      <a:pt x="61" y="18484"/>
                    </a:cubicBezTo>
                    <a:lnTo>
                      <a:pt x="0" y="17463"/>
                    </a:lnTo>
                    <a:lnTo>
                      <a:pt x="0" y="8731"/>
                    </a:lnTo>
                    <a:cubicBezTo>
                      <a:pt x="0" y="3909"/>
                      <a:pt x="3909" y="0"/>
                      <a:pt x="8731" y="0"/>
                    </a:cubicBezTo>
                    <a:close/>
                  </a:path>
                </a:pathLst>
              </a:custGeom>
              <a:solidFill>
                <a:schemeClr val="accent2"/>
              </a:solidFill>
              <a:ln>
                <a:noFill/>
              </a:ln>
            </p:spPr>
          </p:sp>
          <p:sp>
            <p:nvSpPr>
              <p:cNvPr id="47" name="Freeform 47"/>
              <p:cNvSpPr/>
              <p:nvPr/>
            </p:nvSpPr>
            <p:spPr>
              <a:xfrm>
                <a:off x="775248" y="4210844"/>
                <a:ext cx="26686" cy="17463"/>
              </a:xfrm>
              <a:custGeom>
                <a:avLst/>
                <a:gdLst/>
                <a:ahLst/>
                <a:cxnLst/>
                <a:rect l="l" t="t" r="r" b="b"/>
                <a:pathLst>
                  <a:path w="26686" h="17463">
                    <a:moveTo>
                      <a:pt x="17709" y="0"/>
                    </a:moveTo>
                    <a:cubicBezTo>
                      <a:pt x="22328" y="5"/>
                      <a:pt x="26144" y="3608"/>
                      <a:pt x="26415" y="8220"/>
                    </a:cubicBezTo>
                    <a:cubicBezTo>
                      <a:pt x="26686" y="12831"/>
                      <a:pt x="23317" y="16856"/>
                      <a:pt x="18730" y="17401"/>
                    </a:cubicBezTo>
                    <a:lnTo>
                      <a:pt x="17709" y="17463"/>
                    </a:lnTo>
                    <a:lnTo>
                      <a:pt x="8977" y="17463"/>
                    </a:lnTo>
                    <a:cubicBezTo>
                      <a:pt x="4358" y="17457"/>
                      <a:pt x="541" y="13855"/>
                      <a:pt x="271" y="9243"/>
                    </a:cubicBezTo>
                    <a:cubicBezTo>
                      <a:pt x="0" y="4631"/>
                      <a:pt x="3368" y="607"/>
                      <a:pt x="7956" y="61"/>
                    </a:cubicBezTo>
                    <a:lnTo>
                      <a:pt x="8977" y="0"/>
                    </a:lnTo>
                    <a:lnTo>
                      <a:pt x="17709" y="0"/>
                    </a:lnTo>
                    <a:close/>
                  </a:path>
                </a:pathLst>
              </a:custGeom>
              <a:solidFill>
                <a:schemeClr val="accent2"/>
              </a:solidFill>
              <a:ln>
                <a:noFill/>
              </a:ln>
            </p:spPr>
          </p:sp>
          <p:sp>
            <p:nvSpPr>
              <p:cNvPr id="48" name="Freeform 48"/>
              <p:cNvSpPr/>
              <p:nvPr/>
            </p:nvSpPr>
            <p:spPr>
              <a:xfrm>
                <a:off x="648913" y="4154101"/>
                <a:ext cx="25276" cy="25420"/>
              </a:xfrm>
              <a:custGeom>
                <a:avLst/>
                <a:gdLst/>
                <a:ahLst/>
                <a:cxnLst/>
                <a:rect l="l" t="t" r="r" b="b"/>
                <a:pathLst>
                  <a:path w="25276" h="25420">
                    <a:moveTo>
                      <a:pt x="3409" y="3421"/>
                    </a:moveTo>
                    <a:cubicBezTo>
                      <a:pt x="6519" y="311"/>
                      <a:pt x="11458" y="0"/>
                      <a:pt x="14934" y="2696"/>
                    </a:cubicBezTo>
                    <a:lnTo>
                      <a:pt x="15755" y="3421"/>
                    </a:lnTo>
                    <a:lnTo>
                      <a:pt x="21866" y="9533"/>
                    </a:lnTo>
                    <a:cubicBezTo>
                      <a:pt x="25116" y="12794"/>
                      <a:pt x="25276" y="18018"/>
                      <a:pt x="22231" y="21471"/>
                    </a:cubicBezTo>
                    <a:cubicBezTo>
                      <a:pt x="19186" y="24924"/>
                      <a:pt x="13983" y="25420"/>
                      <a:pt x="10341" y="22603"/>
                    </a:cubicBezTo>
                    <a:lnTo>
                      <a:pt x="9520" y="21879"/>
                    </a:lnTo>
                    <a:lnTo>
                      <a:pt x="3409" y="15767"/>
                    </a:lnTo>
                    <a:cubicBezTo>
                      <a:pt x="0" y="12357"/>
                      <a:pt x="0" y="6830"/>
                      <a:pt x="3409" y="3421"/>
                    </a:cubicBezTo>
                    <a:close/>
                  </a:path>
                </a:pathLst>
              </a:custGeom>
              <a:solidFill>
                <a:schemeClr val="accent2"/>
              </a:solidFill>
              <a:ln>
                <a:noFill/>
              </a:ln>
            </p:spPr>
          </p:sp>
          <p:sp>
            <p:nvSpPr>
              <p:cNvPr id="49" name="Freeform 49"/>
              <p:cNvSpPr/>
              <p:nvPr/>
            </p:nvSpPr>
            <p:spPr>
              <a:xfrm>
                <a:off x="754429" y="4154113"/>
                <a:ext cx="25540" cy="25277"/>
              </a:xfrm>
              <a:custGeom>
                <a:avLst/>
                <a:gdLst/>
                <a:ahLst/>
                <a:cxnLst/>
                <a:rect l="l" t="t" r="r" b="b"/>
                <a:pathLst>
                  <a:path w="25540" h="25277">
                    <a:moveTo>
                      <a:pt x="9653" y="3409"/>
                    </a:moveTo>
                    <a:cubicBezTo>
                      <a:pt x="12914" y="160"/>
                      <a:pt x="18138" y="0"/>
                      <a:pt x="21591" y="3045"/>
                    </a:cubicBezTo>
                    <a:cubicBezTo>
                      <a:pt x="25044" y="6090"/>
                      <a:pt x="25540" y="11293"/>
                      <a:pt x="22723" y="14935"/>
                    </a:cubicBezTo>
                    <a:lnTo>
                      <a:pt x="21999" y="15755"/>
                    </a:lnTo>
                    <a:lnTo>
                      <a:pt x="15887" y="21867"/>
                    </a:lnTo>
                    <a:cubicBezTo>
                      <a:pt x="12626" y="25117"/>
                      <a:pt x="7402" y="25277"/>
                      <a:pt x="3949" y="22232"/>
                    </a:cubicBezTo>
                    <a:cubicBezTo>
                      <a:pt x="496" y="19187"/>
                      <a:pt x="0" y="13984"/>
                      <a:pt x="2816" y="10342"/>
                    </a:cubicBezTo>
                    <a:lnTo>
                      <a:pt x="3541" y="9521"/>
                    </a:lnTo>
                    <a:lnTo>
                      <a:pt x="9653" y="3409"/>
                    </a:lnTo>
                    <a:close/>
                  </a:path>
                </a:pathLst>
              </a:custGeom>
              <a:solidFill>
                <a:schemeClr val="accent2"/>
              </a:solidFill>
              <a:ln>
                <a:noFill/>
              </a:ln>
            </p:spPr>
          </p:sp>
          <p:sp>
            <p:nvSpPr>
              <p:cNvPr id="50" name="Freeform 50"/>
              <p:cNvSpPr/>
              <p:nvPr/>
            </p:nvSpPr>
            <p:spPr>
              <a:xfrm>
                <a:off x="688181" y="4271963"/>
                <a:ext cx="52388" cy="34925"/>
              </a:xfrm>
              <a:custGeom>
                <a:avLst/>
                <a:gdLst/>
                <a:ahLst/>
                <a:cxnLst/>
                <a:rect l="l" t="t" r="r" b="b"/>
                <a:pathLst>
                  <a:path w="52388" h="34925">
                    <a:moveTo>
                      <a:pt x="43656" y="0"/>
                    </a:moveTo>
                    <a:cubicBezTo>
                      <a:pt x="48478" y="0"/>
                      <a:pt x="52388" y="3909"/>
                      <a:pt x="52388" y="8731"/>
                    </a:cubicBezTo>
                    <a:cubicBezTo>
                      <a:pt x="52388" y="23198"/>
                      <a:pt x="40660" y="34925"/>
                      <a:pt x="26194" y="34925"/>
                    </a:cubicBezTo>
                    <a:cubicBezTo>
                      <a:pt x="11727" y="34925"/>
                      <a:pt x="0" y="23198"/>
                      <a:pt x="0" y="8731"/>
                    </a:cubicBezTo>
                    <a:cubicBezTo>
                      <a:pt x="1" y="4305"/>
                      <a:pt x="3314" y="579"/>
                      <a:pt x="7710" y="61"/>
                    </a:cubicBezTo>
                    <a:lnTo>
                      <a:pt x="8731" y="0"/>
                    </a:lnTo>
                    <a:lnTo>
                      <a:pt x="43656" y="0"/>
                    </a:lnTo>
                    <a:close/>
                  </a:path>
                </a:pathLst>
              </a:custGeom>
              <a:solidFill>
                <a:schemeClr val="accent2"/>
              </a:solidFill>
              <a:ln>
                <a:noFill/>
              </a:ln>
            </p:spPr>
          </p:sp>
          <p:sp>
            <p:nvSpPr>
              <p:cNvPr id="51" name="Freeform 51"/>
              <p:cNvSpPr/>
              <p:nvPr/>
            </p:nvSpPr>
            <p:spPr>
              <a:xfrm>
                <a:off x="657545" y="4167188"/>
                <a:ext cx="113660" cy="96044"/>
              </a:xfrm>
              <a:custGeom>
                <a:avLst/>
                <a:gdLst/>
                <a:ahLst/>
                <a:cxnLst/>
                <a:rect l="l" t="t" r="r" b="b"/>
                <a:pathLst>
                  <a:path w="113660" h="96044">
                    <a:moveTo>
                      <a:pt x="56830" y="0"/>
                    </a:moveTo>
                    <a:cubicBezTo>
                      <a:pt x="79379" y="0"/>
                      <a:pt x="99398" y="14429"/>
                      <a:pt x="106529" y="35821"/>
                    </a:cubicBezTo>
                    <a:cubicBezTo>
                      <a:pt x="113660" y="57213"/>
                      <a:pt x="106302" y="80768"/>
                      <a:pt x="88262" y="94298"/>
                    </a:cubicBezTo>
                    <a:cubicBezTo>
                      <a:pt x="87059" y="95201"/>
                      <a:pt x="85642" y="95779"/>
                      <a:pt x="84150" y="95974"/>
                    </a:cubicBezTo>
                    <a:lnTo>
                      <a:pt x="83024" y="96044"/>
                    </a:lnTo>
                    <a:lnTo>
                      <a:pt x="30636" y="96044"/>
                    </a:lnTo>
                    <a:cubicBezTo>
                      <a:pt x="28747" y="96044"/>
                      <a:pt x="26909" y="95431"/>
                      <a:pt x="25397" y="94298"/>
                    </a:cubicBezTo>
                    <a:cubicBezTo>
                      <a:pt x="7358" y="80768"/>
                      <a:pt x="0" y="57213"/>
                      <a:pt x="7131" y="35821"/>
                    </a:cubicBezTo>
                    <a:cubicBezTo>
                      <a:pt x="14261" y="14429"/>
                      <a:pt x="34281" y="0"/>
                      <a:pt x="56830" y="0"/>
                    </a:cubicBezTo>
                    <a:close/>
                  </a:path>
                </a:pathLst>
              </a:custGeom>
              <a:solidFill>
                <a:schemeClr val="accent2"/>
              </a:solidFill>
              <a:ln>
                <a:noFill/>
              </a:ln>
            </p:spPr>
          </p:sp>
        </p:grpSp>
        <p:sp>
          <p:nvSpPr>
            <p:cNvPr id="53" name="TextBox 53"/>
            <p:cNvSpPr txBox="1"/>
            <p:nvPr/>
          </p:nvSpPr>
          <p:spPr>
            <a:xfrm>
              <a:off x="886206" y="4091940"/>
              <a:ext cx="242882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零图表库 + 双协议 AI</a:t>
              </a:r>
            </a:p>
          </p:txBody>
        </p:sp>
        <p:sp>
          <p:nvSpPr>
            <p:cNvPr id="54" name="TextBox 54"/>
            <p:cNvSpPr txBox="1"/>
            <p:nvPr/>
          </p:nvSpPr>
          <p:spPr>
            <a:xfrm>
              <a:off x="602742" y="4407218"/>
              <a:ext cx="407811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运行时依赖只有 Vue；换服务商只改四个环境变量</a:t>
              </a:r>
            </a:p>
          </p:txBody>
        </p:sp>
      </p:grpSp>
      <p:grpSp>
        <p:nvGrpSpPr>
          <p:cNvPr id="58" name="Group 58"/>
          <p:cNvGrpSpPr/>
          <p:nvPr/>
        </p:nvGrpSpPr>
        <p:grpSpPr>
          <a:xfrm>
            <a:off x="6239256" y="1691640"/>
            <a:ext cx="3144964" cy="826961"/>
            <a:chOff x="6239256" y="1691640"/>
            <a:chExt cx="3144964" cy="826961"/>
          </a:xfrm>
        </p:grpSpPr>
        <p:sp>
          <p:nvSpPr>
            <p:cNvPr id="56" name="TextBox 56"/>
            <p:cNvSpPr txBox="1"/>
            <p:nvPr/>
          </p:nvSpPr>
          <p:spPr>
            <a:xfrm>
              <a:off x="6239256" y="1691640"/>
              <a:ext cx="1956816"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时间语义显式决定</a:t>
              </a:r>
            </a:p>
          </p:txBody>
        </p:sp>
        <p:sp>
          <p:nvSpPr>
            <p:cNvPr id="57" name="TextBox 57"/>
            <p:cNvSpPr txBox="1"/>
            <p:nvPr/>
          </p:nvSpPr>
          <p:spPr>
            <a:xfrm>
              <a:off x="6241542" y="2025968"/>
              <a:ext cx="3142678"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连接串强制 UTC 会话时区，答卷开始时间</a:t>
              </a:r>
              <a:br/>
              <a:r>
                <a:rPr lang="zh-CN" sz="1350" dirty="0">
                  <a:solidFill>
                    <a:schemeClr val="dk1"/>
                  </a:solidFill>
                  <a:latin typeface="+mn-lt"/>
                  <a:ea typeface="+mn-ea"/>
                  <a:cs typeface="+mn-cs"/>
                </a:rPr>
                <a:t>由后端显式写入，不交给数据库默认值</a:t>
              </a:r>
            </a:p>
          </p:txBody>
        </p:sp>
      </p:grpSp>
      <p:grpSp>
        <p:nvGrpSpPr>
          <p:cNvPr id="61" name="Group 61"/>
          <p:cNvGrpSpPr/>
          <p:nvPr/>
        </p:nvGrpSpPr>
        <p:grpSpPr>
          <a:xfrm>
            <a:off x="6239256" y="2758440"/>
            <a:ext cx="2879217" cy="826961"/>
            <a:chOff x="6239256" y="2758440"/>
            <a:chExt cx="2879217" cy="826961"/>
          </a:xfrm>
        </p:grpSpPr>
        <p:sp>
          <p:nvSpPr>
            <p:cNvPr id="59" name="TextBox 59"/>
            <p:cNvSpPr txBox="1"/>
            <p:nvPr/>
          </p:nvSpPr>
          <p:spPr>
            <a:xfrm>
              <a:off x="6239256" y="2758440"/>
              <a:ext cx="244144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兜底机制要有数据支撑</a:t>
              </a:r>
            </a:p>
          </p:txBody>
        </p:sp>
        <p:sp>
          <p:nvSpPr>
            <p:cNvPr id="60" name="TextBox 60"/>
            <p:cNvSpPr txBox="1"/>
            <p:nvPr/>
          </p:nvSpPr>
          <p:spPr>
            <a:xfrm>
              <a:off x="6241542" y="3092768"/>
              <a:ext cx="2876931"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答案在切题时和每 30 秒各同步一次，</a:t>
              </a:r>
              <a:br/>
              <a:r>
                <a:rPr lang="zh-CN" sz="1350" dirty="0">
                  <a:solidFill>
                    <a:schemeClr val="dk1"/>
                  </a:solidFill>
                  <a:latin typeface="+mn-lt"/>
                  <a:ea typeface="+mn-ea"/>
                  <a:cs typeface="+mn-cs"/>
                </a:rPr>
                <a:t>超时兜底判的是真实作答而非空白卷</a:t>
              </a:r>
            </a:p>
          </p:txBody>
        </p:sp>
      </p:grpSp>
      <p:grpSp>
        <p:nvGrpSpPr>
          <p:cNvPr id="64" name="Group 64"/>
          <p:cNvGrpSpPr/>
          <p:nvPr/>
        </p:nvGrpSpPr>
        <p:grpSpPr>
          <a:xfrm>
            <a:off x="6239256" y="3825240"/>
            <a:ext cx="3273552" cy="826961"/>
            <a:chOff x="6239256" y="3825240"/>
            <a:chExt cx="3273552" cy="826961"/>
          </a:xfrm>
        </p:grpSpPr>
        <p:sp>
          <p:nvSpPr>
            <p:cNvPr id="62" name="TextBox 62"/>
            <p:cNvSpPr txBox="1"/>
            <p:nvPr/>
          </p:nvSpPr>
          <p:spPr>
            <a:xfrm>
              <a:off x="6239256" y="3825240"/>
              <a:ext cx="2441448"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安全边界只放在服务端</a:t>
              </a:r>
            </a:p>
          </p:txBody>
        </p:sp>
        <p:sp>
          <p:nvSpPr>
            <p:cNvPr id="63" name="TextBox 63"/>
            <p:cNvSpPr txBox="1"/>
            <p:nvPr/>
          </p:nvSpPr>
          <p:spPr>
            <a:xfrm>
              <a:off x="6241542" y="4159568"/>
              <a:ext cx="3271266" cy="492633"/>
            </a:xfrm>
            <a:prstGeom prst="rect">
              <a:avLst/>
            </a:prstGeom>
            <a:noFill/>
            <a:ln>
              <a:noFill/>
            </a:ln>
          </p:spPr>
          <p:txBody>
            <a:bodyPr wrap="none" lIns="0" tIns="0" rIns="0" bIns="0" anchor="t" anchorCtr="0">
              <a:spAutoFit/>
            </a:bodyPr>
            <a:lstStyle/>
            <a:p>
              <a:pPr algn="l">
                <a:lnSpc>
                  <a:spcPts val="1800"/>
                </a:lnSpc>
              </a:pPr>
              <a:r>
                <a:rPr lang="zh-CN" sz="1350" dirty="0">
                  <a:solidFill>
                    <a:schemeClr val="dk1"/>
                  </a:solidFill>
                  <a:latin typeface="+mn-lt"/>
                  <a:ea typeface="+mn-ea"/>
                  <a:cs typeface="+mn-cs"/>
                </a:rPr>
                <a:t>字段裁剪、归属校验、评分上界全在后端，</a:t>
              </a:r>
              <a:br/>
              <a:r>
                <a:rPr lang="zh-CN" sz="1350" dirty="0">
                  <a:solidFill>
                    <a:schemeClr val="dk1"/>
                  </a:solidFill>
                  <a:latin typeface="+mn-lt"/>
                  <a:ea typeface="+mn-ea"/>
                  <a:cs typeface="+mn-cs"/>
                </a:rPr>
                <a:t>前端按钮禁用只作体验优化</a:t>
              </a:r>
            </a:p>
          </p:txBody>
        </p:sp>
      </p:grpSp>
      <p:grpSp>
        <p:nvGrpSpPr>
          <p:cNvPr id="68" name="Group 68"/>
          <p:cNvGrpSpPr/>
          <p:nvPr/>
        </p:nvGrpSpPr>
        <p:grpSpPr>
          <a:xfrm>
            <a:off x="609600" y="4914900"/>
            <a:ext cx="10972800" cy="882967"/>
            <a:chOff x="609600" y="4914900"/>
            <a:chExt cx="10972800" cy="882967"/>
          </a:xfrm>
        </p:grpSpPr>
        <p:sp>
          <p:nvSpPr>
            <p:cNvPr id="65" name="Rectangle 65"/>
            <p:cNvSpPr/>
            <p:nvPr/>
          </p:nvSpPr>
          <p:spPr>
            <a:xfrm>
              <a:off x="609600" y="4914900"/>
              <a:ext cx="10972800" cy="838200"/>
            </a:xfrm>
            <a:prstGeom prst="roundRect">
              <a:avLst>
                <a:gd name="adj" fmla="val 20455"/>
              </a:avLst>
            </a:prstGeom>
            <a:solidFill>
              <a:schemeClr val="accent1"/>
            </a:solidFill>
            <a:ln>
              <a:noFill/>
            </a:ln>
          </p:spPr>
        </p:sp>
        <p:sp>
          <p:nvSpPr>
            <p:cNvPr id="66" name="TextBox 66"/>
            <p:cNvSpPr txBox="1"/>
            <p:nvPr/>
          </p:nvSpPr>
          <p:spPr>
            <a:xfrm>
              <a:off x="826770" y="5014912"/>
              <a:ext cx="6080760" cy="440055"/>
            </a:xfrm>
            <a:prstGeom prst="rect">
              <a:avLst/>
            </a:prstGeom>
            <a:noFill/>
            <a:ln>
              <a:noFill/>
            </a:ln>
          </p:spPr>
          <p:txBody>
            <a:bodyPr wrap="none" lIns="0" tIns="0" rIns="0" bIns="0" anchor="t" anchorCtr="0">
              <a:spAutoFit/>
            </a:bodyPr>
            <a:lstStyle/>
            <a:p>
              <a:pPr algn="l"/>
              <a:r>
                <a:rPr lang="zh-CN" sz="2250" b="1" dirty="0">
                  <a:solidFill>
                    <a:srgbClr val="FFFFFF"/>
                  </a:solidFill>
                  <a:latin typeface="+mn-lt"/>
                  <a:ea typeface="+mn-ea"/>
                  <a:cs typeface="+mn-cs"/>
                </a:rPr>
                <a:t>本项目里每一种业务对象都只有一条写入路径</a:t>
              </a:r>
            </a:p>
          </p:txBody>
        </p:sp>
        <p:sp>
          <p:nvSpPr>
            <p:cNvPr id="67" name="TextBox 67"/>
            <p:cNvSpPr txBox="1"/>
            <p:nvPr/>
          </p:nvSpPr>
          <p:spPr>
            <a:xfrm>
              <a:off x="826770" y="5357812"/>
              <a:ext cx="6080760" cy="440055"/>
            </a:xfrm>
            <a:prstGeom prst="rect">
              <a:avLst/>
            </a:prstGeom>
            <a:noFill/>
            <a:ln>
              <a:noFill/>
            </a:ln>
          </p:spPr>
          <p:txBody>
            <a:bodyPr wrap="none" lIns="0" tIns="0" rIns="0" bIns="0" anchor="t" anchorCtr="0">
              <a:spAutoFit/>
            </a:bodyPr>
            <a:lstStyle/>
            <a:p>
              <a:pPr algn="l"/>
              <a:r>
                <a:rPr lang="zh-CN" sz="2250" dirty="0">
                  <a:solidFill>
                    <a:srgbClr val="E7EDF4"/>
                  </a:solidFill>
                  <a:latin typeface="+mn-lt"/>
                  <a:ea typeface="+mn-ea"/>
                  <a:cs typeface="+mn-cs"/>
                </a:rPr>
                <a:t>每一个验收数字都能在仓库和真实环境里复核</a:t>
              </a:r>
            </a:p>
          </p:txBody>
        </p:sp>
      </p:grpSp>
      <p:grpSp>
        <p:nvGrpSpPr>
          <p:cNvPr id="72" name="Group 72"/>
          <p:cNvGrpSpPr/>
          <p:nvPr/>
        </p:nvGrpSpPr>
        <p:grpSpPr>
          <a:xfrm>
            <a:off x="603885" y="6172200"/>
            <a:ext cx="10984230" cy="308134"/>
            <a:chOff x="603885" y="6172200"/>
            <a:chExt cx="10984230" cy="308134"/>
          </a:xfrm>
        </p:grpSpPr>
        <p:sp>
          <p:nvSpPr>
            <p:cNvPr id="69" name="Line 69"/>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70" name="TextBox 70"/>
            <p:cNvSpPr txBox="1"/>
            <p:nvPr/>
          </p:nvSpPr>
          <p:spPr>
            <a:xfrm>
              <a:off x="603885" y="6260306"/>
              <a:ext cx="5446847"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十一条创新点见 docs/project-report.md 第 7.1 节；八段心得见同文件第 8 节</a:t>
              </a:r>
            </a:p>
          </p:txBody>
        </p:sp>
        <p:sp>
          <p:nvSpPr>
            <p:cNvPr id="71" name="TextBox 71"/>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20 / 21</a:t>
              </a:r>
            </a:p>
          </p:txBody>
        </p:sp>
      </p:gr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Ellipse 2"/>
          <p:cNvSpPr/>
          <p:nvPr/>
        </p:nvSpPr>
        <p:spPr>
          <a:xfrm>
            <a:off x="10001250" y="5048250"/>
            <a:ext cx="3238500" cy="3238500"/>
          </a:xfrm>
          <a:prstGeom prst="ellipse">
            <a:avLst/>
          </a:prstGeom>
          <a:solidFill>
            <a:schemeClr val="lt2"/>
          </a:solidFill>
          <a:ln>
            <a:noFill/>
          </a:ln>
        </p:spPr>
      </p:sp>
      <p:grpSp>
        <p:nvGrpSpPr>
          <p:cNvPr id="7" name="Group 7"/>
          <p:cNvGrpSpPr/>
          <p:nvPr/>
        </p:nvGrpSpPr>
        <p:grpSpPr>
          <a:xfrm>
            <a:off x="4081691" y="2655570"/>
            <a:ext cx="4028618" cy="2131314"/>
            <a:chOff x="4081691" y="2655570"/>
            <a:chExt cx="4028618" cy="2131314"/>
          </a:xfrm>
        </p:grpSpPr>
        <p:sp>
          <p:nvSpPr>
            <p:cNvPr id="3" name="TextBox 3"/>
            <p:cNvSpPr txBox="1"/>
            <p:nvPr/>
          </p:nvSpPr>
          <p:spPr>
            <a:xfrm>
              <a:off x="5350002" y="2655570"/>
              <a:ext cx="1491996" cy="1047750"/>
            </a:xfrm>
            <a:prstGeom prst="rect">
              <a:avLst/>
            </a:prstGeom>
            <a:noFill/>
            <a:ln>
              <a:noFill/>
            </a:ln>
          </p:spPr>
          <p:txBody>
            <a:bodyPr wrap="none" lIns="0" tIns="0" rIns="0" bIns="0" anchor="t" anchorCtr="0">
              <a:spAutoFit/>
            </a:bodyPr>
            <a:lstStyle/>
            <a:p>
              <a:pPr algn="ctr"/>
              <a:r>
                <a:rPr lang="zh-CN" sz="5400" b="1" dirty="0">
                  <a:solidFill>
                    <a:schemeClr val="accent1"/>
                  </a:solidFill>
                  <a:latin typeface="+mn-lt"/>
                  <a:ea typeface="+mn-ea"/>
                  <a:cs typeface="+mn-cs"/>
                </a:rPr>
                <a:t>谢谢</a:t>
              </a:r>
            </a:p>
          </p:txBody>
        </p:sp>
        <p:sp>
          <p:nvSpPr>
            <p:cNvPr id="4" name="Rectangle 4"/>
            <p:cNvSpPr/>
            <p:nvPr/>
          </p:nvSpPr>
          <p:spPr>
            <a:xfrm>
              <a:off x="5638800" y="3581400"/>
              <a:ext cx="914400" cy="38100"/>
            </a:xfrm>
            <a:prstGeom prst="roundRect">
              <a:avLst>
                <a:gd name="adj" fmla="val 50000"/>
              </a:avLst>
            </a:prstGeom>
            <a:gradFill>
              <a:gsLst>
                <a:gs pos="0">
                  <a:schemeClr val="accent1"/>
                </a:gs>
                <a:gs pos="100000">
                  <a:schemeClr val="accent2"/>
                </a:gs>
              </a:gsLst>
              <a:lin ang="0" scaled="1"/>
            </a:gradFill>
            <a:ln>
              <a:noFill/>
            </a:ln>
          </p:spPr>
        </p:sp>
        <p:sp>
          <p:nvSpPr>
            <p:cNvPr id="5" name="TextBox 5"/>
            <p:cNvSpPr txBox="1"/>
            <p:nvPr/>
          </p:nvSpPr>
          <p:spPr>
            <a:xfrm>
              <a:off x="5565656" y="3970020"/>
              <a:ext cx="1060689" cy="469392"/>
            </a:xfrm>
            <a:prstGeom prst="rect">
              <a:avLst/>
            </a:prstGeom>
            <a:noFill/>
            <a:ln>
              <a:noFill/>
            </a:ln>
          </p:spPr>
          <p:txBody>
            <a:bodyPr wrap="none" lIns="0" tIns="0" rIns="0" bIns="0" anchor="t" anchorCtr="0">
              <a:spAutoFit/>
            </a:bodyPr>
            <a:lstStyle/>
            <a:p>
              <a:pPr algn="ctr"/>
              <a:r>
                <a:rPr lang="zh-CN" sz="2400" b="1" dirty="0">
                  <a:solidFill>
                    <a:schemeClr val="accent1"/>
                  </a:solidFill>
                  <a:latin typeface="+mn-lt"/>
                  <a:ea typeface="+mn-ea"/>
                  <a:cs typeface="+mn-cs"/>
                </a:rPr>
                <a:t>第 1 组</a:t>
              </a:r>
            </a:p>
          </p:txBody>
        </p:sp>
        <p:sp>
          <p:nvSpPr>
            <p:cNvPr id="6" name="TextBox 6"/>
            <p:cNvSpPr txBox="1"/>
            <p:nvPr/>
          </p:nvSpPr>
          <p:spPr>
            <a:xfrm>
              <a:off x="4081691" y="4434840"/>
              <a:ext cx="4028618" cy="352044"/>
            </a:xfrm>
            <a:prstGeom prst="rect">
              <a:avLst/>
            </a:prstGeom>
            <a:noFill/>
            <a:ln>
              <a:noFill/>
            </a:ln>
          </p:spPr>
          <p:txBody>
            <a:bodyPr wrap="none" lIns="0" tIns="0" rIns="0" bIns="0" anchor="t" anchorCtr="0">
              <a:spAutoFit/>
            </a:bodyPr>
            <a:lstStyle/>
            <a:p>
              <a:pPr algn="ctr"/>
              <a:r>
                <a:rPr lang="zh-CN" sz="1800" dirty="0">
                  <a:solidFill>
                    <a:schemeClr val="dk1"/>
                  </a:solidFill>
                  <a:latin typeface="+mn-lt"/>
                  <a:ea typeface="+mn-ea"/>
                  <a:cs typeface="+mn-cs"/>
                </a:rPr>
                <a:t>24050417 郏尉植 · 24050415 陆佳明</a:t>
              </a:r>
            </a:p>
          </p:txBody>
        </p:sp>
      </p:grpSp>
      <p:grpSp>
        <p:nvGrpSpPr>
          <p:cNvPr id="11" name="Group 11"/>
          <p:cNvGrpSpPr/>
          <p:nvPr/>
        </p:nvGrpSpPr>
        <p:grpSpPr>
          <a:xfrm>
            <a:off x="603885" y="6172200"/>
            <a:ext cx="10984230" cy="308134"/>
            <a:chOff x="603885" y="6172200"/>
            <a:chExt cx="10984230" cy="308134"/>
          </a:xfrm>
        </p:grpSpPr>
        <p:sp>
          <p:nvSpPr>
            <p:cNvPr id="8" name="Line 8"/>
            <p:cNvSpPr/>
            <p:nvPr/>
          </p:nvSpPr>
          <p:spPr>
            <a:xfrm>
              <a:off x="609600" y="6172200"/>
              <a:ext cx="10972800" cy="9525"/>
            </a:xfrm>
            <a:custGeom>
              <a:avLst/>
              <a:gdLst/>
              <a:ahLst/>
              <a:cxnLst/>
              <a:rect l="l" t="t" r="r" b="b"/>
              <a:pathLst>
                <a:path w="10972800" h="9525">
                  <a:moveTo>
                    <a:pt x="0" y="0"/>
                  </a:moveTo>
                  <a:lnTo>
                    <a:pt x="10972800" y="0"/>
                  </a:lnTo>
                </a:path>
              </a:pathLst>
            </a:custGeom>
            <a:noFill/>
            <a:ln w="9525">
              <a:solidFill>
                <a:schemeClr val="accent6"/>
              </a:solidFill>
            </a:ln>
          </p:spPr>
        </p:sp>
        <p:sp>
          <p:nvSpPr>
            <p:cNvPr id="9" name="TextBox 9"/>
            <p:cNvSpPr txBox="1"/>
            <p:nvPr/>
          </p:nvSpPr>
          <p:spPr>
            <a:xfrm>
              <a:off x="603885" y="6260306"/>
              <a:ext cx="4798517" cy="220028"/>
            </a:xfrm>
            <a:prstGeom prst="rect">
              <a:avLst/>
            </a:prstGeom>
            <a:noFill/>
            <a:ln>
              <a:noFill/>
            </a:ln>
          </p:spPr>
          <p:txBody>
            <a:bodyPr wrap="none" lIns="0" tIns="0" rIns="0" bIns="0" anchor="t" anchorCtr="0">
              <a:spAutoFit/>
            </a:bodyPr>
            <a:lstStyle/>
            <a:p>
              <a:pPr algn="l"/>
              <a:r>
                <a:rPr lang="zh-CN" sz="1120" dirty="0">
                  <a:solidFill>
                    <a:schemeClr val="accent5"/>
                  </a:solidFill>
                  <a:latin typeface="+mn-lt"/>
                  <a:ea typeface="+mn-ea"/>
                  <a:cs typeface="+mn-cs"/>
                </a:rPr>
                <a:t>软件开发实践 2（2025~2026 短学期）· 指导教师：杨艳 · 2026 年 9 月</a:t>
              </a:r>
            </a:p>
          </p:txBody>
        </p:sp>
        <p:sp>
          <p:nvSpPr>
            <p:cNvPr id="10" name="TextBox 10"/>
            <p:cNvSpPr txBox="1"/>
            <p:nvPr/>
          </p:nvSpPr>
          <p:spPr>
            <a:xfrm>
              <a:off x="11071591" y="6260306"/>
              <a:ext cx="516524" cy="220028"/>
            </a:xfrm>
            <a:prstGeom prst="rect">
              <a:avLst/>
            </a:prstGeom>
            <a:noFill/>
            <a:ln>
              <a:noFill/>
            </a:ln>
          </p:spPr>
          <p:txBody>
            <a:bodyPr wrap="none" lIns="0" tIns="0" rIns="0" bIns="0" anchor="t" anchorCtr="0">
              <a:spAutoFit/>
            </a:bodyPr>
            <a:lstStyle/>
            <a:p>
              <a:pPr algn="r"/>
              <a:r>
                <a:rPr lang="zh-CN" sz="1120" dirty="0">
                  <a:solidFill>
                    <a:schemeClr val="accent5"/>
                  </a:solidFill>
                  <a:latin typeface="+mn-lt"/>
                  <a:ea typeface="+mn-ea"/>
                  <a:cs typeface="+mn-cs"/>
                </a:rPr>
                <a:t>21 / 21</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exam-platform-defense">
  <a:themeElements>
    <a:clrScheme name="exam-platform-defense">
      <a:dk1>
        <a:srgbClr val="1B2430"/>
      </a:dk1>
      <a:lt1>
        <a:srgbClr val="FFFFFF"/>
      </a:lt1>
      <a:dk2>
        <a:srgbClr val="1F497D"/>
      </a:dk2>
      <a:lt2>
        <a:srgbClr val="F4F5F7"/>
      </a:lt2>
      <a:accent1>
        <a:srgbClr val="16324F"/>
      </a:accent1>
      <a:accent2>
        <a:srgbClr val="B45309"/>
      </a:accent2>
      <a:accent3>
        <a:srgbClr val="4A6FA5"/>
      </a:accent3>
      <a:accent4>
        <a:srgbClr val="16324F"/>
      </a:accent4>
      <a:accent5>
        <a:srgbClr val="5A6675"/>
      </a:accent5>
      <a:accent6>
        <a:srgbClr val="DCE0E6"/>
      </a:accent6>
      <a:hlink>
        <a:srgbClr val="B45309"/>
      </a:hlink>
      <a:folHlink>
        <a:srgbClr val="4A6FA5"/>
      </a:folHlink>
    </a:clrScheme>
    <a:fontScheme name="exam-platform-defense">
      <a:majorFont>
        <a:latin typeface="Consolas"/>
        <a:ea typeface="Microsoft YaHei"/>
        <a:cs typeface="Consolas"/>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onsolas"/>
        <a:ea typeface="Microsoft YaHei"/>
        <a:cs typeface="Consola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am-platform-defens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exam-platform-defense">
  <a:themeElements>
    <a:clrScheme name="exam-platform-defense">
      <a:dk1>
        <a:srgbClr val="1B2430"/>
      </a:dk1>
      <a:lt1>
        <a:srgbClr val="FFFFFF"/>
      </a:lt1>
      <a:dk2>
        <a:srgbClr val="1F497D"/>
      </a:dk2>
      <a:lt2>
        <a:srgbClr val="F4F5F7"/>
      </a:lt2>
      <a:accent1>
        <a:srgbClr val="16324F"/>
      </a:accent1>
      <a:accent2>
        <a:srgbClr val="B45309"/>
      </a:accent2>
      <a:accent3>
        <a:srgbClr val="4A6FA5"/>
      </a:accent3>
      <a:accent4>
        <a:srgbClr val="16324F"/>
      </a:accent4>
      <a:accent5>
        <a:srgbClr val="5A6675"/>
      </a:accent5>
      <a:accent6>
        <a:srgbClr val="DCE0E6"/>
      </a:accent6>
      <a:hlink>
        <a:srgbClr val="B45309"/>
      </a:hlink>
      <a:folHlink>
        <a:srgbClr val="4A6FA5"/>
      </a:folHlink>
    </a:clrScheme>
    <a:fontScheme name="exam-platform-defense">
      <a:majorFont>
        <a:latin typeface="Consolas"/>
        <a:ea typeface="Microsoft YaHei"/>
        <a:cs typeface="Consolas"/>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onsolas"/>
        <a:ea typeface="Microsoft YaHei"/>
        <a:cs typeface="Consola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am-platform-defens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21</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zh-CN</dc:language>
  <cp:lastModifiedBy/>
  <cp:revision>1</cp:revision>
  <dcterms:created xsi:type="dcterms:W3CDTF">2026-09-05T03:32:50Z</dcterms:created>
  <dcterms:modified xsi:type="dcterms:W3CDTF">2026-09-05T03:32:50Z</dcterms:modified>
  <cp:category/>
  <cp:contentStatus/>
</cp:coreProperties>
</file>